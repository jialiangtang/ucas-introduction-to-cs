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7"/>
  </p:notesMasterIdLst>
  <p:sldIdLst>
    <p:sldId id="256" r:id="rId4"/>
    <p:sldId id="257" r:id="rId5"/>
    <p:sldId id="258" r:id="rId6"/>
    <p:sldId id="259" r:id="rId8"/>
    <p:sldId id="260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6CF06-7F7C-4C06-BE9E-5AC3436F59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B6332-A685-422A-942F-CB8DD31CC6F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E75097A-4275-4AE4-A400-427ECFD6D666}" type="slidenum">
              <a:rPr kumimoji="0" lang="en-US" altLang="zh-CN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cs typeface="Arial" panose="020B0604020202020204"/>
              </a:rPr>
            </a:fld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cs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01D5-9210-4035-8343-A04D8FD467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9290-F387-4750-9771-B1DB925C6D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01D5-9210-4035-8343-A04D8FD467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9290-F387-4750-9771-B1DB925C6D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01D5-9210-4035-8343-A04D8FD467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9290-F387-4750-9771-B1DB925C6D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01D5-9210-4035-8343-A04D8FD467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9290-F387-4750-9771-B1DB925C6D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01D5-9210-4035-8343-A04D8FD467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9290-F387-4750-9771-B1DB925C6D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01D5-9210-4035-8343-A04D8FD467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9290-F387-4750-9771-B1DB925C6D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01D5-9210-4035-8343-A04D8FD467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9290-F387-4750-9771-B1DB925C6D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01D5-9210-4035-8343-A04D8FD467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9290-F387-4750-9771-B1DB925C6D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01D5-9210-4035-8343-A04D8FD467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9290-F387-4750-9771-B1DB925C6D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01D5-9210-4035-8343-A04D8FD467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9290-F387-4750-9771-B1DB925C6D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801D5-9210-4035-8343-A04D8FD467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9290-F387-4750-9771-B1DB925C6D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3" name="Rectangle 45"/>
          <p:cNvSpPr>
            <a:spLocks noChangeArrowheads="1"/>
          </p:cNvSpPr>
          <p:nvPr/>
        </p:nvSpPr>
        <p:spPr bwMode="auto">
          <a:xfrm rot="5400000" flipH="1">
            <a:off x="7430559" y="3467099"/>
            <a:ext cx="4724400" cy="95251"/>
          </a:xfrm>
          <a:prstGeom prst="rect">
            <a:avLst/>
          </a:prstGeom>
          <a:gradFill rotWithShape="1">
            <a:gsLst>
              <a:gs pos="0">
                <a:srgbClr val="A603AB"/>
              </a:gs>
              <a:gs pos="12000">
                <a:srgbClr val="E81766"/>
              </a:gs>
              <a:gs pos="27000">
                <a:srgbClr val="EE3F17"/>
              </a:gs>
              <a:gs pos="48000">
                <a:srgbClr val="FFFF00"/>
              </a:gs>
              <a:gs pos="64999">
                <a:srgbClr val="1A8D48"/>
              </a:gs>
              <a:gs pos="78999">
                <a:srgbClr val="0819FB"/>
              </a:gs>
              <a:gs pos="100000">
                <a:srgbClr val="A603AB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34435" y="549275"/>
            <a:ext cx="9410700" cy="2133600"/>
          </a:xfrm>
        </p:spPr>
        <p:txBody>
          <a:bodyPr/>
          <a:lstStyle>
            <a:lvl1pPr algn="r">
              <a:defRPr sz="4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2924175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1EFCFDD4-86FC-4284-AD3D-1CD71A0C7575}" type="slidenum">
              <a:rPr lang="en-US" altLang="zh-CN" kern="0" smtClean="0">
                <a:solidFill>
                  <a:srgbClr val="000000"/>
                </a:solidFill>
              </a:rPr>
            </a:fld>
            <a:endParaRPr lang="en-US" altLang="zh-CN" kern="0">
              <a:solidFill>
                <a:srgbClr val="000000"/>
              </a:solidFill>
            </a:endParaRPr>
          </a:p>
        </p:txBody>
      </p:sp>
      <p:pic>
        <p:nvPicPr>
          <p:cNvPr id="32809" name="Picture 41" descr="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33004" y="2924180"/>
            <a:ext cx="1248833" cy="779463"/>
          </a:xfrm>
          <a:prstGeom prst="rect">
            <a:avLst/>
          </a:prstGeom>
          <a:noFill/>
        </p:spPr>
      </p:pic>
      <p:pic>
        <p:nvPicPr>
          <p:cNvPr id="32810" name="Picture 42" descr="logo－zi-shu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04501" y="3848105"/>
            <a:ext cx="389467" cy="2016125"/>
          </a:xfrm>
          <a:prstGeom prst="rect">
            <a:avLst/>
          </a:prstGeom>
          <a:noFill/>
        </p:spPr>
      </p:pic>
      <p:sp>
        <p:nvSpPr>
          <p:cNvPr id="32811" name="Text Box 43"/>
          <p:cNvSpPr txBox="1">
            <a:spLocks noChangeArrowheads="1"/>
          </p:cNvSpPr>
          <p:nvPr/>
        </p:nvSpPr>
        <p:spPr bwMode="auto">
          <a:xfrm>
            <a:off x="10330023" y="3848100"/>
            <a:ext cx="323165" cy="2159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eaVer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 pitchFamily="34" charset="0"/>
                <a:cs typeface="+mn-cs"/>
              </a:rPr>
              <a:t>INSTITUTE OF COMPUTING TECHNOLOGY</a:t>
            </a:r>
            <a:endParaRPr kumimoji="0" lang="en-US" altLang="zh-CN" sz="9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Medium" panose="020B0603020102020204" pitchFamily="34" charset="0"/>
              <a:cs typeface="+mn-cs"/>
            </a:endParaRPr>
          </a:p>
        </p:txBody>
      </p:sp>
      <p:sp>
        <p:nvSpPr>
          <p:cNvPr id="32812" name="Rectangle 44"/>
          <p:cNvSpPr>
            <a:spLocks noChangeArrowheads="1"/>
          </p:cNvSpPr>
          <p:nvPr/>
        </p:nvSpPr>
        <p:spPr bwMode="auto">
          <a:xfrm>
            <a:off x="334433" y="2708275"/>
            <a:ext cx="11042651" cy="71438"/>
          </a:xfrm>
          <a:prstGeom prst="rect">
            <a:avLst/>
          </a:prstGeom>
          <a:gradFill rotWithShape="1">
            <a:gsLst>
              <a:gs pos="0">
                <a:srgbClr val="A603AB"/>
              </a:gs>
              <a:gs pos="12000">
                <a:srgbClr val="E81766"/>
              </a:gs>
              <a:gs pos="27000">
                <a:srgbClr val="EE3F17"/>
              </a:gs>
              <a:gs pos="48000">
                <a:srgbClr val="FFFF00"/>
              </a:gs>
              <a:gs pos="64999">
                <a:srgbClr val="1A8D48"/>
              </a:gs>
              <a:gs pos="78999">
                <a:srgbClr val="0819FB"/>
              </a:gs>
              <a:gs pos="100000">
                <a:srgbClr val="A603AB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1" y="122238"/>
            <a:ext cx="11617291" cy="85849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349" y="1124744"/>
            <a:ext cx="11809312" cy="5472608"/>
          </a:xfrm>
        </p:spPr>
        <p:txBody>
          <a:bodyPr/>
          <a:lstStyle>
            <a:lvl3pPr>
              <a:buClr>
                <a:srgbClr val="9900CC"/>
              </a:buClr>
              <a:defRPr/>
            </a:lvl3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04309" y="6605736"/>
            <a:ext cx="973899" cy="252264"/>
          </a:xfrm>
        </p:spPr>
        <p:txBody>
          <a:bodyPr/>
          <a:lstStyle>
            <a:lvl1pPr>
              <a:defRPr/>
            </a:lvl1pPr>
          </a:lstStyle>
          <a:p>
            <a:fld id="{B624FEA1-8D4F-4C27-B315-433CCAC1694E}" type="slidenum">
              <a:rPr lang="en-US" altLang="zh-CN" kern="0" smtClean="0">
                <a:solidFill>
                  <a:srgbClr val="000000"/>
                </a:solidFill>
              </a:rPr>
            </a:fld>
            <a:endParaRPr lang="en-US" altLang="zh-CN" kern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B77F74-3F42-4D21-B193-F6D829DDFEA7}" type="slidenum">
              <a:rPr lang="en-US" altLang="zh-CN" kern="0" smtClean="0">
                <a:solidFill>
                  <a:srgbClr val="000000"/>
                </a:solidFill>
              </a:rPr>
            </a:fld>
            <a:endParaRPr lang="en-US" altLang="zh-CN" kern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6BF886-1034-477A-B6CC-01E24F1F89FA}" type="slidenum">
              <a:rPr lang="en-US" altLang="zh-CN" kern="0" smtClean="0">
                <a:solidFill>
                  <a:srgbClr val="000000"/>
                </a:solidFill>
              </a:rPr>
            </a:fld>
            <a:endParaRPr lang="en-US" altLang="zh-CN" kern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DD2B4E-8515-41A9-BFB1-B129CF5CFD5E}" type="slidenum">
              <a:rPr lang="en-US" altLang="zh-CN" kern="0" smtClean="0">
                <a:solidFill>
                  <a:srgbClr val="000000"/>
                </a:solidFill>
              </a:rPr>
            </a:fld>
            <a:endParaRPr lang="en-US" altLang="zh-CN" kern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06E81E-6041-44E1-A812-B47095AF3B3C}" type="slidenum">
              <a:rPr lang="en-US" altLang="zh-CN" kern="0" smtClean="0">
                <a:solidFill>
                  <a:srgbClr val="000000"/>
                </a:solidFill>
              </a:rPr>
            </a:fld>
            <a:endParaRPr lang="en-US" altLang="zh-CN" kern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D72BA7-A053-4C77-BE4A-2C9478A22DA6}" type="slidenum">
              <a:rPr lang="en-US" altLang="zh-CN" kern="0" smtClean="0">
                <a:solidFill>
                  <a:srgbClr val="000000"/>
                </a:solidFill>
              </a:rPr>
            </a:fld>
            <a:endParaRPr lang="en-US" altLang="zh-CN" kern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7D921E-0D29-4D56-84BE-F974969772C1}" type="slidenum">
              <a:rPr lang="en-US" altLang="zh-CN" kern="0" smtClean="0">
                <a:solidFill>
                  <a:srgbClr val="000000"/>
                </a:solidFill>
              </a:rPr>
            </a:fld>
            <a:endParaRPr lang="en-US" altLang="zh-CN" kern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748AC9-721A-4C0D-B078-E5EEF5C5AB0B}" type="slidenum">
              <a:rPr lang="en-US" altLang="zh-CN" kern="0" smtClean="0">
                <a:solidFill>
                  <a:srgbClr val="000000"/>
                </a:solidFill>
              </a:rPr>
            </a:fld>
            <a:endParaRPr lang="en-US" altLang="zh-CN" kern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A7BCF8-F59C-4026-B6E8-4B7A80183626}" type="slidenum">
              <a:rPr lang="en-US" altLang="zh-CN" kern="0" smtClean="0">
                <a:solidFill>
                  <a:srgbClr val="000000"/>
                </a:solidFill>
              </a:rPr>
            </a:fld>
            <a:endParaRPr lang="en-US" altLang="zh-CN" kern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43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43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5EC8D1-144E-4E4F-B2E4-344DAD007F4E}" type="slidenum">
              <a:rPr lang="en-US" altLang="zh-CN" kern="0" smtClean="0">
                <a:solidFill>
                  <a:srgbClr val="000000"/>
                </a:solidFill>
              </a:rPr>
            </a:fld>
            <a:endParaRPr lang="en-US" altLang="zh-CN" kern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719263"/>
            <a:ext cx="10972800" cy="44116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0806BE6D-AA75-4C19-8AC1-727318FA8B4F}" type="slidenum">
              <a:rPr lang="en-US" altLang="zh-CN" kern="0" smtClean="0">
                <a:solidFill>
                  <a:srgbClr val="000000"/>
                </a:solidFill>
              </a:rPr>
            </a:fld>
            <a:endParaRPr lang="en-US" altLang="zh-CN" kern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719268"/>
            <a:ext cx="53848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5"/>
            <a:ext cx="53848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F88260F7-2030-4B35-A89C-01FA86E9D6A0}" type="slidenum">
              <a:rPr lang="en-US" altLang="zh-CN" kern="0" smtClean="0">
                <a:solidFill>
                  <a:srgbClr val="000000"/>
                </a:solidFill>
              </a:rPr>
            </a:fld>
            <a:endParaRPr lang="en-US" altLang="zh-CN" kern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801D5-9210-4035-8343-A04D8FD4679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39290-F387-4750-9771-B1DB925C6DB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000"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/>
            </a:lvl1pPr>
          </a:lstStyle>
          <a:p>
            <a:endParaRPr lang="en-US" altLang="zh-CN" kern="0">
              <a:solidFill>
                <a:srgbClr val="000000"/>
              </a:solidFill>
            </a:endParaRPr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/>
            </a:lvl1pPr>
          </a:lstStyle>
          <a:p>
            <a:fld id="{FFD978E6-38DD-4620-B866-3013F2250428}" type="slidenum">
              <a:rPr lang="en-US" altLang="zh-CN" kern="0" smtClean="0">
                <a:solidFill>
                  <a:srgbClr val="000000"/>
                </a:solidFill>
              </a:rPr>
            </a:fld>
            <a:endParaRPr lang="en-US" altLang="zh-CN" ker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/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0000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345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2pPr>
      <a:lvl3pPr marL="987425" indent="-29337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3pPr>
      <a:lvl4pPr marL="1280795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1800">
          <a:solidFill>
            <a:schemeClr val="tx1"/>
          </a:solidFill>
          <a:latin typeface="+mn-lt"/>
          <a:ea typeface="+mn-ea"/>
        </a:defRPr>
      </a:lvl4pPr>
      <a:lvl5pPr marL="1598295" indent="-315595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1800">
          <a:solidFill>
            <a:schemeClr val="tx1"/>
          </a:solidFill>
          <a:latin typeface="+mn-lt"/>
          <a:ea typeface="+mn-ea"/>
        </a:defRPr>
      </a:lvl5pPr>
      <a:lvl6pPr marL="2055495" indent="-315595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2695" indent="-315595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69895" indent="-315595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095" indent="-315595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47528" y="2780928"/>
            <a:ext cx="8712968" cy="858490"/>
          </a:xfrm>
        </p:spPr>
        <p:txBody>
          <a:bodyPr/>
          <a:lstStyle/>
          <a:p>
            <a:pPr algn="ctr"/>
            <a:r>
              <a:rPr lang="en-US" altLang="zh-CN" dirty="0"/>
              <a:t>Second week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kern="0">
                <a:solidFill>
                  <a:srgbClr val="000000"/>
                </a:solidFill>
                <a:latin typeface="Arial" panose="020B0604020202020204"/>
              </a:rPr>
            </a:fld>
            <a:endParaRPr lang="en-US" altLang="zh-CN" kern="0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Team discussion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2" y="1268760"/>
            <a:ext cx="8954144" cy="5328592"/>
          </a:xfrm>
        </p:spPr>
        <p:txBody>
          <a:bodyPr/>
          <a:lstStyle/>
          <a:p>
            <a:r>
              <a:rPr lang="en-US" altLang="zh-CN" dirty="0"/>
              <a:t>Peer review, revise design and discuss understanding of Turing Machine. </a:t>
            </a:r>
            <a:endParaRPr lang="en-US" altLang="zh-CN" dirty="0"/>
          </a:p>
          <a:p>
            <a:pPr lvl="1"/>
            <a:r>
              <a:rPr lang="en-US" altLang="zh-CN" dirty="0"/>
              <a:t>At the end of this lab session, each team member should be able to retell the work of other members.</a:t>
            </a:r>
            <a:endParaRPr lang="en-US" altLang="zh-CN" dirty="0"/>
          </a:p>
          <a:p>
            <a:r>
              <a:rPr lang="en-US" altLang="zh-CN" dirty="0"/>
              <a:t>Suggested steps</a:t>
            </a:r>
            <a:endParaRPr lang="en-US" altLang="zh-CN" dirty="0"/>
          </a:p>
          <a:p>
            <a:pPr lvl="1"/>
            <a:r>
              <a:rPr lang="en-US" altLang="zh-CN" dirty="0"/>
              <a:t>Each team member shares his/her design with the team</a:t>
            </a:r>
            <a:endParaRPr lang="en-US" altLang="zh-CN" dirty="0"/>
          </a:p>
          <a:p>
            <a:pPr lvl="1"/>
            <a:r>
              <a:rPr lang="en-US" altLang="zh-CN" dirty="0"/>
              <a:t>Record bugs, difficulties, key ideas and differences</a:t>
            </a:r>
            <a:endParaRPr lang="en-US" altLang="zh-CN" dirty="0"/>
          </a:p>
          <a:p>
            <a:pPr lvl="1"/>
            <a:r>
              <a:rPr lang="en-US" altLang="zh-CN" dirty="0"/>
              <a:t>Talking about understanding of Turing Machine</a:t>
            </a:r>
            <a:endParaRPr lang="en-US" altLang="zh-CN" dirty="0"/>
          </a:p>
          <a:p>
            <a:pPr lvl="1"/>
            <a:r>
              <a:rPr lang="en-US" altLang="zh-CN" dirty="0"/>
              <a:t>Answer questions teacher asked in the last session</a:t>
            </a:r>
            <a:endParaRPr lang="en-US" altLang="zh-CN" dirty="0"/>
          </a:p>
          <a:p>
            <a:pPr lvl="1"/>
            <a:r>
              <a:rPr lang="en-US" altLang="zh-CN" dirty="0"/>
              <a:t>Prepare for team presentation to the class</a:t>
            </a:r>
            <a:endParaRPr lang="en-US" altLang="zh-CN" dirty="0"/>
          </a:p>
          <a:p>
            <a:r>
              <a:rPr lang="en-US" altLang="zh-CN" dirty="0"/>
              <a:t>Team leader needs to play a leadership role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kern="0">
                <a:solidFill>
                  <a:srgbClr val="000000"/>
                </a:solidFill>
                <a:latin typeface="Arial" panose="020B0604020202020204"/>
              </a:rPr>
            </a:fld>
            <a:endParaRPr lang="en-US" altLang="zh-CN" kern="0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Criteria of Team Presentation</a:t>
            </a:r>
            <a:r>
              <a:rPr lang="zh-CN" altLang="en-US" dirty="0"/>
              <a:t>（</a:t>
            </a:r>
            <a:r>
              <a:rPr lang="en-US" altLang="zh-CN" dirty="0"/>
              <a:t>20%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Key Idea</a:t>
            </a:r>
            <a:endParaRPr lang="en-US" altLang="zh-CN" dirty="0"/>
          </a:p>
          <a:p>
            <a:pPr lvl="1"/>
            <a:r>
              <a:rPr lang="zh-CN" altLang="en-US" dirty="0"/>
              <a:t>简要说明</a:t>
            </a:r>
            <a:endParaRPr lang="en-US" altLang="zh-CN" dirty="0"/>
          </a:p>
          <a:p>
            <a:r>
              <a:rPr lang="zh-CN" altLang="en-US" dirty="0"/>
              <a:t>遇到的困难以及解决方法</a:t>
            </a:r>
            <a:endParaRPr lang="en-US" altLang="zh-CN" dirty="0"/>
          </a:p>
          <a:p>
            <a:pPr lvl="1"/>
            <a:r>
              <a:rPr lang="zh-CN" altLang="en-US" dirty="0"/>
              <a:t>总结说明，不要罗列</a:t>
            </a:r>
            <a:endParaRPr lang="en-US" altLang="zh-CN" dirty="0"/>
          </a:p>
          <a:p>
            <a:r>
              <a:rPr lang="zh-CN" altLang="en-US" dirty="0"/>
              <a:t>对图灵机的理解，学到了什么</a:t>
            </a:r>
            <a:endParaRPr lang="en-US" altLang="zh-CN" dirty="0"/>
          </a:p>
          <a:p>
            <a:pPr lvl="1"/>
            <a:r>
              <a:rPr lang="zh-CN" altLang="en-US" dirty="0"/>
              <a:t>优化方法</a:t>
            </a:r>
            <a:endParaRPr lang="en-US" altLang="zh-CN" dirty="0"/>
          </a:p>
          <a:p>
            <a:pPr lvl="1"/>
            <a:r>
              <a:rPr lang="zh-CN" altLang="en-US" dirty="0"/>
              <a:t>图灵机强大的原因</a:t>
            </a:r>
            <a:endParaRPr lang="en-US" altLang="zh-CN" dirty="0"/>
          </a:p>
          <a:p>
            <a:pPr lvl="1"/>
            <a:r>
              <a:rPr lang="zh-CN" altLang="en-US" dirty="0"/>
              <a:t>编程思想</a:t>
            </a:r>
            <a:endParaRPr lang="en-US" altLang="zh-CN" dirty="0"/>
          </a:p>
          <a:p>
            <a:r>
              <a:rPr lang="en-US" altLang="zh-CN" dirty="0"/>
              <a:t>Presentation </a:t>
            </a:r>
            <a:r>
              <a:rPr lang="zh-CN" altLang="en-US" dirty="0"/>
              <a:t>注意事项</a:t>
            </a:r>
            <a:endParaRPr lang="en-US" altLang="zh-CN" dirty="0"/>
          </a:p>
          <a:p>
            <a:pPr lvl="1"/>
            <a:r>
              <a:rPr lang="zh-CN" altLang="en-US" dirty="0"/>
              <a:t>课上从组内随机挑</a:t>
            </a:r>
            <a:endParaRPr lang="en-US" altLang="zh-CN" dirty="0"/>
          </a:p>
          <a:p>
            <a:pPr lvl="1"/>
            <a:r>
              <a:rPr lang="en-US" altLang="zh-CN" dirty="0"/>
              <a:t>6</a:t>
            </a:r>
            <a:r>
              <a:rPr lang="zh-CN" altLang="en-US" dirty="0"/>
              <a:t>分钟演讲，</a:t>
            </a:r>
            <a:r>
              <a:rPr lang="en-US" altLang="zh-CN" dirty="0"/>
              <a:t>2</a:t>
            </a:r>
            <a:r>
              <a:rPr lang="zh-CN" altLang="en-US" dirty="0"/>
              <a:t>分钟补充，</a:t>
            </a:r>
            <a:r>
              <a:rPr lang="en-US" altLang="zh-CN" dirty="0"/>
              <a:t>2</a:t>
            </a:r>
            <a:r>
              <a:rPr lang="zh-CN" altLang="en-US" dirty="0"/>
              <a:t>分钟提问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kern="0">
                <a:solidFill>
                  <a:srgbClr val="000000"/>
                </a:solidFill>
                <a:latin typeface="Arial" panose="020B0604020202020204"/>
              </a:rPr>
            </a:fld>
            <a:endParaRPr lang="en-US" altLang="zh-CN" kern="0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75521" y="122238"/>
            <a:ext cx="8882135" cy="858490"/>
          </a:xfrm>
        </p:spPr>
        <p:txBody>
          <a:bodyPr/>
          <a:lstStyle/>
          <a:p>
            <a:r>
              <a:rPr lang="en-US" altLang="zh-CN" dirty="0"/>
              <a:t>Suggested structure of Project Report</a:t>
            </a:r>
            <a:r>
              <a:rPr lang="zh-CN" altLang="en-US" dirty="0"/>
              <a:t>（</a:t>
            </a:r>
            <a:r>
              <a:rPr lang="en-US" altLang="zh-CN" dirty="0"/>
              <a:t>30%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Turing adder lab report needs to include the following as well as explanatory text</a:t>
            </a:r>
            <a:endParaRPr lang="en-US" altLang="zh-CN" dirty="0"/>
          </a:p>
          <a:p>
            <a:pPr marL="801370" lvl="1" indent="-457200">
              <a:buFont typeface="+mj-ea"/>
              <a:buAutoNum type="circleNumDbPlain"/>
            </a:pPr>
            <a:r>
              <a:rPr lang="en-US" altLang="zh-CN" dirty="0"/>
              <a:t>The design of the state transition table</a:t>
            </a:r>
            <a:endParaRPr lang="en-US" altLang="zh-CN" dirty="0"/>
          </a:p>
          <a:p>
            <a:pPr marL="801370" lvl="1" indent="-457200">
              <a:buFont typeface="+mj-ea"/>
              <a:buAutoNum type="circleNumDbPlain"/>
            </a:pPr>
            <a:r>
              <a:rPr lang="en-US" altLang="zh-CN" dirty="0"/>
              <a:t>Experiment procedure</a:t>
            </a:r>
            <a:endParaRPr lang="en-US" altLang="zh-CN" dirty="0"/>
          </a:p>
          <a:p>
            <a:pPr marL="801370" lvl="1" indent="-457200">
              <a:buFont typeface="+mj-ea"/>
              <a:buAutoNum type="circleNumDbPlain"/>
            </a:pPr>
            <a:r>
              <a:rPr lang="en-US" altLang="zh-CN" dirty="0"/>
              <a:t>Experimental difficulties</a:t>
            </a:r>
            <a:endParaRPr lang="en-US" altLang="zh-CN" dirty="0"/>
          </a:p>
          <a:p>
            <a:pPr marL="801370" lvl="1" indent="-457200">
              <a:buFont typeface="+mj-ea"/>
              <a:buAutoNum type="circleNumDbPlain"/>
            </a:pPr>
            <a:r>
              <a:rPr lang="en-US" altLang="zh-CN" dirty="0"/>
              <a:t>Proof of the correctness and completeness of the state transition table</a:t>
            </a:r>
            <a:endParaRPr lang="en-US" altLang="zh-CN" dirty="0"/>
          </a:p>
          <a:p>
            <a:pPr marL="801370" lvl="1" indent="-457200">
              <a:buFont typeface="+mj-ea"/>
              <a:buAutoNum type="circleNumDbPlain"/>
            </a:pPr>
            <a:r>
              <a:rPr lang="en-US" altLang="zh-CN" dirty="0"/>
              <a:t>Thinking and perception of the project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kern="0">
                <a:solidFill>
                  <a:srgbClr val="000000"/>
                </a:solidFill>
                <a:latin typeface="Arial" panose="020B0604020202020204"/>
              </a:rPr>
            </a:fld>
            <a:endParaRPr lang="en-US" altLang="zh-CN" kern="0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关键时间节点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月</a:t>
            </a:r>
            <a:r>
              <a:rPr lang="en-US" altLang="zh-CN" dirty="0">
                <a:solidFill>
                  <a:srgbClr val="FF0000"/>
                </a:solidFill>
              </a:rPr>
              <a:t>28</a:t>
            </a:r>
            <a:r>
              <a:rPr lang="zh-CN" altLang="en-US" dirty="0">
                <a:solidFill>
                  <a:srgbClr val="FF0000"/>
                </a:solidFill>
              </a:rPr>
              <a:t>日</a:t>
            </a:r>
            <a:r>
              <a:rPr lang="en-US" altLang="zh-CN" dirty="0">
                <a:solidFill>
                  <a:srgbClr val="FF0000"/>
                </a:solidFill>
              </a:rPr>
              <a:t>12:00</a:t>
            </a:r>
            <a:r>
              <a:rPr lang="zh-CN" altLang="en-US" dirty="0">
                <a:solidFill>
                  <a:srgbClr val="FF0000"/>
                </a:solidFill>
              </a:rPr>
              <a:t>前 提交第二次图灵机代码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会给反馈，包括未通过测试点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月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日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12:00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前 提交报告和演讲幻灯片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4FEA1-8D4F-4C27-B315-433CCAC1694E}" type="slidenum">
              <a:rPr lang="en-US" altLang="zh-CN" kern="0">
                <a:solidFill>
                  <a:srgbClr val="000000"/>
                </a:solidFill>
                <a:latin typeface="Arial" panose="020B0604020202020204"/>
              </a:rPr>
            </a:fld>
            <a:endParaRPr lang="en-US" altLang="zh-CN" kern="0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自定义 4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1024</Words>
  <Application>WPS 演示</Application>
  <PresentationFormat>宽屏</PresentationFormat>
  <Paragraphs>56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7" baseType="lpstr">
      <vt:lpstr>Arial</vt:lpstr>
      <vt:lpstr>宋体</vt:lpstr>
      <vt:lpstr>Wingdings</vt:lpstr>
      <vt:lpstr>Arial</vt:lpstr>
      <vt:lpstr>Franklin Gothic Medium</vt:lpstr>
      <vt:lpstr>等线</vt:lpstr>
      <vt:lpstr>微软雅黑</vt:lpstr>
      <vt:lpstr>Arial Unicode MS</vt:lpstr>
      <vt:lpstr>等线 Light</vt:lpstr>
      <vt:lpstr>Calibri</vt:lpstr>
      <vt:lpstr>Office 主题​​</vt:lpstr>
      <vt:lpstr>1_Network</vt:lpstr>
      <vt:lpstr>Second week</vt:lpstr>
      <vt:lpstr>Team discussion</vt:lpstr>
      <vt:lpstr>Criteria of Team Presentation（20%）</vt:lpstr>
      <vt:lpstr>Suggested structure of Project Report（30%） </vt:lpstr>
      <vt:lpstr>关键时间节点</vt:lpstr>
    </vt:vector>
  </TitlesOfParts>
  <Company>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 week</dc:title>
  <dc:creator>Horry Gou</dc:creator>
  <cp:lastModifiedBy>唐嘉良</cp:lastModifiedBy>
  <cp:revision>2</cp:revision>
  <dcterms:created xsi:type="dcterms:W3CDTF">2021-04-13T06:31:00Z</dcterms:created>
  <dcterms:modified xsi:type="dcterms:W3CDTF">2021-04-29T08:14:08Z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49F0F44A3840468E85AE04DABD419E11</vt:lpwstr>
  </property>
  <property fmtid="{D5CDD505-2E9C-101B-9397-08002B2CF9AE}" pid="3" name="KSOProductBuildVer">
    <vt:lpwstr>2052-11.1.0.10495</vt:lpwstr>
  </property>
</Properties>
</file>