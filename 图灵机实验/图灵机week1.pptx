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jpeg" ContentType="image/jpeg"/>
  <Default Extension="JPG" ContentType="image/.jp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5" r:id="rId3"/>
    <p:sldId id="442" r:id="rId5"/>
    <p:sldId id="1265" r:id="rId6"/>
    <p:sldId id="1279" r:id="rId7"/>
    <p:sldId id="257" r:id="rId8"/>
    <p:sldId id="1274" r:id="rId9"/>
    <p:sldId id="1286" r:id="rId10"/>
    <p:sldId id="1292" r:id="rId11"/>
    <p:sldId id="1291" r:id="rId12"/>
    <p:sldId id="1294" r:id="rId13"/>
    <p:sldId id="1293" r:id="rId14"/>
    <p:sldId id="1296" r:id="rId15"/>
    <p:sldId id="1283" r:id="rId16"/>
    <p:sldId id="260" r:id="rId17"/>
    <p:sldId id="261" r:id="rId18"/>
    <p:sldId id="1297" r:id="rId19"/>
    <p:sldId id="1289" r:id="rId20"/>
    <p:sldId id="286" r:id="rId21"/>
    <p:sldId id="262" r:id="rId22"/>
    <p:sldId id="263" r:id="rId23"/>
    <p:sldId id="264" r:id="rId24"/>
    <p:sldId id="265" r:id="rId25"/>
    <p:sldId id="287" r:id="rId26"/>
    <p:sldId id="266" r:id="rId27"/>
    <p:sldId id="267" r:id="rId28"/>
    <p:sldId id="268" r:id="rId29"/>
    <p:sldId id="437" r:id="rId30"/>
    <p:sldId id="270" r:id="rId31"/>
    <p:sldId id="1277" r:id="rId32"/>
    <p:sldId id="1298" r:id="rId33"/>
    <p:sldId id="272" r:id="rId34"/>
    <p:sldId id="276" r:id="rId35"/>
    <p:sldId id="280" r:id="rId36"/>
    <p:sldId id="1275" r:id="rId37"/>
    <p:sldId id="1276" r:id="rId38"/>
    <p:sldId id="281" r:id="rId39"/>
    <p:sldId id="278" r:id="rId40"/>
    <p:sldId id="288" r:id="rId41"/>
    <p:sldId id="273" r:id="rId42"/>
    <p:sldId id="439" r:id="rId43"/>
    <p:sldId id="438" r:id="rId44"/>
    <p:sldId id="283" r:id="rId45"/>
    <p:sldId id="1280" r:id="rId46"/>
    <p:sldId id="1281" r:id="rId47"/>
    <p:sldId id="282" r:id="rId48"/>
    <p:sldId id="1284" r:id="rId49"/>
  </p:sldIdLst>
  <p:sldSz cx="9144000" cy="6858000" type="screen4x3"/>
  <p:notesSz cx="6858000" cy="12192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Zheny" initials="LZ" lastIdx="19" clrIdx="0"/>
  <p:cmAuthor id="2" name="Guojing Tian" initials="GT" lastIdx="10" clrIdx="1"/>
  <p:cmAuthor id="3" name="YU ZISHU" initials="YZ" lastIdx="9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FF"/>
    <a:srgbClr val="0099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618F747-3B81-53F8-BF67-C475E6C2664C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  <a:fill>
          <a:solidFill>
            <a:schemeClr val="accent3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32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CEE6CB8-7F18-4F0F-B24A-E154B4E9C634}" type="datetimeFigureOut">
              <a:rPr lang="en-US" altLang="zh-CN"/>
            </a:fld>
            <a:endParaRPr lang="zh-CN"/>
          </a:p>
        </p:txBody>
      </p:sp>
      <p:sp>
        <p:nvSpPr>
          <p:cNvPr id="6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7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E75097A-4275-4AE4-A400-427ECFD6D666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919110-6856-4A64-9A7D-D40C491B9A44}" type="slidenum">
              <a:rPr lang="en-US" altLang="zh-CN"/>
            </a:fld>
            <a:endParaRPr lang="en-US" altLang="zh-CN"/>
          </a:p>
        </p:txBody>
      </p:sp>
      <p:sp>
        <p:nvSpPr>
          <p:cNvPr id="4833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E1A39FF-2C30-45B6-8F91-645ED773424D}" type="slidenum">
              <a:rPr lang="en-US" altLang="zh-CN" sz="1200"/>
            </a:fld>
            <a:endParaRPr lang="en-US" altLang="zh-CN" sz="1200"/>
          </a:p>
        </p:txBody>
      </p:sp>
      <p:sp>
        <p:nvSpPr>
          <p:cNvPr id="483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483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baseline="-25000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解释一下为什么不是七元组，因为实验的问题的答案体现在纸带上，只需要一个停机状态（把接受和拒绝状态合并为停机状态</a:t>
            </a:r>
            <a:r>
              <a:rPr lang="zh-CN" altLang="en-US" dirty="0"/>
              <a:t>了）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英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[ˈ</a:t>
            </a:r>
            <a:r>
              <a:rPr lang="en-US" altLang="zh-CN" b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pælɪndrəʊm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</p:spPr>
      </p:sp>
      <p:sp>
        <p:nvSpPr>
          <p:cNvPr id="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B4D858-9D6B-43A8-9E5A-AD6FB330B70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若干测试点，随机挑，</a:t>
            </a:r>
            <a:r>
              <a:rPr lang="en-US" altLang="zh-CN" dirty="0"/>
              <a:t>6</a:t>
            </a:r>
            <a:r>
              <a:rPr lang="zh-CN" altLang="en-US" dirty="0"/>
              <a:t>分钟演讲。</a:t>
            </a:r>
            <a:r>
              <a:rPr lang="en-US" altLang="zh-CN" dirty="0"/>
              <a:t>2</a:t>
            </a:r>
            <a:r>
              <a:rPr lang="zh-CN" altLang="en-US" dirty="0"/>
              <a:t>分钟补充。</a:t>
            </a:r>
            <a:r>
              <a:rPr lang="en-US" altLang="zh-CN" dirty="0"/>
              <a:t>2</a:t>
            </a:r>
            <a:r>
              <a:rPr lang="zh-CN" altLang="en-US" dirty="0"/>
              <a:t>分提问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75097A-4275-4AE4-A400-427ECFD6D666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3" name="Rectangle 45"/>
          <p:cNvSpPr>
            <a:spLocks noChangeArrowheads="1"/>
          </p:cNvSpPr>
          <p:nvPr/>
        </p:nvSpPr>
        <p:spPr bwMode="auto">
          <a:xfrm rot="5400000" flipH="1">
            <a:off x="4982369" y="3479006"/>
            <a:ext cx="4724400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6" y="549275"/>
            <a:ext cx="7058025" cy="2133600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71550" y="2924175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EFCFDD4-86FC-4284-AD3D-1CD71A0C7575}" type="slidenum">
              <a:rPr lang="en-US" altLang="zh-CN"/>
            </a:fld>
            <a:endParaRPr lang="en-US" altLang="zh-CN"/>
          </a:p>
        </p:txBody>
      </p:sp>
      <p:pic>
        <p:nvPicPr>
          <p:cNvPr id="32809" name="Picture 41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2" y="2924179"/>
            <a:ext cx="936625" cy="779463"/>
          </a:xfrm>
          <a:prstGeom prst="rect">
            <a:avLst/>
          </a:prstGeom>
          <a:noFill/>
        </p:spPr>
      </p:pic>
      <p:pic>
        <p:nvPicPr>
          <p:cNvPr id="32810" name="Picture 42" descr="logo－zi-sh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76" y="3848104"/>
            <a:ext cx="292100" cy="2016125"/>
          </a:xfrm>
          <a:prstGeom prst="rect">
            <a:avLst/>
          </a:prstGeom>
          <a:noFill/>
        </p:spPr>
      </p:pic>
      <p:sp>
        <p:nvSpPr>
          <p:cNvPr id="32811" name="Text Box 43"/>
          <p:cNvSpPr txBox="1">
            <a:spLocks noChangeArrowheads="1"/>
          </p:cNvSpPr>
          <p:nvPr/>
        </p:nvSpPr>
        <p:spPr bwMode="auto">
          <a:xfrm>
            <a:off x="7666725" y="3848100"/>
            <a:ext cx="323165" cy="2159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r>
              <a:rPr lang="en-US" altLang="zh-CN" sz="900" b="1">
                <a:latin typeface="Franklin Gothic Medium" panose="020B0603020102020204" pitchFamily="34" charset="0"/>
              </a:rPr>
              <a:t>INSTITUTE OF COMPUTING TECHNOLOGY</a:t>
            </a:r>
            <a:endParaRPr lang="en-US" altLang="zh-CN" sz="900" b="1">
              <a:latin typeface="Franklin Gothic Medium" panose="020B0603020102020204" pitchFamily="34" charset="0"/>
            </a:endParaRPr>
          </a:p>
        </p:txBody>
      </p:sp>
      <p:sp>
        <p:nvSpPr>
          <p:cNvPr id="32812" name="Rectangle 44"/>
          <p:cNvSpPr>
            <a:spLocks noChangeArrowheads="1"/>
          </p:cNvSpPr>
          <p:nvPr/>
        </p:nvSpPr>
        <p:spPr bwMode="auto">
          <a:xfrm>
            <a:off x="250825" y="2708275"/>
            <a:ext cx="8281988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1" y="122238"/>
            <a:ext cx="8712968" cy="85849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5472608"/>
          </a:xfrm>
        </p:spPr>
        <p:txBody>
          <a:bodyPr/>
          <a:lstStyle>
            <a:lvl3pPr>
              <a:buClr>
                <a:srgbClr val="9900CC"/>
              </a:buClr>
              <a:defRPr/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3232" y="6605736"/>
            <a:ext cx="730424" cy="252264"/>
          </a:xfrm>
        </p:spPr>
        <p:txBody>
          <a:bodyPr/>
          <a:lstStyle>
            <a:lvl1pPr>
              <a:defRPr/>
            </a:lvl1pPr>
          </a:lstStyle>
          <a:p>
            <a:fld id="{B624FEA1-8D4F-4C27-B315-433CCAC169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77F74-3F42-4D21-B193-F6D829DDFE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6BF886-1034-477A-B6CC-01E24F1F89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D2B4E-8515-41A9-BFB1-B129CF5CFD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06E81E-6041-44E1-A812-B47095AF3B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D72BA7-A053-4C77-BE4A-2C9478A22D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D921E-0D29-4D56-84BE-F97496977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48AC9-721A-4C0D-B078-E5EEF5C5AB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7BCF8-F59C-4026-B6E8-4B7A801836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2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2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5EC8D1-144E-4E4F-B2E4-344DAD007F4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806BE6D-AA75-4C19-8AC1-727318FA8B4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7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4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88260F7-2030-4B35-A89C-01FA86E9D6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endParaRPr lang="en-US" altLang="zh-CN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fld id="{FFD978E6-38DD-4620-B866-3013F225042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345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987425" indent="-29337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280795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4pPr>
      <a:lvl5pPr marL="15982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5pPr>
      <a:lvl6pPr marL="20554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26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698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0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2.wdp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72BA7-A053-4C77-BE4A-2C9478A22DA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-1524000" y="1484315"/>
            <a:ext cx="12192000" cy="5113337"/>
          </a:xfrm>
          <a:noFill/>
        </p:spPr>
        <p:txBody>
          <a:bodyPr anchor="ctr"/>
          <a:lstStyle/>
          <a:p>
            <a:pPr algn="ctr"/>
            <a:br>
              <a:rPr lang="zh-CN" altLang="en-US" dirty="0"/>
            </a:br>
            <a:r>
              <a:rPr lang="en-US" altLang="zh-CN" sz="4800" dirty="0"/>
              <a:t>Lab Slides</a:t>
            </a:r>
            <a:br>
              <a:rPr lang="en-US" altLang="zh-CN" sz="4800" dirty="0"/>
            </a:br>
            <a:r>
              <a:rPr lang="en-US" altLang="zh-CN" sz="4800" dirty="0"/>
              <a:t>Turing Adder</a:t>
            </a:r>
            <a:br>
              <a:rPr lang="en-US" altLang="zh-CN" sz="4800" dirty="0"/>
            </a:br>
            <a:br>
              <a:rPr lang="zh-CN" altLang="en-US" sz="6600" dirty="0"/>
            </a:br>
            <a:r>
              <a:rPr lang="zh-CN" altLang="en-US" sz="1800" dirty="0"/>
              <a:t>郭</a:t>
            </a:r>
            <a:r>
              <a:rPr lang="zh-CN" altLang="en-US" sz="1800" dirty="0" smtClean="0"/>
              <a:t>泓</a:t>
            </a:r>
            <a:r>
              <a:rPr lang="zh-CN" altLang="en-US" sz="1800" dirty="0"/>
              <a:t>锐</a:t>
            </a:r>
            <a:r>
              <a:rPr lang="zh-CN" altLang="en-US" sz="1800" dirty="0" smtClean="0"/>
              <a:t>  实验课助教</a:t>
            </a:r>
            <a:br>
              <a:rPr lang="en-US" altLang="zh-CN" sz="1800" dirty="0"/>
            </a:br>
            <a:r>
              <a:rPr lang="en-US" altLang="zh-CN" sz="1800" dirty="0" smtClean="0"/>
              <a:t>guohongrui17</a:t>
            </a:r>
            <a:r>
              <a:rPr lang="en-US" altLang="zh-CN" sz="1800" dirty="0" smtClean="0"/>
              <a:t>@mails.ucas.ac.cn</a:t>
            </a:r>
            <a:endParaRPr lang="en-US" altLang="zh-CN" sz="1800" dirty="0"/>
          </a:p>
        </p:txBody>
      </p:sp>
      <p:pic>
        <p:nvPicPr>
          <p:cNvPr id="9" name="Picture 2" descr="http://www.gucas.ac.cn/newStyle/images/lougo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108520" y="0"/>
            <a:ext cx="4381500" cy="10477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7630658" y="0"/>
            <a:ext cx="1756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CS101</a:t>
            </a:r>
            <a:endParaRPr lang="zh-CN" altLang="en-US" sz="36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Week 1: Lab highlights, design Q&amp;A</a:t>
            </a:r>
            <a:endParaRPr lang="en-US" altLang="zh-CN" dirty="0"/>
          </a:p>
          <a:p>
            <a:pPr lvl="1"/>
            <a:r>
              <a:rPr lang="en-US" altLang="zh-CN" dirty="0"/>
              <a:t>Submit the 1st version design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Week 2: Team discussion, peer review</a:t>
            </a:r>
            <a:endParaRPr lang="en-US" altLang="zh-CN" dirty="0"/>
          </a:p>
          <a:p>
            <a:pPr lvl="1"/>
            <a:r>
              <a:rPr lang="en-US" altLang="zh-CN" dirty="0"/>
              <a:t>Submit the 2nd version design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Week 3: Team presentation to the class</a:t>
            </a:r>
            <a:endParaRPr lang="en-US" altLang="zh-CN" dirty="0"/>
          </a:p>
          <a:p>
            <a:pPr lvl="1"/>
            <a:r>
              <a:rPr lang="en-US" altLang="zh-CN" dirty="0"/>
              <a:t>Submit project report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72BA7-A053-4C77-BE4A-2C9478A22DA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2780928"/>
            <a:ext cx="8712968" cy="858490"/>
          </a:xfrm>
        </p:spPr>
        <p:txBody>
          <a:bodyPr/>
          <a:lstStyle/>
          <a:p>
            <a:pPr algn="ctr"/>
            <a:r>
              <a:rPr lang="en-US" altLang="zh-CN" dirty="0"/>
              <a:t>First week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Team Formation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Form 8 teams, each consisting of 5 or 6 students and a team leader who serves the team.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课间自由组队，助教老师可做微调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Week1 Outline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Introduction</a:t>
            </a:r>
            <a:r>
              <a:rPr lang="en-US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 of Turing Machine</a:t>
            </a:r>
            <a:endParaRPr dirty="0">
              <a:solidFill>
                <a:srgbClr val="FF0000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Experiment Platform</a:t>
            </a:r>
            <a:endParaRPr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  <a:cs typeface="Arial" panose="020B0604020202020204" pitchFamily="34" charset="0"/>
              </a:rPr>
              <a:t>Two </a:t>
            </a: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Examples</a:t>
            </a:r>
            <a:endParaRPr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Questions</a:t>
            </a:r>
            <a:endParaRPr lang="zh-CN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Design three Turing machines to perform, respectively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unary addition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4-bit binary addition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arbitrary-bit binary addition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Design three Turing machines to perform, respectively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unary addition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4-bit binary addition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arbitrary-bit binary addition</a:t>
            </a:r>
            <a:endParaRPr lang="zh-CN" altLang="en-US" dirty="0"/>
          </a:p>
        </p:txBody>
      </p:sp>
      <p:pic>
        <p:nvPicPr>
          <p:cNvPr id="15" name="内容占位符 7"/>
          <p:cNvPicPr>
            <a:picLocks noChangeAspect="1"/>
          </p:cNvPicPr>
          <p:nvPr/>
        </p:nvPicPr>
        <p:blipFill rotWithShape="1">
          <a:blip r:embed="rId1"/>
          <a:srcRect t="45262"/>
          <a:stretch>
            <a:fillRect/>
          </a:stretch>
        </p:blipFill>
        <p:spPr bwMode="auto">
          <a:xfrm>
            <a:off x="259369" y="3789040"/>
            <a:ext cx="7108768" cy="593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t="44053" r="326"/>
          <a:stretch>
            <a:fillRect/>
          </a:stretch>
        </p:blipFill>
        <p:spPr>
          <a:xfrm>
            <a:off x="239813" y="4725144"/>
            <a:ext cx="7097150" cy="59305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/>
          <a:srcRect l="1" t="42348" r="156"/>
          <a:stretch>
            <a:fillRect/>
          </a:stretch>
        </p:blipFill>
        <p:spPr>
          <a:xfrm>
            <a:off x="259387" y="5661248"/>
            <a:ext cx="7109252" cy="689546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091113" y="4329870"/>
            <a:ext cx="207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Unary addition</a:t>
            </a:r>
            <a:endParaRPr lang="zh-CN" altLang="en-US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6091113" y="5219908"/>
            <a:ext cx="2813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4-bit binary addition 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0585" y="6214879"/>
            <a:ext cx="3233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Arbitrary-bit binary addition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272171"/>
          </a:xfrm>
        </p:spPr>
        <p:txBody>
          <a:bodyPr/>
          <a:lstStyle/>
          <a:p>
            <a:r>
              <a:rPr lang="en-US" altLang="zh-CN" sz="2400" dirty="0"/>
              <a:t>In addition to the </a:t>
            </a:r>
            <a:r>
              <a:rPr lang="en-US" altLang="zh-CN" sz="2400" dirty="0">
                <a:solidFill>
                  <a:srgbClr val="FF0000"/>
                </a:solidFill>
              </a:rPr>
              <a:t>state-transition diagram </a:t>
            </a:r>
            <a:r>
              <a:rPr lang="en-US" altLang="zh-CN" sz="2400" dirty="0"/>
              <a:t>stored in the Finite State Controller, there is an infinite tape in a Turing machine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8593" y="3836123"/>
          <a:ext cx="4598539" cy="139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文档" r:id="rId1" imgW="4213860" imgH="1278890" progId="Word.Document.12">
                  <p:embed/>
                </p:oleObj>
              </mc:Choice>
              <mc:Fallback>
                <p:oleObj name="文档" r:id="rId1" imgW="4213860" imgH="1278890" progId="Word.Document.12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593" y="3836123"/>
                        <a:ext cx="4598539" cy="1393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4187063" y="4718008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Tape</a:t>
            </a:r>
            <a:r>
              <a:rPr lang="en-US" altLang="zh-CN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55776" y="3645024"/>
            <a:ext cx="2201356" cy="10609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272171"/>
          </a:xfrm>
        </p:spPr>
        <p:txBody>
          <a:bodyPr/>
          <a:lstStyle/>
          <a:p>
            <a:r>
              <a:rPr lang="en-US" altLang="zh-CN" sz="2400" dirty="0"/>
              <a:t>In addition to the </a:t>
            </a:r>
            <a:r>
              <a:rPr lang="en-US" altLang="zh-CN" sz="2400" dirty="0">
                <a:solidFill>
                  <a:srgbClr val="FF0000"/>
                </a:solidFill>
              </a:rPr>
              <a:t>state-transition diagram </a:t>
            </a:r>
            <a:r>
              <a:rPr lang="en-US" altLang="zh-CN" sz="2400" dirty="0"/>
              <a:t>stored in the Finite State Controller, there is an infinite tape in a Turing machine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8593" y="3836123"/>
          <a:ext cx="4598539" cy="139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文档" r:id="rId1" imgW="4213860" imgH="1278890" progId="Word.Document.12">
                  <p:embed/>
                </p:oleObj>
              </mc:Choice>
              <mc:Fallback>
                <p:oleObj name="文档" r:id="rId1" imgW="4213860" imgH="1278890" progId="Word.Document.12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593" y="3836123"/>
                        <a:ext cx="4598539" cy="1393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4187063" y="4718008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Tape</a:t>
            </a:r>
            <a:r>
              <a:rPr lang="en-US" altLang="zh-CN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7504" y="3189717"/>
            <a:ext cx="7633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Read-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latin typeface="Comic Sans MS" panose="030F0702030302020204" pitchFamily="66" charset="0"/>
              </a:rPr>
              <a:t>Write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Head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67544" y="4020714"/>
            <a:ext cx="864096" cy="63242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555776" y="3645024"/>
            <a:ext cx="2201356" cy="10609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272171"/>
          </a:xfrm>
        </p:spPr>
        <p:txBody>
          <a:bodyPr/>
          <a:lstStyle/>
          <a:p>
            <a:r>
              <a:rPr lang="en-US" altLang="zh-CN" sz="2400" dirty="0"/>
              <a:t>In addition to the </a:t>
            </a:r>
            <a:r>
              <a:rPr lang="en-US" altLang="zh-CN" sz="2400" dirty="0">
                <a:solidFill>
                  <a:srgbClr val="FF0000"/>
                </a:solidFill>
              </a:rPr>
              <a:t>state-transition diagram </a:t>
            </a:r>
            <a:r>
              <a:rPr lang="en-US" altLang="zh-CN" sz="2400" dirty="0"/>
              <a:t>stored in the Finite State Controller, there is an infinite tape in a Turing machine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8593" y="3836123"/>
          <a:ext cx="4598539" cy="139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文档" r:id="rId1" imgW="4213860" imgH="1278890" progId="Word.Document.12">
                  <p:embed/>
                </p:oleObj>
              </mc:Choice>
              <mc:Fallback>
                <p:oleObj name="文档" r:id="rId1" imgW="4213860" imgH="1278890" progId="Word.Document.12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593" y="3836123"/>
                        <a:ext cx="4598539" cy="1393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4187063" y="4718008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Tape</a:t>
            </a:r>
            <a:r>
              <a:rPr lang="en-US" altLang="zh-CN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7504" y="3189717"/>
            <a:ext cx="7633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Read-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latin typeface="Comic Sans MS" panose="030F0702030302020204" pitchFamily="66" charset="0"/>
              </a:rPr>
              <a:t>Write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Head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2457862" y="3536624"/>
            <a:ext cx="27461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State </a:t>
            </a:r>
            <a:r>
              <a:rPr lang="en-US" altLang="zh-CN" sz="1600" dirty="0">
                <a:latin typeface="Comic Sans MS" panose="030F0702030302020204" pitchFamily="66" charset="0"/>
              </a:rPr>
              <a:t>Transition Diagram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67544" y="4020714"/>
            <a:ext cx="864096" cy="63242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272171"/>
          </a:xfrm>
        </p:spPr>
        <p:txBody>
          <a:bodyPr/>
          <a:lstStyle/>
          <a:p>
            <a:r>
              <a:rPr lang="en-US" altLang="zh-CN" sz="2400" dirty="0"/>
              <a:t>In addition to the </a:t>
            </a:r>
            <a:r>
              <a:rPr lang="en-US" altLang="zh-CN" sz="2400" dirty="0">
                <a:solidFill>
                  <a:srgbClr val="FF0000"/>
                </a:solidFill>
              </a:rPr>
              <a:t>state-transition diagram </a:t>
            </a:r>
            <a:r>
              <a:rPr lang="en-US" altLang="zh-CN" sz="2400" dirty="0"/>
              <a:t>stored in the Finite State Controller, there is an infinite tape in a Turing machine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内容占位符 7"/>
          <p:cNvGraphicFramePr/>
          <p:nvPr/>
        </p:nvGraphicFramePr>
        <p:xfrm>
          <a:off x="5724128" y="4077072"/>
          <a:ext cx="3382002" cy="1719872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683730"/>
                <a:gridCol w="688966"/>
                <a:gridCol w="804141"/>
                <a:gridCol w="626142"/>
                <a:gridCol w="579023"/>
              </a:tblGrid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Current State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Symbol Read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Symbol to Write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Head Move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Next State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@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 (Halt)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8593" y="3836123"/>
          <a:ext cx="4598539" cy="139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文档" r:id="rId1" imgW="4213860" imgH="1278890" progId="Word.Document.12">
                  <p:embed/>
                </p:oleObj>
              </mc:Choice>
              <mc:Fallback>
                <p:oleObj name="文档" r:id="rId1" imgW="4213860" imgH="1278890" progId="Word.Document.12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593" y="3836123"/>
                        <a:ext cx="4598539" cy="1393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207042" y="3521235"/>
            <a:ext cx="2416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State-Transition Table</a:t>
            </a:r>
            <a:endParaRPr lang="zh-CN" altLang="en-US" dirty="0"/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4187063" y="4718008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Tape</a:t>
            </a:r>
            <a:r>
              <a:rPr lang="en-US" altLang="zh-CN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7504" y="3189717"/>
            <a:ext cx="7633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Read-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latin typeface="Comic Sans MS" panose="030F0702030302020204" pitchFamily="66" charset="0"/>
              </a:rPr>
              <a:t>Write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Head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67544" y="4020714"/>
            <a:ext cx="864096" cy="63242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2457862" y="3536624"/>
            <a:ext cx="27461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State </a:t>
            </a:r>
            <a:r>
              <a:rPr lang="en-US" altLang="zh-CN" sz="1600" dirty="0">
                <a:latin typeface="Comic Sans MS" panose="030F0702030302020204" pitchFamily="66" charset="0"/>
              </a:rPr>
              <a:t>Transition Diagram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 machine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1272171"/>
          </a:xfrm>
        </p:spPr>
        <p:txBody>
          <a:bodyPr/>
          <a:lstStyle/>
          <a:p>
            <a:r>
              <a:rPr lang="en-US" altLang="zh-CN" sz="2400" dirty="0"/>
              <a:t>In addition to the </a:t>
            </a:r>
            <a:r>
              <a:rPr lang="en-US" altLang="zh-CN" sz="2400" dirty="0">
                <a:solidFill>
                  <a:srgbClr val="FF0000"/>
                </a:solidFill>
              </a:rPr>
              <a:t>state-transition diagram </a:t>
            </a:r>
            <a:r>
              <a:rPr lang="en-US" altLang="zh-CN" sz="2400" dirty="0"/>
              <a:t>stored in the Finite State Controller, there is an infinite tape in a Turing machine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Cleanup</a:t>
            </a:r>
            <a:r>
              <a:rPr lang="en-US" altLang="zh-CN" sz="2400" dirty="0"/>
              <a:t>: Replace every symbol by a blank (B)</a:t>
            </a:r>
            <a:endParaRPr lang="en-US" altLang="zh-CN" sz="2400" dirty="0"/>
          </a:p>
          <a:p>
            <a:pPr lvl="1"/>
            <a:r>
              <a:rPr lang="en-US" altLang="zh-CN" sz="2000" dirty="0"/>
              <a:t>The input data string is initially placed in the tape between two blanks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内容占位符 7"/>
          <p:cNvGraphicFramePr/>
          <p:nvPr/>
        </p:nvGraphicFramePr>
        <p:xfrm>
          <a:off x="5724128" y="4077072"/>
          <a:ext cx="3382002" cy="1719872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683730"/>
                <a:gridCol w="688966"/>
                <a:gridCol w="804141"/>
                <a:gridCol w="626142"/>
                <a:gridCol w="579023"/>
              </a:tblGrid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Current State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Symbol Read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Symbol to Write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Head Move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Next State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</a:t>
                      </a:r>
                      <a:r>
                        <a:rPr lang="en-US" sz="1200" baseline="-250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  <a:tr h="429968"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0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@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</a:t>
                      </a:r>
                      <a:endParaRPr lang="zh-CN" sz="120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sym typeface="Symbol" panose="05050102010706020507" pitchFamily="18" charset="2"/>
                        </a:rPr>
                        <a:t>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</a:t>
                      </a:r>
                      <a:r>
                        <a:rPr lang="en-US" sz="1200" baseline="-25000" dirty="0">
                          <a:effectLst/>
                        </a:rPr>
                        <a:t>1</a:t>
                      </a:r>
                      <a:r>
                        <a:rPr lang="en-US" sz="1200" dirty="0">
                          <a:effectLst/>
                        </a:rPr>
                        <a:t> (Halt)</a:t>
                      </a:r>
                      <a:endParaRPr lang="zh-CN" sz="1200" dirty="0">
                        <a:effectLst/>
                        <a:latin typeface="Times" panose="02020603050405020304" pitchFamily="18" charset="0"/>
                        <a:ea typeface="等线" panose="02010600030101010101" charset="-122"/>
                        <a:cs typeface="Times New Roman" panose="0202060305040502030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8593" y="3836123"/>
          <a:ext cx="4598539" cy="1393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文档" r:id="rId1" imgW="4213860" imgH="1278890" progId="Word.Document.12">
                  <p:embed/>
                </p:oleObj>
              </mc:Choice>
              <mc:Fallback>
                <p:oleObj name="文档" r:id="rId1" imgW="4213860" imgH="1278890" progId="Word.Document.12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593" y="3836123"/>
                        <a:ext cx="4598539" cy="1393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5361" y="6021288"/>
          <a:ext cx="4773447" cy="72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文档" r:id="rId3" imgW="4369435" imgH="671830" progId="Word.Document.12">
                  <p:embed/>
                </p:oleObj>
              </mc:Choice>
              <mc:Fallback>
                <p:oleObj name="文档" r:id="rId3" imgW="4369435" imgH="671830" progId="Word.Document.12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361" y="6021288"/>
                        <a:ext cx="4773447" cy="728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207042" y="3521235"/>
            <a:ext cx="2416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State-Transition Table</a:t>
            </a:r>
            <a:endParaRPr lang="zh-CN" altLang="en-US" dirty="0"/>
          </a:p>
        </p:txBody>
      </p:sp>
      <p:sp>
        <p:nvSpPr>
          <p:cNvPr id="9" name="下箭头 8"/>
          <p:cNvSpPr/>
          <p:nvPr/>
        </p:nvSpPr>
        <p:spPr>
          <a:xfrm>
            <a:off x="2140496" y="5596216"/>
            <a:ext cx="504056" cy="567420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4187063" y="4718008"/>
            <a:ext cx="7585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Tape</a:t>
            </a:r>
            <a:r>
              <a:rPr lang="en-US" altLang="zh-CN" sz="2800" dirty="0">
                <a:latin typeface="Comic Sans MS" panose="030F0702030302020204" pitchFamily="66" charset="0"/>
              </a:rPr>
              <a:t> </a:t>
            </a:r>
            <a:endParaRPr lang="zh-CN" altLang="en-US" sz="2800" dirty="0">
              <a:latin typeface="Comic Sans MS" panose="030F0702030302020204" pitchFamily="66" charset="0"/>
            </a:endParaRP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07504" y="3189717"/>
            <a:ext cx="7633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Comic Sans MS" panose="030F0702030302020204" pitchFamily="66" charset="0"/>
              </a:rPr>
              <a:t>Read-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latin typeface="Comic Sans MS" panose="030F0702030302020204" pitchFamily="66" charset="0"/>
              </a:rPr>
              <a:t>Write</a:t>
            </a:r>
            <a:br>
              <a:rPr lang="en-US" altLang="zh-CN" sz="1600" dirty="0">
                <a:latin typeface="Comic Sans MS" panose="030F0702030302020204" pitchFamily="66" charset="0"/>
              </a:rPr>
            </a:b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Head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67544" y="4020714"/>
            <a:ext cx="864096" cy="632422"/>
          </a:xfrm>
          <a:prstGeom prst="straightConnector1">
            <a:avLst/>
          </a:prstGeom>
          <a:ln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2457862" y="3536624"/>
            <a:ext cx="27461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State </a:t>
            </a:r>
            <a:r>
              <a:rPr lang="en-US" altLang="zh-CN" sz="1600" dirty="0">
                <a:latin typeface="Comic Sans MS" panose="030F0702030302020204" pitchFamily="66" charset="0"/>
              </a:rPr>
              <a:t>Transition Diagram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Definition of Turing Machine 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A Turing machine is a 7-tuple M={Q, </a:t>
            </a:r>
            <a:r>
              <a:rPr lang="el-GR" dirty="0">
                <a:latin typeface="+mn-ea"/>
                <a:cs typeface="Arial" panose="020B0604020202020204" pitchFamily="34" charset="0"/>
              </a:rPr>
              <a:t>Σ,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l-GR" dirty="0">
                <a:latin typeface="+mn-ea"/>
                <a:cs typeface="Arial" panose="020B0604020202020204" pitchFamily="34" charset="0"/>
              </a:rPr>
              <a:t>Γ,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l-GR" dirty="0">
                <a:latin typeface="+mn-ea"/>
                <a:cs typeface="Arial" panose="020B0604020202020204" pitchFamily="34" charset="0"/>
              </a:rPr>
              <a:t>δ,</a:t>
            </a:r>
            <a:r>
              <a:rPr lang="en-US" dirty="0">
                <a:latin typeface="+mn-ea"/>
                <a:cs typeface="Arial" panose="020B0604020202020204" pitchFamily="34" charset="0"/>
              </a:rPr>
              <a:t> q</a:t>
            </a:r>
            <a:r>
              <a:rPr lang="en-US" baseline="-25000" dirty="0">
                <a:latin typeface="+mn-ea"/>
                <a:cs typeface="Arial" panose="020B0604020202020204" pitchFamily="34" charset="0"/>
              </a:rPr>
              <a:t>0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Accept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Reject</a:t>
            </a:r>
            <a:r>
              <a:rPr lang="en-US" dirty="0">
                <a:latin typeface="+mn-ea"/>
                <a:cs typeface="Arial" panose="020B0604020202020204" pitchFamily="34" charset="0"/>
              </a:rPr>
              <a:t> }.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Q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a finite, non-empty set of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states</a:t>
            </a:r>
            <a:r>
              <a:rPr lang="en-US" dirty="0">
                <a:latin typeface="+mn-ea"/>
                <a:cs typeface="Arial" panose="020B0604020202020204" pitchFamily="34" charset="0"/>
              </a:rPr>
              <a:t>.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l-GR" b="1" dirty="0">
                <a:latin typeface="+mn-ea"/>
                <a:cs typeface="Arial" panose="020B0604020202020204" pitchFamily="34" charset="0"/>
              </a:rPr>
              <a:t>Σ</a:t>
            </a:r>
            <a:r>
              <a:rPr lang="el-GR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is a finite, non-empty set of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input symbols</a:t>
            </a:r>
            <a:r>
              <a:rPr lang="en-US" dirty="0">
                <a:latin typeface="+mn-ea"/>
                <a:cs typeface="Arial" panose="020B0604020202020204" pitchFamily="34" charset="0"/>
              </a:rPr>
              <a:t>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l-GR" b="1" dirty="0">
                <a:latin typeface="+mn-ea"/>
                <a:cs typeface="Arial" panose="020B0604020202020204" pitchFamily="34" charset="0"/>
              </a:rPr>
              <a:t>Γ</a:t>
            </a:r>
            <a:r>
              <a:rPr lang="el-GR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is a finite, non-empty set of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tape symbols</a:t>
            </a:r>
            <a:r>
              <a:rPr lang="en-US" dirty="0">
                <a:latin typeface="+mn-ea"/>
                <a:cs typeface="Arial" panose="020B0604020202020204" pitchFamily="34" charset="0"/>
              </a:rPr>
              <a:t>. There is a special character B∈</a:t>
            </a:r>
            <a:r>
              <a:rPr lang="el-GR" dirty="0">
                <a:latin typeface="+mn-ea"/>
                <a:cs typeface="Arial" panose="020B0604020202020204" pitchFamily="34" charset="0"/>
              </a:rPr>
              <a:t>Γ </a:t>
            </a:r>
            <a:r>
              <a:rPr lang="en-US" dirty="0">
                <a:latin typeface="+mn-ea"/>
                <a:cs typeface="Arial" panose="020B0604020202020204" pitchFamily="34" charset="0"/>
              </a:rPr>
              <a:t>for the blank symbol. We require B∉</a:t>
            </a:r>
            <a:r>
              <a:rPr lang="el-GR" dirty="0">
                <a:latin typeface="+mn-ea"/>
                <a:cs typeface="Arial" panose="020B0604020202020204" pitchFamily="34" charset="0"/>
              </a:rPr>
              <a:t>Σ </a:t>
            </a:r>
            <a:r>
              <a:rPr lang="en-US" dirty="0">
                <a:latin typeface="+mn-ea"/>
                <a:cs typeface="Arial" panose="020B0604020202020204" pitchFamily="34" charset="0"/>
              </a:rPr>
              <a:t>and </a:t>
            </a:r>
            <a:r>
              <a:rPr lang="el-GR" dirty="0">
                <a:latin typeface="+mn-ea"/>
                <a:cs typeface="Arial" panose="020B0604020202020204" pitchFamily="34" charset="0"/>
              </a:rPr>
              <a:t>Σ⊂Γ.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l-GR" b="1" dirty="0">
                <a:latin typeface="+mn-ea"/>
                <a:cs typeface="Arial" panose="020B0604020202020204" pitchFamily="34" charset="0"/>
              </a:rPr>
              <a:t>δ</a:t>
            </a:r>
            <a:r>
              <a:rPr lang="el-GR" dirty="0">
                <a:latin typeface="+mn-ea"/>
                <a:cs typeface="Arial" panose="020B0604020202020204" pitchFamily="34" charset="0"/>
              </a:rPr>
              <a:t>:(</a:t>
            </a:r>
            <a:r>
              <a:rPr lang="en-US" dirty="0">
                <a:latin typeface="+mn-ea"/>
                <a:cs typeface="Arial" panose="020B0604020202020204" pitchFamily="34" charset="0"/>
              </a:rPr>
              <a:t>Q-{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Accept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Reject</a:t>
            </a:r>
            <a:r>
              <a:rPr lang="en-US" dirty="0">
                <a:latin typeface="+mn-ea"/>
                <a:cs typeface="Arial" panose="020B0604020202020204" pitchFamily="34" charset="0"/>
              </a:rPr>
              <a:t> })×</a:t>
            </a:r>
            <a:r>
              <a:rPr lang="el-GR" dirty="0">
                <a:latin typeface="+mn-ea"/>
                <a:cs typeface="Arial" panose="020B0604020202020204" pitchFamily="34" charset="0"/>
              </a:rPr>
              <a:t>Γ → </a:t>
            </a:r>
            <a:r>
              <a:rPr lang="en-US" dirty="0">
                <a:latin typeface="+mn-ea"/>
                <a:cs typeface="Arial" panose="020B0604020202020204" pitchFamily="34" charset="0"/>
              </a:rPr>
              <a:t>Q×</a:t>
            </a:r>
            <a:r>
              <a:rPr lang="el-GR" dirty="0">
                <a:latin typeface="+mn-ea"/>
                <a:cs typeface="Arial" panose="020B0604020202020204" pitchFamily="34" charset="0"/>
              </a:rPr>
              <a:t>Γ×{→,←} </a:t>
            </a:r>
            <a:r>
              <a:rPr lang="en-US" dirty="0">
                <a:latin typeface="+mn-ea"/>
                <a:cs typeface="Arial" panose="020B0604020202020204" pitchFamily="34" charset="0"/>
              </a:rPr>
              <a:t>is the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transition function</a:t>
            </a:r>
            <a:r>
              <a:rPr lang="en-US" dirty="0">
                <a:latin typeface="+mn-ea"/>
                <a:cs typeface="Arial" panose="020B0604020202020204" pitchFamily="34" charset="0"/>
              </a:rPr>
              <a:t>.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q</a:t>
            </a:r>
            <a:r>
              <a:rPr lang="en-US" b="1" baseline="-25000" dirty="0">
                <a:latin typeface="+mn-ea"/>
                <a:cs typeface="Arial" panose="020B0604020202020204" pitchFamily="34" charset="0"/>
              </a:rPr>
              <a:t>0</a:t>
            </a:r>
            <a:r>
              <a:rPr lang="en-US" dirty="0">
                <a:latin typeface="+mn-ea"/>
                <a:cs typeface="Arial" panose="020B0604020202020204" pitchFamily="34" charset="0"/>
              </a:rPr>
              <a:t>∈Q is the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initial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="1" baseline="-25000" dirty="0" err="1">
                <a:latin typeface="+mn-ea"/>
                <a:cs typeface="Arial" panose="020B0604020202020204" pitchFamily="34" charset="0"/>
              </a:rPr>
              <a:t>Accept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∈Q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the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accept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="1" baseline="-25000" dirty="0" err="1">
                <a:latin typeface="+mn-ea"/>
                <a:cs typeface="Arial" panose="020B0604020202020204" pitchFamily="34" charset="0"/>
              </a:rPr>
              <a:t>Rejec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t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∈Q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the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reject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Simple Example </a:t>
            </a:r>
            <a:endParaRPr dirty="0">
              <a:latin typeface="+mj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Goal</a:t>
            </a:r>
            <a:r>
              <a:rPr lang="zh-CN" dirty="0">
                <a:latin typeface="+mn-ea"/>
                <a:cs typeface="Arial" panose="020B0604020202020204" pitchFamily="34" charset="0"/>
              </a:rPr>
              <a:t>：</a:t>
            </a:r>
            <a:r>
              <a:rPr lang="en-US" dirty="0">
                <a:latin typeface="+mn-ea"/>
                <a:cs typeface="Arial" panose="020B0604020202020204" pitchFamily="34" charset="0"/>
              </a:rPr>
              <a:t>Judge parity of the number “1” in a “01” string </a:t>
            </a:r>
            <a:endParaRPr dirty="0">
              <a:latin typeface="+mn-ea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State Set </a:t>
            </a:r>
            <a:r>
              <a:rPr lang="en-US" dirty="0">
                <a:latin typeface="+mn-ea"/>
                <a:cs typeface="Arial" panose="020B0604020202020204" pitchFamily="34" charset="0"/>
              </a:rPr>
              <a:t>Q = {q</a:t>
            </a:r>
            <a:r>
              <a:rPr lang="en-US" baseline="-25000" dirty="0">
                <a:latin typeface="+mn-ea"/>
                <a:cs typeface="Arial" panose="020B0604020202020204" pitchFamily="34" charset="0"/>
              </a:rPr>
              <a:t>0</a:t>
            </a:r>
            <a:r>
              <a:rPr lang="en-US" dirty="0">
                <a:latin typeface="+mn-ea"/>
                <a:cs typeface="Arial" panose="020B0604020202020204" pitchFamily="34" charset="0"/>
              </a:rPr>
              <a:t>, q</a:t>
            </a:r>
            <a:r>
              <a:rPr lang="en-US" baseline="-25000" dirty="0">
                <a:latin typeface="+mn-ea"/>
                <a:cs typeface="Arial" panose="020B0604020202020204" pitchFamily="34" charset="0"/>
              </a:rPr>
              <a:t>1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accept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reject</a:t>
            </a:r>
            <a:r>
              <a:rPr lang="en-US" dirty="0">
                <a:latin typeface="+mn-ea"/>
                <a:cs typeface="Arial" panose="020B0604020202020204" pitchFamily="34" charset="0"/>
              </a:rPr>
              <a:t>}</a:t>
            </a:r>
            <a:endParaRPr lang="zh-CN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Input Symbols Set</a:t>
            </a:r>
            <a:r>
              <a:rPr lang="en-US" dirty="0">
                <a:latin typeface="+mn-ea"/>
                <a:cs typeface="Arial" panose="020B0604020202020204" pitchFamily="34" charset="0"/>
              </a:rPr>
              <a:t>: Σ = {0,</a:t>
            </a:r>
            <a:r>
              <a:rPr 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1}</a:t>
            </a:r>
            <a:endParaRPr dirty="0">
              <a:latin typeface="+mn-ea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Tape Symbols Set</a:t>
            </a:r>
            <a:r>
              <a:rPr lang="en-US" dirty="0">
                <a:latin typeface="+mn-ea"/>
                <a:cs typeface="Arial" panose="020B0604020202020204" pitchFamily="34" charset="0"/>
              </a:rPr>
              <a:t>: Γ = {0,</a:t>
            </a:r>
            <a:r>
              <a:rPr 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1,</a:t>
            </a:r>
            <a:r>
              <a:rPr 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B}</a:t>
            </a:r>
            <a:endParaRPr dirty="0">
              <a:latin typeface="+mn-ea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Transition function: δ (next slide)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Initial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: q</a:t>
            </a:r>
            <a:r>
              <a:rPr lang="en-US" baseline="-25000" dirty="0">
                <a:latin typeface="+mn-ea"/>
                <a:cs typeface="Arial" panose="020B0604020202020204" pitchFamily="34" charset="0"/>
              </a:rPr>
              <a:t>0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Accept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accept</a:t>
            </a:r>
            <a:endParaRPr lang="en-US" baseline="-25000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epresenting the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number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“1” is even</a:t>
            </a:r>
            <a:endParaRPr lang="en-US" baseline="-25000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latin typeface="+mn-ea"/>
                <a:cs typeface="Arial" panose="020B0604020202020204" pitchFamily="34" charset="0"/>
              </a:rPr>
              <a:t>Reject state</a:t>
            </a:r>
            <a:r>
              <a:rPr lang="en-US" dirty="0">
                <a:latin typeface="+mn-ea"/>
                <a:cs typeface="Arial" panose="020B0604020202020204" pitchFamily="34" charset="0"/>
              </a:rPr>
              <a:t>:</a:t>
            </a:r>
            <a:r>
              <a:rPr 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</a:t>
            </a:r>
            <a:r>
              <a:rPr lang="en-US" baseline="-25000" dirty="0" err="1">
                <a:latin typeface="+mn-ea"/>
                <a:cs typeface="Arial" panose="020B0604020202020204" pitchFamily="34" charset="0"/>
              </a:rPr>
              <a:t>reject</a:t>
            </a:r>
            <a:endParaRPr lang="en-US" baseline="-25000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epresenting the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number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+mn-ea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+mn-ea"/>
                <a:cs typeface="Arial" panose="020B0604020202020204" pitchFamily="34" charset="0"/>
              </a:rPr>
              <a:t>“1” is odd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Simple Example -- T</a:t>
            </a:r>
            <a:r>
              <a:rPr lang="en-US" altLang="zh-CN" dirty="0">
                <a:latin typeface="+mj-ea"/>
                <a:cs typeface="Arial" panose="020B0604020202020204" pitchFamily="34" charset="0"/>
              </a:rPr>
              <a:t>ransition Function</a:t>
            </a:r>
            <a:endParaRPr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1268760"/>
            <a:ext cx="5328776" cy="24319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4" name="表格 24"/>
          <p:cNvGraphicFramePr>
            <a:graphicFrameLocks noGrp="1"/>
          </p:cNvGraphicFramePr>
          <p:nvPr/>
        </p:nvGraphicFramePr>
        <p:xfrm>
          <a:off x="595180" y="3849426"/>
          <a:ext cx="7953640" cy="2855502"/>
        </p:xfrm>
        <a:graphic>
          <a:graphicData uri="http://schemas.openxmlformats.org/drawingml/2006/table">
            <a:tbl>
              <a:tblPr firstRow="1" bandRow="1"/>
              <a:tblGrid>
                <a:gridCol w="1420292"/>
                <a:gridCol w="1704352"/>
                <a:gridCol w="1572256"/>
                <a:gridCol w="1552388"/>
                <a:gridCol w="1704352"/>
              </a:tblGrid>
              <a:tr h="41863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Current </a:t>
                      </a:r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tate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Symbol Read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Symbol to Write  </a:t>
                      </a:r>
                      <a:endParaRPr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Head Move</a:t>
                      </a:r>
                      <a:endParaRPr sz="1600" dirty="0"/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Next </a:t>
                      </a:r>
                      <a:r>
                        <a:rPr lang="en-US" altLang="zh-CN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tate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  <a:round/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 err="1">
                          <a:latin typeface="+mn-ea"/>
                          <a:ea typeface="+mn-ea"/>
                        </a:rPr>
                        <a:t>accept</a:t>
                      </a:r>
                      <a:endParaRPr lang="en-US" sz="1600" baseline="-250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 err="1">
                          <a:latin typeface="+mn-ea"/>
                          <a:ea typeface="+mn-ea"/>
                        </a:rPr>
                        <a:t>reject</a:t>
                      </a:r>
                      <a:endParaRPr lang="en-US" sz="1600" baseline="-250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Simple Example -- T</a:t>
            </a:r>
            <a:r>
              <a:rPr lang="en-US" altLang="zh-CN" dirty="0">
                <a:latin typeface="+mj-ea"/>
                <a:cs typeface="Arial" panose="020B0604020202020204" pitchFamily="34" charset="0"/>
              </a:rPr>
              <a:t>ransition Function</a:t>
            </a:r>
            <a:endParaRPr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1268760"/>
            <a:ext cx="5328776" cy="24319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4" name="表格 24"/>
          <p:cNvGraphicFramePr>
            <a:graphicFrameLocks noGrp="1"/>
          </p:cNvGraphicFramePr>
          <p:nvPr/>
        </p:nvGraphicFramePr>
        <p:xfrm>
          <a:off x="595180" y="3849426"/>
          <a:ext cx="7953640" cy="2855502"/>
        </p:xfrm>
        <a:graphic>
          <a:graphicData uri="http://schemas.openxmlformats.org/drawingml/2006/table">
            <a:tbl>
              <a:tblPr firstRow="1" bandRow="1"/>
              <a:tblGrid>
                <a:gridCol w="1420292"/>
                <a:gridCol w="1704352"/>
                <a:gridCol w="1572256"/>
                <a:gridCol w="1552388"/>
                <a:gridCol w="1704352"/>
              </a:tblGrid>
              <a:tr h="41863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Current </a:t>
                      </a:r>
                      <a:r>
                        <a:rPr lang="en-US" altLang="zh-CN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tate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Symbol Read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Symbol to Write  </a:t>
                      </a:r>
                      <a:endParaRPr sz="1500" b="0" dirty="0">
                        <a:solidFill>
                          <a:schemeClr val="tx1"/>
                        </a:solidFill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Head Move</a:t>
                      </a:r>
                      <a:endParaRPr sz="1600" dirty="0"/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Next </a:t>
                      </a:r>
                      <a:r>
                        <a:rPr lang="en-US" altLang="zh-CN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tate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  <a:round/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 err="1">
                          <a:latin typeface="+mn-ea"/>
                          <a:ea typeface="+mn-ea"/>
                        </a:rPr>
                        <a:t>accept</a:t>
                      </a:r>
                      <a:endParaRPr lang="en-US" sz="1600" baseline="-250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0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4061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>
                          <a:latin typeface="+mn-ea"/>
                          <a:ea typeface="+mn-ea"/>
                        </a:rPr>
                        <a:t>1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</a:rPr>
                        <a:t>B</a:t>
                      </a:r>
                      <a:endParaRPr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>
                          <a:latin typeface="+mn-ea"/>
                          <a:ea typeface="+mn-ea"/>
                          <a:cs typeface="Arial" panose="020B0604020202020204"/>
                        </a:rPr>
                        <a:t>→</a:t>
                      </a:r>
                      <a:endParaRPr lang="en-US" sz="16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dirty="0" err="1"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sz="1600" baseline="-25000" dirty="0" err="1">
                          <a:latin typeface="+mn-ea"/>
                          <a:ea typeface="+mn-ea"/>
                        </a:rPr>
                        <a:t>reject</a:t>
                      </a:r>
                      <a:endParaRPr lang="en-US" sz="1600" baseline="-25000" dirty="0">
                        <a:latin typeface="+mn-ea"/>
                        <a:ea typeface="+mn-ea"/>
                      </a:endParaRPr>
                    </a:p>
                  </a:txBody>
                  <a:tcPr marL="81896" marR="81896" marT="40947" marB="40947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Simple Example -- T</a:t>
            </a:r>
            <a:r>
              <a:rPr lang="en-US" altLang="zh-CN" dirty="0">
                <a:latin typeface="+mj-ea"/>
                <a:cs typeface="Arial" panose="020B0604020202020204" pitchFamily="34" charset="0"/>
              </a:rPr>
              <a:t>ransition Function</a:t>
            </a:r>
            <a:endParaRPr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672" y="1268760"/>
            <a:ext cx="5328776" cy="243192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9553" y="898637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更进一步，如果要在纸带上写上 “</a:t>
            </a:r>
            <a:r>
              <a:rPr lang="en-US" altLang="zh-CN" sz="2400" dirty="0">
                <a:solidFill>
                  <a:srgbClr val="FF0000"/>
                </a:solidFill>
              </a:rPr>
              <a:t>Even</a:t>
            </a:r>
            <a:r>
              <a:rPr lang="zh-CN" altLang="en-US" sz="2400" dirty="0">
                <a:solidFill>
                  <a:srgbClr val="FF0000"/>
                </a:solidFill>
              </a:rPr>
              <a:t>” 和 “</a:t>
            </a:r>
            <a:r>
              <a:rPr lang="en-US" altLang="zh-CN" sz="2400" dirty="0">
                <a:solidFill>
                  <a:srgbClr val="FF0000"/>
                </a:solidFill>
              </a:rPr>
              <a:t>Odd</a:t>
            </a:r>
            <a:r>
              <a:rPr lang="zh-CN" altLang="en-US" sz="2400" dirty="0">
                <a:solidFill>
                  <a:srgbClr val="FF0000"/>
                </a:solidFill>
              </a:rPr>
              <a:t>” ，怎么办？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Week1 </a:t>
            </a:r>
            <a:r>
              <a:rPr lang="en-US" dirty="0">
                <a:latin typeface="+mj-ea"/>
                <a:cs typeface="Arial" panose="020B0604020202020204" pitchFamily="34" charset="0"/>
              </a:rPr>
              <a:t>Outline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Introduction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of Turing Machine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Experiment Platform</a:t>
            </a:r>
            <a:endParaRPr dirty="0">
              <a:solidFill>
                <a:srgbClr val="FF0000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dirty="0">
                <a:latin typeface="+mj-ea"/>
                <a:ea typeface="+mj-ea"/>
                <a:cs typeface="Arial" panose="020B0604020202020204" pitchFamily="34" charset="0"/>
              </a:rPr>
              <a:t>Two </a:t>
            </a: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Examples</a:t>
            </a:r>
            <a:endParaRPr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Questions</a:t>
            </a:r>
            <a:endParaRPr lang="zh-CN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Experiment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Platform</a:t>
            </a:r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457200" lvl="1" indent="0">
              <a:buNone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30573"/>
            <a:ext cx="8892479" cy="570518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Experiment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Platform -- Overview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Property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The input is put on the tape, and other square are letter B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Infinite for both side of tape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Header is initially on the far-left side of the input string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Buttons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Set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Initialize Turing machine, including import rules and tape data initialization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Pause</a:t>
            </a:r>
            <a:r>
              <a:rPr lang="en-US" dirty="0">
                <a:latin typeface="+mn-ea"/>
                <a:cs typeface="Arial" panose="020B0604020202020204" pitchFamily="34" charset="0"/>
              </a:rPr>
              <a:t>”/“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Continue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Pause or continue execution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Debug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Invalid when in continue state, otherwise execute one step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Finish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Skip animation and display the result of the Turing machine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&lt;&lt;</a:t>
            </a:r>
            <a:r>
              <a:rPr lang="en-US" dirty="0">
                <a:latin typeface="+mn-ea"/>
                <a:cs typeface="Arial" panose="020B0604020202020204" pitchFamily="34" charset="0"/>
              </a:rPr>
              <a:t> ” : Slow down the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execution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&gt;&gt;</a:t>
            </a:r>
            <a:r>
              <a:rPr lang="en-US" dirty="0">
                <a:latin typeface="+mn-ea"/>
                <a:cs typeface="Arial" panose="020B0604020202020204" pitchFamily="34" charset="0"/>
              </a:rPr>
              <a:t> ”: Speed up the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execution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Get State Transition Diagram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As the name suggests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Test</a:t>
            </a:r>
            <a:r>
              <a:rPr lang="en-US" dirty="0">
                <a:latin typeface="+mn-ea"/>
                <a:cs typeface="Arial" panose="020B0604020202020204" pitchFamily="34" charset="0"/>
              </a:rPr>
              <a:t>”: See if you can pass a test point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Note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If the simulation exceeds 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10,000</a:t>
            </a:r>
            <a:r>
              <a:rPr lang="en-US" dirty="0">
                <a:latin typeface="+mn-ea"/>
                <a:cs typeface="Arial" panose="020B0604020202020204" pitchFamily="34" charset="0"/>
              </a:rPr>
              <a:t> steps on a certain input, we believe that the Turing machine will not  terminate on this input and throw a “no terminate” error.</a:t>
            </a: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Experiment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Platform -- </a:t>
            </a:r>
            <a:r>
              <a:rPr lang="en-US" dirty="0">
                <a:latin typeface="+mj-ea"/>
                <a:cs typeface="Arial" panose="020B0604020202020204" pitchFamily="34" charset="0"/>
              </a:rPr>
              <a:t>How to Use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0" y="1124744"/>
            <a:ext cx="9217024" cy="54726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Only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state-transition table </a:t>
            </a:r>
            <a:r>
              <a:rPr lang="en-US" dirty="0">
                <a:latin typeface="+mn-ea"/>
                <a:cs typeface="Arial" panose="020B0604020202020204" pitchFamily="34" charset="0"/>
              </a:rPr>
              <a:t>is needed to submit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Multiple lines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Each line only include one state-transition rule, in the form of: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marL="457200" lvl="1" indent="0">
              <a:buNone/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	</a:t>
            </a:r>
            <a:r>
              <a:rPr lang="en-US" sz="20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State, Symbol Read, Symbol to Write, Head Move, Next State</a:t>
            </a:r>
            <a:endParaRPr b="1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Note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State / Next State: a string. Specify 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q0</a:t>
            </a:r>
            <a:r>
              <a:rPr lang="en-US" dirty="0">
                <a:latin typeface="+mn-ea"/>
                <a:cs typeface="Arial" panose="020B0604020202020204" pitchFamily="34" charset="0"/>
              </a:rPr>
              <a:t> as the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initial</a:t>
            </a:r>
            <a:r>
              <a:rPr lang="en-US" dirty="0">
                <a:latin typeface="+mn-ea"/>
                <a:cs typeface="Arial" panose="020B0604020202020204" pitchFamily="34" charset="0"/>
              </a:rPr>
              <a:t> state and </a:t>
            </a:r>
            <a:r>
              <a:rPr lang="en-US" dirty="0" err="1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qa</a:t>
            </a:r>
            <a:r>
              <a:rPr lang="en-US" dirty="0">
                <a:latin typeface="+mn-ea"/>
                <a:cs typeface="Arial" panose="020B0604020202020204" pitchFamily="34" charset="0"/>
              </a:rPr>
              <a:t> as the stop state.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Symbol Read: a visible ASCII character, represent the letter that head read.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Symbol to Write:  a visible ASCII character, represent the letter that head write.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Head Move: One of {L, R}, where L means the head moves one space to the left, R means the head moves one space to the right.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C</a:t>
            </a:r>
            <a:r>
              <a:rPr lang="en-US" b="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ase sensitive.</a:t>
            </a:r>
            <a:endParaRPr lang="en-US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How to Use </a:t>
            </a:r>
            <a:r>
              <a:rPr lang="zh-CN" altLang="en-US" dirty="0">
                <a:latin typeface="+mj-ea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+mj-ea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+mj-ea"/>
                <a:cs typeface="Arial" panose="020B0604020202020204" pitchFamily="34" charset="0"/>
              </a:rPr>
              <a:t>）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Automatic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generate 6-tuples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State Set: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Q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generated according to the state transition table, including all the states that have appeared in the "state"/"next state" column of the state transition table.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Tape Symbols Set: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Γ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specified as all the visible ASCII codes.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Input Symbol Set: </a:t>
            </a:r>
            <a:r>
              <a:rPr lang="en-US" b="1" dirty="0">
                <a:latin typeface="+mn-ea"/>
                <a:cs typeface="Arial" panose="020B0604020202020204" pitchFamily="34" charset="0"/>
              </a:rPr>
              <a:t>Σ</a:t>
            </a:r>
            <a:r>
              <a:rPr lang="en-US" dirty="0">
                <a:latin typeface="+mn-ea"/>
                <a:cs typeface="Arial" panose="020B0604020202020204" pitchFamily="34" charset="0"/>
              </a:rPr>
              <a:t> is a subset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Γ\{B} 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State Transition Function: </a:t>
            </a:r>
            <a:r>
              <a:rPr lang="en-US" altLang="zh-CN" b="1" dirty="0">
                <a:latin typeface="+mn-ea"/>
                <a:cs typeface="Arial" panose="020B0604020202020204" pitchFamily="34" charset="0"/>
              </a:rPr>
              <a:t>δ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(last slide)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Initial State: q0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Stop State: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qa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Example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q0, B, B, R, q1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q1, B, 1, L,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qa</a:t>
            </a:r>
            <a:endParaRPr lang="en-US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Week1 </a:t>
            </a:r>
            <a:r>
              <a:rPr lang="en-US" dirty="0">
                <a:latin typeface="+mj-ea"/>
                <a:cs typeface="Arial" panose="020B0604020202020204" pitchFamily="34" charset="0"/>
              </a:rPr>
              <a:t>Outline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panose="020B0604020202020204" pitchFamily="34" charset="0"/>
              </a:rPr>
              <a:t>Introduction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of Turing Machine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Experiment Platform</a:t>
            </a:r>
            <a:endParaRPr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Two </a:t>
            </a:r>
            <a:r>
              <a:rPr lang="en-US" dirty="0">
                <a:solidFill>
                  <a:srgbClr val="FF0000"/>
                </a:solidFill>
                <a:latin typeface="+mj-ea"/>
                <a:ea typeface="+mj-ea"/>
                <a:cs typeface="Arial" panose="020B0604020202020204" pitchFamily="34" charset="0"/>
              </a:rPr>
              <a:t>Examples</a:t>
            </a:r>
            <a:endParaRPr dirty="0">
              <a:solidFill>
                <a:srgbClr val="FF0000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j-ea"/>
                <a:ea typeface="+mj-ea"/>
                <a:cs typeface="Arial" panose="020B0604020202020204" pitchFamily="34" charset="0"/>
              </a:rPr>
              <a:t>Questions</a:t>
            </a:r>
            <a:endParaRPr lang="zh-CN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Two </a:t>
            </a:r>
            <a:r>
              <a:rPr lang="en-US" dirty="0">
                <a:latin typeface="+mj-ea"/>
                <a:cs typeface="Arial" panose="020B0604020202020204" pitchFamily="34" charset="0"/>
              </a:rPr>
              <a:t>Examples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Turing machine of parity recognition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Judge parity of the number of  “1” in a “01” string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If the number of  “1” is even, then write “Even” on the tape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If the number of  “1” is odd, then write “Odd” on the tape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Turing machine of palindrome recognition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Judge whether a “01” string is palindrome or not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If yes, then write “Y” on</a:t>
            </a:r>
            <a:r>
              <a:rPr lang="zh-CN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the tape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Otherwise, write “N”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Parity Recognition</a:t>
            </a:r>
            <a:r>
              <a:rPr lang="zh-CN" altLang="en-US" dirty="0">
                <a:latin typeface="+mj-ea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+mj-ea"/>
                <a:cs typeface="Arial" panose="020B0604020202020204" pitchFamily="34" charset="0"/>
              </a:rPr>
              <a:t>--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Key Idea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Key Idea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 err="1">
                <a:latin typeface="+mn-ea"/>
                <a:cs typeface="Arial" panose="020B0604020202020204" pitchFamily="34" charset="0"/>
              </a:rPr>
              <a:t>qodd</a:t>
            </a:r>
            <a:r>
              <a:rPr lang="en-US" dirty="0">
                <a:latin typeface="+mn-ea"/>
                <a:cs typeface="Arial" panose="020B0604020202020204" pitchFamily="34" charset="0"/>
              </a:rPr>
              <a:t>: the number of “1” in the string ever read is odd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 err="1">
                <a:latin typeface="+mn-ea"/>
                <a:cs typeface="Arial" panose="020B0604020202020204" pitchFamily="34" charset="0"/>
              </a:rPr>
              <a:t>qeven</a:t>
            </a:r>
            <a:r>
              <a:rPr lang="en-US" dirty="0">
                <a:latin typeface="+mn-ea"/>
                <a:cs typeface="Arial" panose="020B0604020202020204" pitchFamily="34" charset="0"/>
              </a:rPr>
              <a:t>: the number of “1” in the string ever read is even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Read 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latin typeface="+mn-ea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”</a:t>
            </a:r>
            <a:r>
              <a:rPr lang="en-US" dirty="0">
                <a:latin typeface="+mn-ea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qodd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qeven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qeven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qodd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Read 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latin typeface="+mn-ea"/>
                <a:cs typeface="Arial" panose="020B0604020202020204" pitchFamily="34" charset="0"/>
              </a:rPr>
              <a:t>0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”</a:t>
            </a:r>
            <a:r>
              <a:rPr lang="en-US" dirty="0">
                <a:latin typeface="+mn-ea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qodd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qodd</a:t>
            </a:r>
            <a:r>
              <a:rPr lang="en-US" dirty="0">
                <a:latin typeface="+mn-ea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qeven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n-ea"/>
                <a:cs typeface="Arial" panose="020B0604020202020204" pitchFamily="34" charset="0"/>
              </a:rPr>
              <a:t>qeven</a:t>
            </a: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endParaRPr lang="zh-CN" dirty="0">
              <a:latin typeface="+mn-ea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20" y="3671210"/>
            <a:ext cx="4726334" cy="237504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8540" y="4509119"/>
            <a:ext cx="3368131" cy="1865815"/>
            <a:chOff x="78540" y="4509119"/>
            <a:chExt cx="3368131" cy="186581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 bwMode="auto">
            <a:xfrm>
              <a:off x="78540" y="4509119"/>
              <a:ext cx="3368131" cy="1537133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" name="文本框 1"/>
            <p:cNvSpPr txBox="1"/>
            <p:nvPr/>
          </p:nvSpPr>
          <p:spPr>
            <a:xfrm>
              <a:off x="395536" y="6005602"/>
              <a:ext cx="25933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From “Simple example”</a:t>
              </a:r>
              <a:endParaRPr lang="zh-CN" altLang="en-US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13587" y="4254887"/>
            <a:ext cx="6192688" cy="2373297"/>
            <a:chOff x="2413587" y="4254887"/>
            <a:chExt cx="6192688" cy="2373297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3587" y="4254887"/>
              <a:ext cx="6192688" cy="2373297"/>
            </a:xfrm>
            <a:prstGeom prst="rect">
              <a:avLst/>
            </a:prstGeom>
          </p:spPr>
        </p:pic>
        <p:sp>
          <p:nvSpPr>
            <p:cNvPr id="7" name="椭圆 5"/>
            <p:cNvSpPr/>
            <p:nvPr/>
          </p:nvSpPr>
          <p:spPr bwMode="auto">
            <a:xfrm>
              <a:off x="4040915" y="5126805"/>
              <a:ext cx="675101" cy="3709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椭圆 6"/>
            <p:cNvSpPr/>
            <p:nvPr/>
          </p:nvSpPr>
          <p:spPr bwMode="auto">
            <a:xfrm>
              <a:off x="5940152" y="4274648"/>
              <a:ext cx="820981" cy="47102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7"/>
            <p:cNvSpPr/>
            <p:nvPr/>
          </p:nvSpPr>
          <p:spPr bwMode="auto">
            <a:xfrm>
              <a:off x="7452320" y="5497745"/>
              <a:ext cx="813880" cy="47102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Parity </a:t>
            </a:r>
            <a:r>
              <a:rPr lang="en-US" dirty="0">
                <a:latin typeface="+mj-ea"/>
                <a:cs typeface="Arial" panose="020B0604020202020204" pitchFamily="34" charset="0"/>
              </a:rPr>
              <a:t>Recognition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Key Principle</a:t>
            </a:r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Key Principle: 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Loop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Use </a:t>
            </a:r>
            <a:r>
              <a:rPr lang="en-US" altLang="zh-CN" b="1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four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 rule to handle </a:t>
            </a:r>
            <a:r>
              <a:rPr lang="en-US" altLang="zh-CN" b="1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infinite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 input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NOT infinite rule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lvl="3">
              <a:defRPr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</a:rPr>
              <a:t> qodd1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 qeven1, qeven2</a:t>
            </a:r>
            <a:r>
              <a:rPr lang="en-US" altLang="zh-CN" dirty="0">
                <a:latin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qodd3, …</a:t>
            </a:r>
            <a:endParaRPr lang="en-US" altLang="zh-CN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Able to</a:t>
            </a: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+mn-ea"/>
                <a:cs typeface="Arial" panose="020B0604020202020204" pitchFamily="34" charset="0"/>
              </a:rPr>
              <a:t>Move</a:t>
            </a: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 the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ape Many Times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 descr="图示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902419"/>
            <a:ext cx="2771775" cy="1552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8892479" cy="858490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Parity </a:t>
            </a:r>
            <a:r>
              <a:rPr lang="en-US" altLang="zh-CN" sz="2800" dirty="0">
                <a:latin typeface="+mj-ea"/>
                <a:cs typeface="Arial" panose="020B0604020202020204" pitchFamily="34" charset="0"/>
              </a:rPr>
              <a:t>Recognition --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state-transition diagram/table</a:t>
            </a:r>
            <a:endParaRPr lang="zh-CN" altLang="en-US" sz="28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内容占位符 4"/>
          <p:cNvGraphicFramePr/>
          <p:nvPr/>
        </p:nvGraphicFramePr>
        <p:xfrm>
          <a:off x="269602" y="2875114"/>
          <a:ext cx="8604795" cy="3856754"/>
        </p:xfrm>
        <a:graphic>
          <a:graphicData uri="http://schemas.openxmlformats.org/drawingml/2006/table">
            <a:tbl>
              <a:tblPr firstRow="1" bandRow="1">
                <a:tableStyleId>{2618F747-3B81-53F8-BF67-C475E6C2664C}</a:tableStyleId>
              </a:tblPr>
              <a:tblGrid>
                <a:gridCol w="2868264"/>
                <a:gridCol w="3147784"/>
                <a:gridCol w="2588747"/>
              </a:tblGrid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q0,1,o,R,qodd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qWven,B,v,R,qWen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qWOdd,B,O,R,qWdd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q0,0,e,R,qeven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qWen,B,e,R,qWn</a:t>
                      </a:r>
                      <a:endParaRPr sz="180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qWdd,B,d,R,qWd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q0,B,e,R,qWven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qWn,B,n,R,qa</a:t>
                      </a: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qWd,B,d,R,qa</a:t>
                      </a: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qodd,1,e,R,qeven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qBackOdd,o,B,L,qBackOdd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qWEven,B,E,R,qWven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qodd,0,o,R,qodd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qBackOdd,e,B,L,qBackOdd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qodd,B,B,L,qBackOdd</a:t>
                      </a: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qBackOdd,B,B,R,qWOdd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qeven,1,o,R,qodd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qBackEven,o,B,L,qBackEven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qeven,0,e,R,qeven</a:t>
                      </a:r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qBackEven,e,B,L,qBackEven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09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qeven,B,B,L,qBackEven</a:t>
                      </a:r>
                      <a:endParaRPr lang="en-US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qBackEven,B,B,R,qWEven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6294" marR="76294" marT="38147" marB="38147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344" y="1169122"/>
            <a:ext cx="9144000" cy="1517597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/>
              <a:t>Parity Recognition -- </a:t>
            </a:r>
            <a:r>
              <a:rPr lang="en-US" dirty="0">
                <a:latin typeface="+mj-ea"/>
                <a:cs typeface="Arial" panose="020B0604020202020204" pitchFamily="34" charset="0"/>
              </a:rPr>
              <a:t>Execution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Animation</a:t>
            </a:r>
            <a:endParaRPr 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奇偶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6538" y="1125538"/>
            <a:ext cx="8740775" cy="5472112"/>
          </a:xfr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6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Two Examples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179705" y="1124585"/>
            <a:ext cx="8832850" cy="547243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Turing machine of parity recognition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Judge parity of the number of  “0” in a “01” string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If the number of  “0” is even, then write 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latin typeface="+mn-ea"/>
                <a:cs typeface="Arial" panose="020B0604020202020204" pitchFamily="34" charset="0"/>
              </a:rPr>
              <a:t>Even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”</a:t>
            </a:r>
            <a:r>
              <a:rPr lang="en-US" dirty="0">
                <a:latin typeface="+mn-ea"/>
                <a:cs typeface="Arial" panose="020B0604020202020204" pitchFamily="34" charset="0"/>
              </a:rPr>
              <a:t> on the tape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If the number of  “0” is odd, then write 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dirty="0">
                <a:latin typeface="+mn-ea"/>
                <a:cs typeface="Arial" panose="020B0604020202020204" pitchFamily="34" charset="0"/>
              </a:rPr>
              <a:t>Odd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”</a:t>
            </a:r>
            <a:r>
              <a:rPr lang="en-US" dirty="0">
                <a:latin typeface="+mn-ea"/>
                <a:cs typeface="Arial" panose="020B0604020202020204" pitchFamily="34" charset="0"/>
              </a:rPr>
              <a:t> on the tape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Turing machine of palindrome recognition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Judge whether a “01” string is palindrome or not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If yes, then write “Y” on</a:t>
            </a:r>
            <a:r>
              <a:rPr 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the tape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Otherwise, write “N” on the tape</a:t>
            </a:r>
            <a:endParaRPr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Palindrome Recognition --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Key Idea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Key Idea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qSeen0: Found 0 on the far-left of the remaining string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qSeen1: Found 1 on the far-left of the remaining string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qWant0: Move right to seek “0” on the far-right of the remaining string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qWant1: Move right to seek “1” on the far-right of the remaining string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 err="1">
                <a:latin typeface="+mn-ea"/>
                <a:cs typeface="Arial" panose="020B0604020202020204" pitchFamily="34" charset="0"/>
              </a:rPr>
              <a:t>qBack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: found the wanted letter on the far-right of the remaining string</a:t>
            </a: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Palindrome Recognition --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Key Idea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3" name="图片 2" descr="图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80" y="2349014"/>
            <a:ext cx="6882690" cy="370962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42075" y="1156335"/>
            <a:ext cx="2378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有限的规则处理无限的</a:t>
            </a:r>
            <a:r>
              <a:rPr lang="zh-CN" altLang="en-US"/>
              <a:t>输入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Palindrome Recognition --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Key Principle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Key Principle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Loop</a:t>
            </a:r>
            <a:endParaRPr lang="en-US" altLang="zh-CN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Use finite rule to handle infinite input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Move back and Mark</a:t>
            </a:r>
            <a:endParaRPr lang="en-US" altLang="zh-CN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The tape can be read infinite times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Write letters to the tape, and assign some meaning 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marL="457200" lvl="1" indent="0">
              <a:buNone/>
              <a:defRPr/>
            </a:pP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Implicit conditional judgements</a:t>
            </a:r>
            <a:endParaRPr lang="en-US" altLang="zh-CN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 lvl="2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Use current state and symbol read as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a</a:t>
            </a:r>
            <a:r>
              <a:rPr lang="zh-CN" altLang="en-US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unique condition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3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Result of condition holds:</a:t>
            </a:r>
            <a:endParaRPr lang="en-US" altLang="zh-CN" dirty="0">
              <a:latin typeface="+mn-ea"/>
              <a:cs typeface="Arial" panose="020B0604020202020204" pitchFamily="34" charset="0"/>
            </a:endParaRPr>
          </a:p>
          <a:p>
            <a:pPr lvl="4"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 write a symbol and change to the next state</a:t>
            </a:r>
            <a:endParaRPr lang="zh-CN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0" y="122238"/>
            <a:ext cx="9144000" cy="85849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+mj-ea"/>
                <a:cs typeface="Arial" panose="020B0604020202020204" pitchFamily="34" charset="0"/>
              </a:rPr>
              <a:t>Palindrome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Recognition --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State-Transition Diagram</a:t>
            </a:r>
            <a:r>
              <a:rPr lang="en-US" altLang="zh-CN" sz="2800" dirty="0">
                <a:latin typeface="+mj-ea"/>
                <a:cs typeface="Arial" panose="020B0604020202020204" pitchFamily="34" charset="0"/>
              </a:rPr>
              <a:t> </a:t>
            </a:r>
            <a:endParaRPr lang="zh-CN" sz="2800" dirty="0"/>
          </a:p>
        </p:txBody>
      </p:sp>
      <p:pic>
        <p:nvPicPr>
          <p:cNvPr id="3" name="内容占位符 2" descr="图示&#10;&#10;描述已自动生成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988840"/>
            <a:ext cx="9145016" cy="4500387"/>
          </a:xfrm>
        </p:spPr>
      </p:pic>
      <p:cxnSp>
        <p:nvCxnSpPr>
          <p:cNvPr id="19" name="直接箭头连接符 18"/>
          <p:cNvCxnSpPr/>
          <p:nvPr/>
        </p:nvCxnSpPr>
        <p:spPr>
          <a:xfrm flipV="1">
            <a:off x="949820" y="3788815"/>
            <a:ext cx="979952" cy="1803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2791720" y="3655443"/>
            <a:ext cx="1075884" cy="8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 flipH="1" flipV="1">
            <a:off x="349977" y="4263777"/>
            <a:ext cx="2110712" cy="14065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5366015" y="4894560"/>
            <a:ext cx="993839" cy="110362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596407" y="3767129"/>
            <a:ext cx="769608" cy="114312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auto">
          <a:xfrm>
            <a:off x="2398140" y="5670303"/>
            <a:ext cx="3741069" cy="6036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 bwMode="auto">
          <a:xfrm flipV="1">
            <a:off x="913560" y="5756720"/>
            <a:ext cx="1344793" cy="401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 bwMode="auto">
          <a:xfrm>
            <a:off x="249854" y="5583137"/>
            <a:ext cx="121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Loop</a:t>
            </a:r>
            <a:endParaRPr lang="zh-CN" altLang="en-US" dirty="0">
              <a:solidFill>
                <a:srgbClr val="00B05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图示&#10;&#10;描述已自动生成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988840"/>
            <a:ext cx="9145016" cy="4500387"/>
          </a:xfrm>
        </p:spPr>
      </p:pic>
      <p:cxnSp>
        <p:nvCxnSpPr>
          <p:cNvPr id="19" name="直接箭头连接符 18"/>
          <p:cNvCxnSpPr/>
          <p:nvPr/>
        </p:nvCxnSpPr>
        <p:spPr>
          <a:xfrm flipV="1">
            <a:off x="949820" y="3788815"/>
            <a:ext cx="979952" cy="1803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2791720" y="3655443"/>
            <a:ext cx="1075884" cy="8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 flipH="1" flipV="1">
            <a:off x="349977" y="4263777"/>
            <a:ext cx="2110712" cy="14065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5366015" y="4894560"/>
            <a:ext cx="993839" cy="110362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596407" y="3767129"/>
            <a:ext cx="769608" cy="114312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auto">
          <a:xfrm>
            <a:off x="2398140" y="5670303"/>
            <a:ext cx="3741069" cy="6036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1118427" y="3467588"/>
            <a:ext cx="266695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  <a:latin typeface="+mn-ea"/>
            </a:endParaRPr>
          </a:p>
        </p:txBody>
      </p:sp>
      <p:sp>
        <p:nvSpPr>
          <p:cNvPr id="63" name="椭圆 62"/>
          <p:cNvSpPr/>
          <p:nvPr/>
        </p:nvSpPr>
        <p:spPr bwMode="auto">
          <a:xfrm>
            <a:off x="1115616" y="4055076"/>
            <a:ext cx="266695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7" name="椭圆 66"/>
          <p:cNvSpPr/>
          <p:nvPr/>
        </p:nvSpPr>
        <p:spPr bwMode="auto">
          <a:xfrm>
            <a:off x="5290805" y="4207130"/>
            <a:ext cx="202864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  <a:latin typeface="+mn-ea"/>
            </a:endParaRPr>
          </a:p>
        </p:txBody>
      </p:sp>
      <p:cxnSp>
        <p:nvCxnSpPr>
          <p:cNvPr id="79" name="直接箭头连接符 78"/>
          <p:cNvCxnSpPr/>
          <p:nvPr/>
        </p:nvCxnSpPr>
        <p:spPr bwMode="auto">
          <a:xfrm flipV="1">
            <a:off x="913560" y="5756720"/>
            <a:ext cx="1344793" cy="401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 bwMode="auto">
          <a:xfrm>
            <a:off x="249854" y="5583137"/>
            <a:ext cx="121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Loop</a:t>
            </a:r>
            <a:endParaRPr lang="zh-CN" altLang="en-US" dirty="0">
              <a:solidFill>
                <a:srgbClr val="00B050"/>
              </a:solidFill>
              <a:latin typeface="+mn-ea"/>
            </a:endParaRPr>
          </a:p>
        </p:txBody>
      </p:sp>
      <p:cxnSp>
        <p:nvCxnSpPr>
          <p:cNvPr id="83" name="直接箭头连接符 82"/>
          <p:cNvCxnSpPr/>
          <p:nvPr/>
        </p:nvCxnSpPr>
        <p:spPr bwMode="auto">
          <a:xfrm>
            <a:off x="424291" y="2993341"/>
            <a:ext cx="675116" cy="4259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 bwMode="auto">
          <a:xfrm>
            <a:off x="163950" y="2633249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7" name="直接箭头连接符 86"/>
          <p:cNvCxnSpPr/>
          <p:nvPr/>
        </p:nvCxnSpPr>
        <p:spPr bwMode="auto">
          <a:xfrm>
            <a:off x="443311" y="3690501"/>
            <a:ext cx="675116" cy="4259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 bwMode="auto">
          <a:xfrm>
            <a:off x="163950" y="3342512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9" name="直接箭头连接符 88"/>
          <p:cNvCxnSpPr>
            <a:stCxn id="90" idx="2"/>
            <a:endCxn id="67" idx="1"/>
          </p:cNvCxnSpPr>
          <p:nvPr/>
        </p:nvCxnSpPr>
        <p:spPr bwMode="auto">
          <a:xfrm flipV="1">
            <a:off x="4468121" y="4252533"/>
            <a:ext cx="852393" cy="3285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 bwMode="auto">
          <a:xfrm>
            <a:off x="4058774" y="3916052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3" name="标题 1"/>
          <p:cNvSpPr>
            <a:spLocks noGrp="1"/>
          </p:cNvSpPr>
          <p:nvPr>
            <p:ph type="title"/>
          </p:nvPr>
        </p:nvSpPr>
        <p:spPr bwMode="auto">
          <a:xfrm>
            <a:off x="0" y="122238"/>
            <a:ext cx="9144000" cy="85849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+mj-ea"/>
                <a:cs typeface="Arial" panose="020B0604020202020204" pitchFamily="34" charset="0"/>
              </a:rPr>
              <a:t>Palindrome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Recognition --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State-Transition Diagram</a:t>
            </a:r>
            <a:r>
              <a:rPr lang="en-US" altLang="zh-CN" sz="2800" dirty="0">
                <a:latin typeface="+mj-ea"/>
                <a:cs typeface="Arial" panose="020B0604020202020204" pitchFamily="34" charset="0"/>
              </a:rPr>
              <a:t> </a:t>
            </a:r>
            <a:endParaRPr lang="zh-CN" sz="2800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内容占位符 2" descr="图示&#10;&#10;描述已自动生成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988840"/>
            <a:ext cx="9145016" cy="4500387"/>
          </a:xfrm>
        </p:spPr>
      </p:pic>
      <p:cxnSp>
        <p:nvCxnSpPr>
          <p:cNvPr id="19" name="直接箭头连接符 18"/>
          <p:cNvCxnSpPr/>
          <p:nvPr/>
        </p:nvCxnSpPr>
        <p:spPr>
          <a:xfrm flipV="1">
            <a:off x="949820" y="3788815"/>
            <a:ext cx="979952" cy="1803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 flipV="1">
            <a:off x="2791720" y="3655443"/>
            <a:ext cx="1075884" cy="86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 flipH="1" flipV="1">
            <a:off x="349977" y="4263777"/>
            <a:ext cx="2110712" cy="140652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5366015" y="4894560"/>
            <a:ext cx="993839" cy="110362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596407" y="3767129"/>
            <a:ext cx="769608" cy="114312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 bwMode="auto">
          <a:xfrm>
            <a:off x="2398140" y="5670303"/>
            <a:ext cx="3741069" cy="60364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1118427" y="3467588"/>
            <a:ext cx="266695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  <a:latin typeface="+mn-ea"/>
            </a:endParaRPr>
          </a:p>
        </p:txBody>
      </p:sp>
      <p:sp>
        <p:nvSpPr>
          <p:cNvPr id="63" name="椭圆 62"/>
          <p:cNvSpPr/>
          <p:nvPr/>
        </p:nvSpPr>
        <p:spPr bwMode="auto">
          <a:xfrm>
            <a:off x="1115616" y="4055076"/>
            <a:ext cx="266695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4" name="椭圆 63"/>
          <p:cNvSpPr/>
          <p:nvPr/>
        </p:nvSpPr>
        <p:spPr bwMode="auto">
          <a:xfrm>
            <a:off x="3389919" y="3185880"/>
            <a:ext cx="266695" cy="3100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5" name="椭圆 64"/>
          <p:cNvSpPr/>
          <p:nvPr/>
        </p:nvSpPr>
        <p:spPr bwMode="auto">
          <a:xfrm>
            <a:off x="5487139" y="4235490"/>
            <a:ext cx="202864" cy="3100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6" name="椭圆 65"/>
          <p:cNvSpPr/>
          <p:nvPr/>
        </p:nvSpPr>
        <p:spPr bwMode="auto">
          <a:xfrm>
            <a:off x="6709444" y="5248312"/>
            <a:ext cx="215395" cy="5284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7" name="椭圆 66"/>
          <p:cNvSpPr/>
          <p:nvPr/>
        </p:nvSpPr>
        <p:spPr bwMode="auto">
          <a:xfrm>
            <a:off x="5290805" y="4207130"/>
            <a:ext cx="202864" cy="310028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  <a:latin typeface="+mn-ea"/>
            </a:endParaRPr>
          </a:p>
        </p:txBody>
      </p:sp>
      <p:cxnSp>
        <p:nvCxnSpPr>
          <p:cNvPr id="72" name="直接箭头连接符 71"/>
          <p:cNvCxnSpPr>
            <a:endCxn id="64" idx="7"/>
          </p:cNvCxnSpPr>
          <p:nvPr/>
        </p:nvCxnSpPr>
        <p:spPr>
          <a:xfrm flipH="1">
            <a:off x="3617557" y="2829981"/>
            <a:ext cx="882435" cy="4013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3994822" y="2509526"/>
            <a:ext cx="137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</a:rPr>
              <a:t>Move Back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4" name="直接箭头连接符 73"/>
          <p:cNvCxnSpPr/>
          <p:nvPr/>
        </p:nvCxnSpPr>
        <p:spPr bwMode="auto">
          <a:xfrm flipH="1">
            <a:off x="6989135" y="5248312"/>
            <a:ext cx="587161" cy="2642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 bwMode="auto">
          <a:xfrm>
            <a:off x="7023764" y="4925858"/>
            <a:ext cx="145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</a:rPr>
              <a:t>Move Back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6" name="直接箭头连接符 75"/>
          <p:cNvCxnSpPr/>
          <p:nvPr/>
        </p:nvCxnSpPr>
        <p:spPr bwMode="auto">
          <a:xfrm flipH="1">
            <a:off x="5722472" y="2878858"/>
            <a:ext cx="685010" cy="1459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 bwMode="auto">
          <a:xfrm>
            <a:off x="5790945" y="2543063"/>
            <a:ext cx="176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</a:rPr>
              <a:t>Move Back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9" name="直接箭头连接符 78"/>
          <p:cNvCxnSpPr/>
          <p:nvPr/>
        </p:nvCxnSpPr>
        <p:spPr bwMode="auto">
          <a:xfrm flipV="1">
            <a:off x="913560" y="5756720"/>
            <a:ext cx="1344793" cy="401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 bwMode="auto">
          <a:xfrm>
            <a:off x="249854" y="5583137"/>
            <a:ext cx="121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+mn-ea"/>
              </a:rPr>
              <a:t>Loop</a:t>
            </a:r>
            <a:endParaRPr lang="zh-CN" altLang="en-US" dirty="0">
              <a:solidFill>
                <a:srgbClr val="00B050"/>
              </a:solidFill>
              <a:latin typeface="+mn-ea"/>
            </a:endParaRPr>
          </a:p>
        </p:txBody>
      </p:sp>
      <p:cxnSp>
        <p:nvCxnSpPr>
          <p:cNvPr id="83" name="直接箭头连接符 82"/>
          <p:cNvCxnSpPr/>
          <p:nvPr/>
        </p:nvCxnSpPr>
        <p:spPr bwMode="auto">
          <a:xfrm>
            <a:off x="424291" y="2993341"/>
            <a:ext cx="675116" cy="4259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 bwMode="auto">
          <a:xfrm>
            <a:off x="163950" y="2633249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7" name="直接箭头连接符 86"/>
          <p:cNvCxnSpPr/>
          <p:nvPr/>
        </p:nvCxnSpPr>
        <p:spPr bwMode="auto">
          <a:xfrm>
            <a:off x="443311" y="3690501"/>
            <a:ext cx="675116" cy="4259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 bwMode="auto">
          <a:xfrm>
            <a:off x="163950" y="3342512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9" name="直接箭头连接符 88"/>
          <p:cNvCxnSpPr>
            <a:stCxn id="90" idx="2"/>
            <a:endCxn id="67" idx="1"/>
          </p:cNvCxnSpPr>
          <p:nvPr/>
        </p:nvCxnSpPr>
        <p:spPr bwMode="auto">
          <a:xfrm flipV="1">
            <a:off x="4468121" y="4252533"/>
            <a:ext cx="852393" cy="3285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 bwMode="auto">
          <a:xfrm>
            <a:off x="4058774" y="3916052"/>
            <a:ext cx="81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+mn-ea"/>
              </a:rPr>
              <a:t>Mark</a:t>
            </a:r>
            <a:endParaRPr lang="zh-CN" altLang="en-US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2" name="标题 1"/>
          <p:cNvSpPr>
            <a:spLocks noGrp="1"/>
          </p:cNvSpPr>
          <p:nvPr>
            <p:ph type="title"/>
          </p:nvPr>
        </p:nvSpPr>
        <p:spPr bwMode="auto">
          <a:xfrm>
            <a:off x="0" y="122238"/>
            <a:ext cx="9144000" cy="85849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latin typeface="+mj-ea"/>
                <a:cs typeface="Arial" panose="020B0604020202020204" pitchFamily="34" charset="0"/>
              </a:rPr>
              <a:t>Palindrome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Recognition -- </a:t>
            </a:r>
            <a:r>
              <a:rPr lang="en-US" altLang="zh-CN" sz="2800" dirty="0">
                <a:latin typeface="+mn-ea"/>
                <a:cs typeface="Arial" panose="020B0604020202020204" pitchFamily="34" charset="0"/>
              </a:rPr>
              <a:t>State-Transition Diagram</a:t>
            </a:r>
            <a:r>
              <a:rPr lang="en-US" altLang="zh-CN" sz="2800" dirty="0">
                <a:latin typeface="+mj-ea"/>
                <a:cs typeface="Arial" panose="020B0604020202020204" pitchFamily="34" charset="0"/>
              </a:rPr>
              <a:t> </a:t>
            </a:r>
            <a:endParaRPr lang="zh-CN" sz="280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22238"/>
            <a:ext cx="8892479" cy="858490"/>
          </a:xfrm>
        </p:spPr>
        <p:txBody>
          <a:bodyPr/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Palindrome Recognition</a:t>
            </a:r>
            <a:r>
              <a:rPr lang="en-US" altLang="zh-CN" sz="3000" dirty="0">
                <a:latin typeface="+mn-ea"/>
                <a:cs typeface="Arial" panose="020B0604020202020204" pitchFamily="34" charset="0"/>
              </a:rPr>
              <a:t> State-Transition Table</a:t>
            </a:r>
            <a:endParaRPr lang="zh-CN" altLang="en-US" sz="3000" dirty="0"/>
          </a:p>
        </p:txBody>
      </p:sp>
      <p:graphicFrame>
        <p:nvGraphicFramePr>
          <p:cNvPr id="9" name="内容占位符 4"/>
          <p:cNvGraphicFramePr>
            <a:graphicFrameLocks noGrp="1"/>
          </p:cNvGraphicFramePr>
          <p:nvPr>
            <p:ph idx="1"/>
          </p:nvPr>
        </p:nvGraphicFramePr>
        <p:xfrm>
          <a:off x="28203" y="1628800"/>
          <a:ext cx="9290248" cy="4074160"/>
        </p:xfrm>
        <a:graphic>
          <a:graphicData uri="http://schemas.openxmlformats.org/drawingml/2006/table">
            <a:tbl>
              <a:tblPr firstRow="1" bandRow="1">
                <a:tableStyleId>{2618F747-3B81-53F8-BF67-C475E6C2664C}</a:tableStyleId>
              </a:tblPr>
              <a:tblGrid>
                <a:gridCol w="2748930"/>
                <a:gridCol w="3096344"/>
                <a:gridCol w="3444974"/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q0,0,B,R,qSeen0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qWant0,0,B,L,qBack</a:t>
                      </a:r>
                      <a:endParaRPr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v-SE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qBackErase,0,B,L,qBackErase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q0,1,B,R,qSeen1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qWant0,1,B,L,qBackErase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sv-SE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qBackErase,1,B,L,qBackErase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s-E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q0,B,Y,L,qa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s-E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qWant0,B,Y,L,qa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qBackErase,B,N,L,qa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qSeen0,0,0,R,qSeen0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qWant1,0,B,L,qBackErase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qSeen0,1,1,R,qSeen0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qWant1,1,B,L,qBack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nl-NL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qSeen0,B,B,L,qWant0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s-E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qWant1,B,Y,L,qa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qSeen1,0,0,R,qSeen1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qBack,0,0,L,qBack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qSeen1,1,1,R,qSeen1</a:t>
                      </a:r>
                      <a:endParaRPr sz="1800" dirty="0"/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qBack,1,1,L,qBack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nl-NL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qSeen1,B,B,L,qWant1</a:t>
                      </a:r>
                      <a:endParaRPr lang="en-US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qBack,B,B,R,q0</a:t>
                      </a: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zh-CN" sz="1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251520" y="122238"/>
            <a:ext cx="8892479" cy="858490"/>
          </a:xfrm>
        </p:spPr>
        <p:txBody>
          <a:bodyPr/>
          <a:lstStyle/>
          <a:p>
            <a:pPr>
              <a:defRPr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Palindrome Recognition</a:t>
            </a:r>
            <a:r>
              <a:rPr lang="en-US" altLang="zh-CN" sz="3000" dirty="0"/>
              <a:t> -- </a:t>
            </a:r>
            <a:r>
              <a:rPr lang="en-US" altLang="zh-CN" sz="3000" dirty="0">
                <a:latin typeface="+mj-ea"/>
                <a:cs typeface="Arial" panose="020B0604020202020204" pitchFamily="34" charset="0"/>
              </a:rPr>
              <a:t>Execution</a:t>
            </a:r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 Animation</a:t>
            </a:r>
            <a:endParaRPr lang="zh-CN" sz="3000" dirty="0"/>
          </a:p>
        </p:txBody>
      </p:sp>
      <p:pic>
        <p:nvPicPr>
          <p:cNvPr id="2" name="回文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357" y="1412776"/>
            <a:ext cx="9122643" cy="5131392"/>
          </a:xfr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j-ea"/>
                <a:cs typeface="Arial" panose="020B0604020202020204" pitchFamily="34" charset="0"/>
              </a:rPr>
              <a:t>Week1 Outline</a:t>
            </a:r>
            <a:endParaRPr lang="zh-CN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cs typeface="Arial" panose="020B0604020202020204" pitchFamily="34" charset="0"/>
              </a:rPr>
              <a:t>Introduction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j-ea"/>
                <a:cs typeface="Arial" panose="020B0604020202020204" pitchFamily="34" charset="0"/>
              </a:rPr>
              <a:t> of Turing Machine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ea typeface="+mj-ea"/>
                <a:cs typeface="Arial" panose="020B0604020202020204" pitchFamily="34" charset="0"/>
              </a:rPr>
              <a:t>Experiment Platform</a:t>
            </a:r>
            <a:endParaRPr dirty="0"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ea typeface="+mj-ea"/>
                <a:cs typeface="Arial" panose="020B0604020202020204" pitchFamily="34" charset="0"/>
              </a:rPr>
              <a:t>Two Examples</a:t>
            </a:r>
            <a:endParaRPr dirty="0"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ea typeface="+mj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  <a:ea typeface="+mj-ea"/>
                <a:cs typeface="Arial" panose="020B0604020202020204" pitchFamily="34" charset="0"/>
              </a:rPr>
              <a:t>Questions</a:t>
            </a:r>
            <a:endParaRPr lang="zh-CN" dirty="0">
              <a:solidFill>
                <a:srgbClr val="FF0000"/>
              </a:solidFill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>
                <a:latin typeface="+mj-ea"/>
                <a:cs typeface="Arial" panose="020B0604020202020204" pitchFamily="34" charset="0"/>
              </a:rPr>
              <a:t>This project includes three q</a:t>
            </a:r>
            <a:r>
              <a:rPr lang="en-US" dirty="0">
                <a:latin typeface="+mj-ea"/>
                <a:cs typeface="Arial" panose="020B0604020202020204" pitchFamily="34" charset="0"/>
              </a:rPr>
              <a:t>uestions</a:t>
            </a:r>
            <a:endParaRPr lang="en-US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Q1: Unary addition of two unary numbers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Q2: Binary addition of two 4-bit numbers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US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ea"/>
                <a:cs typeface="Arial" panose="020B0604020202020204" pitchFamily="34" charset="0"/>
              </a:rPr>
              <a:t>Q3: Binary addition of two arbitrary numbers</a:t>
            </a:r>
            <a:endParaRPr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US" sz="1800" dirty="0">
              <a:latin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  <a:cs typeface="Arial" panose="020B0604020202020204" pitchFamily="34" charset="0"/>
              </a:rPr>
              <a:t>Examples of Unary and Binary Addition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Unary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ddition</a:t>
            </a:r>
            <a:endParaRPr lang="en-US" altLang="zh-CN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 + 11 = ? 	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111 + 1111 = ?</a:t>
            </a:r>
            <a:endParaRPr lang="en-US" altLang="zh-CN" sz="2800" dirty="0"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Binary Addition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1010 + 1 = ?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111 + 1111 = ?</a:t>
            </a:r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  <a:cs typeface="Arial" panose="020B0604020202020204" pitchFamily="34" charset="0"/>
              </a:rPr>
              <a:t>Examples of Unary and Binary Addition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Unary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A</a:t>
            </a:r>
            <a:r>
              <a:rPr lang="en-US" altLang="zh-CN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ddition</a:t>
            </a:r>
            <a:endParaRPr lang="en-US" altLang="zh-CN" dirty="0">
              <a:solidFill>
                <a:schemeClr val="tx1"/>
              </a:solidFill>
              <a:latin typeface="+mn-ea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 + 11 = ? 	 	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1111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111 + 1111 = ? 	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1111111</a:t>
            </a:r>
            <a:endParaRPr lang="en-US" altLang="zh-CN" sz="2800" dirty="0">
              <a:solidFill>
                <a:srgbClr val="FF0000"/>
              </a:solidFill>
              <a:latin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dirty="0">
                <a:latin typeface="+mn-ea"/>
                <a:cs typeface="Arial" panose="020B0604020202020204" pitchFamily="34" charset="0"/>
              </a:rPr>
              <a:t>Binary Addition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1010 + 1 = ?		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1011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lvl="1">
              <a:defRPr/>
            </a:pPr>
            <a:r>
              <a:rPr lang="en-US" altLang="zh-CN" sz="2800" dirty="0">
                <a:latin typeface="+mn-ea"/>
                <a:cs typeface="Arial" panose="020B0604020202020204" pitchFamily="34" charset="0"/>
              </a:rPr>
              <a:t>111 + 1111 = ?	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10110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latin typeface="+mj-ea"/>
              </a:rPr>
              <a:t>Question 1</a:t>
            </a:r>
            <a:endParaRPr lang="en-US" dirty="0">
              <a:latin typeface="+mj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CN" dirty="0">
                <a:latin typeface="+mn-ea"/>
              </a:rPr>
              <a:t>Design a Turing machine that can perform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arbitrary bit  unary addition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en-US" altLang="zh-CN" dirty="0">
                <a:latin typeface="+mn-ea"/>
              </a:rPr>
              <a:t>Format requirement: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Input: (some 1)+(some 1)=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Output on tape: …###(some 1)B###...</a:t>
            </a:r>
            <a:endParaRPr lang="en-US" altLang="zh-CN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dirty="0">
                <a:latin typeface="+mn-ea"/>
              </a:rPr>
              <a:t>The input “some 1” represents the unary number to be added, which may be zero ones; the output “some 1” on the tape when the machine stops represents the results; “#” is any letter in Γ.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T</a:t>
            </a:r>
            <a:r>
              <a:rPr lang="en-US" altLang="zh-CN" sz="2000" dirty="0">
                <a:latin typeface="+mn-ea"/>
              </a:rPr>
              <a:t>he starting position of result should be 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one square to the right of the original position of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‘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=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’</a:t>
            </a: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 in the input, and end with ‘B’</a:t>
            </a:r>
            <a:r>
              <a:rPr lang="en-US" altLang="zh-CN" sz="2000" dirty="0">
                <a:latin typeface="+mn-ea"/>
              </a:rPr>
              <a:t>.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Samples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Input: 		   11+1=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Output on tape: …</a:t>
            </a:r>
            <a:r>
              <a:rPr lang="en-US" dirty="0">
                <a:latin typeface="+mn-ea"/>
              </a:rPr>
              <a:t>11+1=</a:t>
            </a:r>
            <a:r>
              <a:rPr lang="en-US" dirty="0">
                <a:solidFill>
                  <a:srgbClr val="FF0000"/>
                </a:solidFill>
                <a:latin typeface="+mn-ea"/>
              </a:rPr>
              <a:t>111B</a:t>
            </a:r>
            <a:r>
              <a:rPr lang="en-US" dirty="0">
                <a:latin typeface="+mn-ea"/>
              </a:rPr>
              <a:t>…</a:t>
            </a:r>
            <a:endParaRPr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Input:		    </a:t>
            </a:r>
            <a:r>
              <a:rPr lang="en-US" dirty="0">
                <a:latin typeface="+mn-ea"/>
              </a:rPr>
              <a:t>11+1=</a:t>
            </a:r>
            <a:endParaRPr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Output on tape: </a:t>
            </a:r>
            <a:r>
              <a:rPr lang="en-US" dirty="0">
                <a:latin typeface="+mn-ea"/>
              </a:rPr>
              <a:t>… FBc0</a:t>
            </a:r>
            <a:r>
              <a:rPr lang="en-US" dirty="0">
                <a:solidFill>
                  <a:srgbClr val="0000FF"/>
                </a:solidFill>
                <a:latin typeface="+mn-ea"/>
              </a:rPr>
              <a:t>1</a:t>
            </a:r>
            <a:r>
              <a:rPr lang="en-US" dirty="0">
                <a:solidFill>
                  <a:srgbClr val="FF0000"/>
                </a:solidFill>
                <a:latin typeface="+mn-ea"/>
              </a:rPr>
              <a:t>111B</a:t>
            </a:r>
            <a:r>
              <a:rPr lang="en-US" dirty="0">
                <a:latin typeface="+mn-ea"/>
              </a:rPr>
              <a:t>cWW…</a:t>
            </a:r>
            <a:endParaRPr lang="en-US" dirty="0">
              <a:latin typeface="+mn-ea"/>
            </a:endParaRPr>
          </a:p>
          <a:p>
            <a:pPr lvl="3">
              <a:defRPr/>
            </a:pPr>
            <a:r>
              <a:rPr lang="en-US" altLang="zh-CN" dirty="0">
                <a:latin typeface="+mn-ea"/>
              </a:rPr>
              <a:t>Note: the position of blue letter 1 in output is same as the position of letter = in input</a:t>
            </a:r>
            <a:endParaRPr lang="zh-CN" altLang="en-US" dirty="0">
              <a:latin typeface="+mn-ea"/>
            </a:endParaRPr>
          </a:p>
          <a:p>
            <a:pPr lvl="3">
              <a:defRPr/>
            </a:pPr>
            <a:endParaRPr dirty="0">
              <a:latin typeface="+mn-ea"/>
            </a:endParaRPr>
          </a:p>
          <a:p>
            <a:pPr lvl="1">
              <a:defRPr/>
            </a:pPr>
            <a:endParaRPr lang="en-US" dirty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latin typeface="+mj-ea"/>
              </a:rPr>
              <a:t>Question 2</a:t>
            </a:r>
            <a:endParaRPr lang="en-US" dirty="0">
              <a:latin typeface="+mj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179512" y="1124744"/>
            <a:ext cx="8856984" cy="5733256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zh-CN" dirty="0">
                <a:latin typeface="+mn-ea"/>
              </a:rPr>
              <a:t>Design a Turing machine that can perform binary addition of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4-bit numbers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en-US" altLang="zh-CN" dirty="0">
                <a:latin typeface="+mn-ea"/>
              </a:rPr>
              <a:t>Format requirement: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Input: (4-bit 0 or 1)+(4-bit 0 or 1)=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Output on tape: ...###(5-bit 0 or 1)B###...</a:t>
            </a:r>
            <a:endParaRPr lang="en-US" altLang="zh-CN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dirty="0">
                <a:latin typeface="+mn-ea"/>
              </a:rPr>
              <a:t>The input “4-bit 0 or 1” represents the binary number to be added; the “5-bit 0 or 1” on the tape when the machine stops represents the results (pay attention to the leading 0 when the result </a:t>
            </a:r>
            <a:r>
              <a:rPr lang="zh-CN" altLang="en-US" dirty="0">
                <a:latin typeface="+mn-ea"/>
              </a:rPr>
              <a:t>≤</a:t>
            </a:r>
            <a:r>
              <a:rPr lang="en-US" altLang="zh-CN" dirty="0">
                <a:latin typeface="+mn-ea"/>
              </a:rPr>
              <a:t> 4 bits); “#” is any letter in Γ.</a:t>
            </a:r>
            <a:endParaRPr lang="en-US" altLang="zh-CN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dirty="0">
                <a:latin typeface="+mn-ea"/>
              </a:rPr>
              <a:t>The starting position of result should be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one square to the right of the original position of ‘=’ in the input, and end with ‘B’</a:t>
            </a:r>
            <a:r>
              <a:rPr lang="en-US" altLang="zh-CN" dirty="0">
                <a:latin typeface="+mn-ea"/>
              </a:rPr>
              <a:t>.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</a:rPr>
              <a:t>Samples: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Input:                    1101+0011=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Output on tape: …1101+0011=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10000B</a:t>
            </a:r>
            <a:r>
              <a:rPr lang="en-US" altLang="zh-CN" dirty="0">
                <a:latin typeface="+mn-ea"/>
              </a:rPr>
              <a:t>…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Input:                    0001+0011=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en-US" altLang="zh-CN" dirty="0">
                <a:latin typeface="+mn-ea"/>
              </a:rPr>
              <a:t>Output on tape: …001101101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0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00100</a:t>
            </a:r>
            <a:r>
              <a:rPr lang="en-US" altLang="zh-CN" dirty="0">
                <a:latin typeface="+mn-ea"/>
              </a:rPr>
              <a:t>B000…</a:t>
            </a:r>
            <a:endParaRPr lang="en-US" altLang="zh-CN" dirty="0">
              <a:latin typeface="+mn-ea"/>
            </a:endParaRPr>
          </a:p>
          <a:p>
            <a:pPr lvl="3">
              <a:defRPr/>
            </a:pPr>
            <a:r>
              <a:rPr lang="en-US" altLang="zh-CN" dirty="0">
                <a:latin typeface="+mn-ea"/>
              </a:rPr>
              <a:t>Note: the position of blue letter 0 in output is same as the position of letter = in input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altLang="zh-CN" dirty="0">
                <a:latin typeface="+mj-ea"/>
              </a:rPr>
              <a:t>Question 3</a:t>
            </a:r>
            <a:endParaRPr lang="en-US" dirty="0">
              <a:latin typeface="+mj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179512" y="1124744"/>
            <a:ext cx="8856984" cy="5733256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CN" sz="3100" dirty="0">
                <a:latin typeface="+mn-ea"/>
              </a:rPr>
              <a:t>Design a Turing machine that can perform </a:t>
            </a:r>
            <a:r>
              <a:rPr lang="en-US" altLang="zh-CN" sz="3100" dirty="0">
                <a:solidFill>
                  <a:srgbClr val="FF0000"/>
                </a:solidFill>
                <a:latin typeface="+mn-ea"/>
              </a:rPr>
              <a:t>arbitrary bit binary addition</a:t>
            </a:r>
            <a:endParaRPr lang="en-US" altLang="zh-CN" sz="3100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r>
              <a:rPr lang="en-US" altLang="zh-CN" sz="3100" dirty="0">
                <a:latin typeface="+mn-ea"/>
              </a:rPr>
              <a:t>Format requirement:</a:t>
            </a:r>
            <a:endParaRPr lang="en-US" altLang="zh-CN" sz="3100" dirty="0">
              <a:latin typeface="+mn-ea"/>
            </a:endParaRPr>
          </a:p>
          <a:p>
            <a:pPr lvl="1">
              <a:defRPr/>
            </a:pPr>
            <a:r>
              <a:rPr lang="en-US" altLang="zh-CN" sz="2600" dirty="0">
                <a:latin typeface="+mn-ea"/>
              </a:rPr>
              <a:t>Input: (some 0 or 1)+(some 0 or 1)=</a:t>
            </a:r>
            <a:endParaRPr lang="en-US" altLang="zh-CN" sz="2600" dirty="0">
              <a:latin typeface="+mn-ea"/>
            </a:endParaRPr>
          </a:p>
          <a:p>
            <a:pPr lvl="1">
              <a:defRPr/>
            </a:pPr>
            <a:r>
              <a:rPr lang="en-US" altLang="zh-CN" sz="2600" dirty="0">
                <a:latin typeface="+mn-ea"/>
              </a:rPr>
              <a:t>Output on tape: …###(some 0 or 1)B###...</a:t>
            </a:r>
            <a:endParaRPr lang="en-US" altLang="zh-CN" sz="26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sz="2200" dirty="0">
                <a:latin typeface="+mn-ea"/>
              </a:rPr>
              <a:t>The input “some 0 or 1" must not contain leading 0s; the length of each operand is greater than or equal to 1. The “some 0 or 1” </a:t>
            </a:r>
            <a:r>
              <a:rPr lang="en-US" altLang="zh-CN" sz="2400" dirty="0">
                <a:latin typeface="+mn-ea"/>
              </a:rPr>
              <a:t>on the tape when the machine stops represents the results; “#” is any letter in Γ.</a:t>
            </a:r>
            <a:endParaRPr lang="en-US" altLang="zh-CN" sz="2200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en-US" altLang="zh-CN" sz="2200" dirty="0">
                <a:latin typeface="+mn-ea"/>
              </a:rPr>
              <a:t>The result should not contain leading 0s. The starting position of result should be </a:t>
            </a: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one square to the right of the original position of ‘=’ in the input, and end with ‘B’</a:t>
            </a:r>
            <a:r>
              <a:rPr lang="en-US" altLang="zh-CN" sz="2200" dirty="0">
                <a:latin typeface="+mn-ea"/>
              </a:rPr>
              <a:t>.</a:t>
            </a:r>
            <a:endParaRPr lang="en-US" altLang="zh-CN" sz="2200" dirty="0">
              <a:latin typeface="+mn-ea"/>
            </a:endParaRPr>
          </a:p>
          <a:p>
            <a:pPr lvl="1">
              <a:defRPr/>
            </a:pPr>
            <a:r>
              <a:rPr lang="en-US" altLang="zh-CN" sz="2600" dirty="0">
                <a:latin typeface="+mn-ea"/>
              </a:rPr>
              <a:t>Samples:</a:t>
            </a:r>
            <a:endParaRPr lang="en-US" altLang="zh-CN" sz="2600" dirty="0">
              <a:latin typeface="+mn-ea"/>
            </a:endParaRPr>
          </a:p>
          <a:p>
            <a:pPr lvl="2">
              <a:defRPr/>
            </a:pPr>
            <a:r>
              <a:rPr lang="en-US" altLang="zh-CN" sz="2200" dirty="0">
                <a:latin typeface="+mn-ea"/>
              </a:rPr>
              <a:t>Input:                    11+1001=</a:t>
            </a:r>
            <a:endParaRPr lang="en-US" altLang="zh-CN" sz="2200" dirty="0">
              <a:latin typeface="+mn-ea"/>
            </a:endParaRPr>
          </a:p>
          <a:p>
            <a:pPr lvl="2">
              <a:defRPr/>
            </a:pPr>
            <a:r>
              <a:rPr lang="en-US" altLang="zh-CN" sz="2200" dirty="0">
                <a:latin typeface="+mn-ea"/>
              </a:rPr>
              <a:t>Output on tape: …11+1001=</a:t>
            </a: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1100</a:t>
            </a:r>
            <a:r>
              <a:rPr lang="en-US" altLang="zh-CN" sz="2200" dirty="0">
                <a:latin typeface="+mn-ea"/>
              </a:rPr>
              <a:t>B…</a:t>
            </a:r>
            <a:endParaRPr lang="en-US" altLang="zh-CN" sz="2200" dirty="0">
              <a:latin typeface="+mn-ea"/>
            </a:endParaRPr>
          </a:p>
          <a:p>
            <a:pPr lvl="2">
              <a:defRPr/>
            </a:pPr>
            <a:r>
              <a:rPr lang="en-US" altLang="zh-CN" sz="2200" dirty="0">
                <a:latin typeface="+mn-ea"/>
              </a:rPr>
              <a:t>Input:                      11+1001=</a:t>
            </a:r>
            <a:endParaRPr lang="en-US" altLang="zh-CN" sz="2200" dirty="0">
              <a:latin typeface="+mn-ea"/>
            </a:endParaRPr>
          </a:p>
          <a:p>
            <a:pPr lvl="2">
              <a:defRPr/>
            </a:pPr>
            <a:r>
              <a:rPr lang="en-US" altLang="zh-CN" sz="2200" dirty="0">
                <a:latin typeface="+mn-ea"/>
              </a:rPr>
              <a:t>Output on tape: …wRQTqLaA</a:t>
            </a:r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1100</a:t>
            </a:r>
            <a:r>
              <a:rPr lang="en-US" altLang="zh-CN" sz="2200" dirty="0">
                <a:latin typeface="+mn-ea"/>
              </a:rPr>
              <a:t>BssR…</a:t>
            </a:r>
            <a:endParaRPr lang="en-US" altLang="zh-CN" sz="2200" dirty="0">
              <a:latin typeface="+mn-ea"/>
            </a:endParaRPr>
          </a:p>
          <a:p>
            <a:pPr lvl="3">
              <a:defRPr/>
            </a:pPr>
            <a:r>
              <a:rPr lang="en-US" altLang="zh-CN" sz="2000" dirty="0">
                <a:latin typeface="+mn-ea"/>
              </a:rPr>
              <a:t>Note: the position of letter A in output is same as the position of letter = in input</a:t>
            </a:r>
            <a:endParaRPr lang="en-US" sz="2000" dirty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Grading Policy</a:t>
            </a:r>
            <a:endParaRPr lang="zh-CN" altLang="en-US" dirty="0"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+mn-ea"/>
              </a:rPr>
              <a:t>Submission of Questions (50%)</a:t>
            </a:r>
            <a:endParaRPr lang="en-US" altLang="zh-CN" b="1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50% for the unary adder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20% for the 4-bit binary adder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30% for the arbitrary-bit binary adder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Score = Max{ first submission*1, second submission*0.95 }</a:t>
            </a:r>
            <a:endParaRPr lang="en-US" altLang="zh-CN" dirty="0">
              <a:latin typeface="+mn-ea"/>
            </a:endParaRPr>
          </a:p>
          <a:p>
            <a:pPr>
              <a:spcBef>
                <a:spcPts val="1800"/>
              </a:spcBef>
            </a:pPr>
            <a:r>
              <a:rPr lang="en-US" altLang="zh-CN" b="1" dirty="0">
                <a:latin typeface="+mn-ea"/>
              </a:rPr>
              <a:t>Team Presentation (20%)</a:t>
            </a:r>
            <a:endParaRPr lang="en-US" altLang="zh-CN" b="1" dirty="0">
              <a:latin typeface="+mn-ea"/>
            </a:endParaRPr>
          </a:p>
          <a:p>
            <a:pPr>
              <a:spcBef>
                <a:spcPts val="1800"/>
              </a:spcBef>
            </a:pPr>
            <a:r>
              <a:rPr lang="en-US" altLang="zh-CN" b="1" dirty="0">
                <a:latin typeface="+mn-ea"/>
              </a:rPr>
              <a:t>Project Report (30%)</a:t>
            </a:r>
            <a:endParaRPr lang="en-US" altLang="zh-CN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关键时间节点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21</a:t>
            </a:r>
            <a:r>
              <a:rPr lang="zh-CN" altLang="en-US" dirty="0">
                <a:solidFill>
                  <a:srgbClr val="FF0000"/>
                </a:solidFill>
              </a:rPr>
              <a:t>日</a:t>
            </a:r>
            <a:r>
              <a:rPr lang="en-US" altLang="zh-CN" dirty="0">
                <a:solidFill>
                  <a:srgbClr val="FF0000"/>
                </a:solidFill>
              </a:rPr>
              <a:t>12:00</a:t>
            </a:r>
            <a:r>
              <a:rPr lang="zh-CN" altLang="en-US" dirty="0">
                <a:solidFill>
                  <a:srgbClr val="FF0000"/>
                </a:solidFill>
              </a:rPr>
              <a:t>前 提交第一版图灵机代码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会给反馈，包括未通过测试点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28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日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12:00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前 提交第二版图灵机代码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会给反馈，包括未通过测试点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暂定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日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12:00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前 提交报告和演讲幻灯片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自定义 4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11345</Words>
  <Application>WPS 演示</Application>
  <PresentationFormat>全屏显示(4:3)</PresentationFormat>
  <Paragraphs>770</Paragraphs>
  <Slides>46</Slides>
  <Notes>17</Notes>
  <HiddenSlides>0</HiddenSlides>
  <MMClips>2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46</vt:i4>
      </vt:variant>
    </vt:vector>
  </HeadingPairs>
  <TitlesOfParts>
    <vt:vector size="68" baseType="lpstr">
      <vt:lpstr>Arial</vt:lpstr>
      <vt:lpstr>宋体</vt:lpstr>
      <vt:lpstr>Wingdings</vt:lpstr>
      <vt:lpstr>Franklin Gothic Medium</vt:lpstr>
      <vt:lpstr>Tahoma</vt:lpstr>
      <vt:lpstr>Comic Sans MS</vt:lpstr>
      <vt:lpstr>微软雅黑</vt:lpstr>
      <vt:lpstr>Arial Unicode MS</vt:lpstr>
      <vt:lpstr>等线</vt:lpstr>
      <vt:lpstr>Times</vt:lpstr>
      <vt:lpstr>Times New Roman</vt:lpstr>
      <vt:lpstr>Symbol</vt:lpstr>
      <vt:lpstr>黑体</vt:lpstr>
      <vt:lpstr>Arial</vt:lpstr>
      <vt:lpstr>Calibri</vt:lpstr>
      <vt:lpstr>1_Network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 Lab Slides Turing Adder  郭泓锐  实验课助教 guohongrui17@mails.ucas.ac.cn</vt:lpstr>
      <vt:lpstr>Outline</vt:lpstr>
      <vt:lpstr>First week</vt:lpstr>
      <vt:lpstr>Team Formation</vt:lpstr>
      <vt:lpstr>Week1 Outline</vt:lpstr>
      <vt:lpstr>Objective</vt:lpstr>
      <vt:lpstr>Objective</vt:lpstr>
      <vt:lpstr>Turing machine</vt:lpstr>
      <vt:lpstr>Turing machine</vt:lpstr>
      <vt:lpstr>Turing machine</vt:lpstr>
      <vt:lpstr>Turing machine</vt:lpstr>
      <vt:lpstr>Turing machine</vt:lpstr>
      <vt:lpstr>Definition of Turing Machine </vt:lpstr>
      <vt:lpstr>Simple Example </vt:lpstr>
      <vt:lpstr>Simple Example -- Transition Function</vt:lpstr>
      <vt:lpstr>Simple Example -- Transition Function</vt:lpstr>
      <vt:lpstr>Simple Example -- Transition Function</vt:lpstr>
      <vt:lpstr>Week1 Outline</vt:lpstr>
      <vt:lpstr>Experiment Platform</vt:lpstr>
      <vt:lpstr>Experiment Platform -- Overview</vt:lpstr>
      <vt:lpstr>Experiment Platform -- How to Use</vt:lpstr>
      <vt:lpstr>How to Use （2）</vt:lpstr>
      <vt:lpstr>Week1 Outline</vt:lpstr>
      <vt:lpstr>Two Examples</vt:lpstr>
      <vt:lpstr>Parity Recognition -- Key Idea</vt:lpstr>
      <vt:lpstr>Parity Recognition -- Key Principle</vt:lpstr>
      <vt:lpstr>Parity Recognition -- state-transition diagram/table</vt:lpstr>
      <vt:lpstr>Parity Recognition -- Execution Animation</vt:lpstr>
      <vt:lpstr>Two Examples</vt:lpstr>
      <vt:lpstr>Palindrome Recognition -- Key Idea</vt:lpstr>
      <vt:lpstr>Palindrome Recognition -- Key Idea</vt:lpstr>
      <vt:lpstr>Palindrome Recognition -- Key Principle</vt:lpstr>
      <vt:lpstr>Palindrome Recognition -- State-Transition Diagram </vt:lpstr>
      <vt:lpstr>Palindrome Recognition -- State-Transition Diagram </vt:lpstr>
      <vt:lpstr>Palindrome Recognition -- State-Transition Diagram </vt:lpstr>
      <vt:lpstr>Palindrome Recognition State-Transition Table</vt:lpstr>
      <vt:lpstr>Palindrome Recognition -- Execution Animation</vt:lpstr>
      <vt:lpstr>Week1 Outline</vt:lpstr>
      <vt:lpstr>This project includes three questions</vt:lpstr>
      <vt:lpstr>Examples of Unary and Binary Addition</vt:lpstr>
      <vt:lpstr>Examples of Unary and Binary Addition</vt:lpstr>
      <vt:lpstr>Question 1</vt:lpstr>
      <vt:lpstr>Question 2</vt:lpstr>
      <vt:lpstr>Question 3</vt:lpstr>
      <vt:lpstr>Grading Policy</vt:lpstr>
      <vt:lpstr>关键时间节点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 ZISHU</dc:creator>
  <cp:lastModifiedBy>唐嘉良</cp:lastModifiedBy>
  <cp:revision>331</cp:revision>
  <dcterms:created xsi:type="dcterms:W3CDTF">2021-03-25T09:21:00Z</dcterms:created>
  <dcterms:modified xsi:type="dcterms:W3CDTF">2021-04-14T10:41:34Z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234D7D3B5B684CEBB46105F8AD591EB2</vt:lpwstr>
  </property>
  <property fmtid="{D5CDD505-2E9C-101B-9397-08002B2CF9AE}" pid="3" name="KSOProductBuildVer">
    <vt:lpwstr>2052-11.1.0.10356</vt:lpwstr>
  </property>
</Properties>
</file>