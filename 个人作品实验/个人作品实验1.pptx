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16" r:id="rId4"/>
    <p:sldId id="319" r:id="rId6"/>
    <p:sldId id="326" r:id="rId7"/>
    <p:sldId id="327" r:id="rId8"/>
    <p:sldId id="278" r:id="rId9"/>
    <p:sldId id="311" r:id="rId10"/>
    <p:sldId id="320" r:id="rId11"/>
    <p:sldId id="321" r:id="rId12"/>
    <p:sldId id="322" r:id="rId13"/>
    <p:sldId id="323" r:id="rId14"/>
    <p:sldId id="282" r:id="rId15"/>
    <p:sldId id="312" r:id="rId16"/>
    <p:sldId id="287" r:id="rId17"/>
    <p:sldId id="313" r:id="rId18"/>
    <p:sldId id="291" r:id="rId19"/>
    <p:sldId id="256" r:id="rId20"/>
    <p:sldId id="290" r:id="rId21"/>
    <p:sldId id="328" r:id="rId22"/>
    <p:sldId id="257" r:id="rId23"/>
    <p:sldId id="314" r:id="rId24"/>
    <p:sldId id="260" r:id="rId25"/>
    <p:sldId id="317" r:id="rId26"/>
    <p:sldId id="264" r:id="rId27"/>
    <p:sldId id="270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267" r:id="rId37"/>
    <p:sldId id="300" r:id="rId38"/>
    <p:sldId id="269" r:id="rId39"/>
    <p:sldId id="308" r:id="rId40"/>
    <p:sldId id="301" r:id="rId41"/>
    <p:sldId id="266" r:id="rId42"/>
    <p:sldId id="302" r:id="rId43"/>
    <p:sldId id="303" r:id="rId44"/>
    <p:sldId id="273" r:id="rId45"/>
    <p:sldId id="305" r:id="rId46"/>
    <p:sldId id="274" r:id="rId47"/>
    <p:sldId id="271" r:id="rId48"/>
    <p:sldId id="304" r:id="rId49"/>
    <p:sldId id="306" r:id="rId50"/>
    <p:sldId id="275" r:id="rId51"/>
    <p:sldId id="272" r:id="rId52"/>
    <p:sldId id="318" r:id="rId53"/>
    <p:sldId id="324" r:id="rId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SHU YU" initials="ZY" lastIdx="9" clrIdx="0"/>
  <p:cmAuthor id="2" name="Horry Gou" initials="HG" lastIdx="19" clrIdx="1"/>
  <p:cmAuthor id="3" name="helen tian" initials="ht" lastIdx="10" clrIdx="2"/>
  <p:cmAuthor id="4" name="Yin Tang" initials="YT" lastIdx="1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93963" autoAdjust="0"/>
  </p:normalViewPr>
  <p:slideViewPr>
    <p:cSldViewPr snapToGrid="0">
      <p:cViewPr varScale="1">
        <p:scale>
          <a:sx n="65" d="100"/>
          <a:sy n="65" d="100"/>
        </p:scale>
        <p:origin x="7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8" Type="http://schemas.openxmlformats.org/officeDocument/2006/relationships/commentAuthors" Target="commentAuthors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29BAF-2F10-485E-AFE3-1BDF6C4DC1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b="1" dirty="0"/>
              <a:t>自动执行、正确性、通用性、构造性、复杂度、</a:t>
            </a:r>
            <a:r>
              <a:rPr lang="zh-CN" altLang="en-US" dirty="0"/>
              <a:t>连通性、协议栈、抽象化、模块化、</a:t>
            </a:r>
            <a:r>
              <a:rPr lang="zh-CN" altLang="en-US" b="1" dirty="0"/>
              <a:t>无缝衔接</a:t>
            </a:r>
            <a:r>
              <a:rPr lang="en-US" altLang="zh-CN" dirty="0"/>
              <a:t>】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B4D858-9D6B-43A8-9E5A-AD6FB330B70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我们通过一起完成一个例子来讲编程知识</a:t>
            </a:r>
            <a:endParaRPr lang="en-US" altLang="zh-CN" dirty="0"/>
          </a:p>
          <a:p>
            <a:r>
              <a:rPr lang="zh-CN" altLang="en-US" dirty="0"/>
              <a:t>这个例子只是课堂练习，不是本次实验内容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B919110-6856-4A64-9A7D-D40C491B9A44}" type="slidenum">
              <a:rPr lang="en-US" altLang="zh-CN"/>
            </a:fld>
            <a:endParaRPr lang="en-US" altLang="zh-CN"/>
          </a:p>
        </p:txBody>
      </p:sp>
      <p:sp>
        <p:nvSpPr>
          <p:cNvPr id="4833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4E1A39FF-2C30-45B6-8F91-645ED773424D}" type="slidenum">
              <a:rPr lang="en-US" altLang="zh-CN" sz="1200"/>
            </a:fld>
            <a:endParaRPr lang="en-US" altLang="zh-CN" sz="1200"/>
          </a:p>
        </p:txBody>
      </p:sp>
      <p:sp>
        <p:nvSpPr>
          <p:cNvPr id="483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483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本次课主要讲四个部分：首先会讲这次实验是怎样安排的</a:t>
            </a:r>
            <a:endParaRPr lang="en-US" altLang="zh-CN" dirty="0"/>
          </a:p>
          <a:p>
            <a:r>
              <a:rPr lang="zh-CN" altLang="en-US" dirty="0"/>
              <a:t>然后会推荐给大家一个实验环境</a:t>
            </a:r>
            <a:endParaRPr lang="en-US" altLang="zh-CN" dirty="0"/>
          </a:p>
          <a:p>
            <a:r>
              <a:rPr lang="zh-CN" altLang="en-US" dirty="0"/>
              <a:t>最后我们会讲</a:t>
            </a:r>
            <a:r>
              <a:rPr lang="en-US" altLang="zh-CN" dirty="0"/>
              <a:t>HTML</a:t>
            </a:r>
            <a:r>
              <a:rPr lang="zh-CN" altLang="en-US" dirty="0"/>
              <a:t>语言的入门知识</a:t>
            </a:r>
            <a:endParaRPr lang="en-US" altLang="zh-CN" dirty="0"/>
          </a:p>
          <a:p>
            <a:r>
              <a:rPr lang="zh-CN" altLang="en-US" dirty="0"/>
              <a:t>那什么是</a:t>
            </a:r>
            <a:r>
              <a:rPr lang="en-US" altLang="zh-CN" dirty="0"/>
              <a:t>HTML</a:t>
            </a:r>
            <a:r>
              <a:rPr lang="zh-CN" altLang="en-US" dirty="0"/>
              <a:t>语言呢？</a:t>
            </a:r>
            <a:endParaRPr lang="en-US" altLang="zh-CN" dirty="0"/>
          </a:p>
          <a:p>
            <a:r>
              <a:rPr lang="en-US" altLang="zh-CN" dirty="0"/>
              <a:t>HTML</a:t>
            </a:r>
            <a:r>
              <a:rPr lang="zh-CN" altLang="en-US" dirty="0"/>
              <a:t>语言是一种浏览器能理解的语言，读</a:t>
            </a:r>
            <a:r>
              <a:rPr lang="en-US" altLang="zh-CN" dirty="0"/>
              <a:t>PPT</a:t>
            </a:r>
            <a:r>
              <a:rPr lang="zh-CN" altLang="en-US" dirty="0"/>
              <a:t>框里内容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本次课主要讲四个部分：首先会讲这次实验是怎样安排的</a:t>
            </a:r>
            <a:endParaRPr lang="en-US" altLang="zh-CN" dirty="0"/>
          </a:p>
          <a:p>
            <a:r>
              <a:rPr lang="zh-CN" altLang="en-US" dirty="0"/>
              <a:t>然后会推荐给大家一个实验环境</a:t>
            </a:r>
            <a:endParaRPr lang="en-US" altLang="zh-CN" dirty="0"/>
          </a:p>
          <a:p>
            <a:r>
              <a:rPr lang="zh-CN" altLang="en-US" dirty="0"/>
              <a:t>最后我们会讲</a:t>
            </a:r>
            <a:r>
              <a:rPr lang="en-US" altLang="zh-CN" dirty="0"/>
              <a:t>HTML</a:t>
            </a:r>
            <a:r>
              <a:rPr lang="zh-CN" altLang="en-US" dirty="0"/>
              <a:t>语言的入门知识</a:t>
            </a:r>
            <a:endParaRPr lang="en-US" altLang="zh-CN" dirty="0"/>
          </a:p>
          <a:p>
            <a:r>
              <a:rPr lang="zh-CN" altLang="en-US" dirty="0"/>
              <a:t>那什么是</a:t>
            </a:r>
            <a:r>
              <a:rPr lang="en-US" altLang="zh-CN" dirty="0"/>
              <a:t>HTML</a:t>
            </a:r>
            <a:r>
              <a:rPr lang="zh-CN" altLang="en-US" dirty="0"/>
              <a:t>语言呢？</a:t>
            </a:r>
            <a:endParaRPr lang="en-US" altLang="zh-CN" dirty="0"/>
          </a:p>
          <a:p>
            <a:r>
              <a:rPr lang="en-US" altLang="zh-CN" dirty="0"/>
              <a:t>HTML</a:t>
            </a:r>
            <a:r>
              <a:rPr lang="zh-CN" altLang="en-US" dirty="0"/>
              <a:t>语言是一种浏览器能理解的语言，读</a:t>
            </a:r>
            <a:r>
              <a:rPr lang="en-US" altLang="zh-CN" dirty="0"/>
              <a:t>PPT</a:t>
            </a:r>
            <a:r>
              <a:rPr lang="zh-CN" altLang="en-US" dirty="0"/>
              <a:t>框里内容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制作网页：体会名字空间、协议等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概念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本次实验（待定）</a:t>
            </a:r>
            <a:endParaRPr lang="zh-CN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由于我们没有小组课堂报告，所以每位同学需要独立完成自己的作品，并且每位同学都要提交作品至我们的</a:t>
            </a:r>
            <a:r>
              <a:rPr lang="en-US" altLang="zh-CN" dirty="0"/>
              <a:t>solid</a:t>
            </a:r>
            <a:r>
              <a:rPr lang="zh-CN" altLang="en-US" dirty="0"/>
              <a:t>平台</a:t>
            </a:r>
            <a:endParaRPr lang="en-US" altLang="zh-CN" dirty="0"/>
          </a:p>
          <a:p>
            <a:r>
              <a:rPr lang="zh-CN" altLang="en-US" dirty="0"/>
              <a:t>本次实验的截至日期：读</a:t>
            </a:r>
            <a:r>
              <a:rPr lang="en-US" altLang="zh-CN" dirty="0"/>
              <a:t>PPT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这次实验三次课都是课堂讲解，。。。（读</a:t>
            </a:r>
            <a:r>
              <a:rPr lang="en-US" altLang="zh-CN" dirty="0"/>
              <a:t>PPT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此外，（读王小二部分）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。。。</a:t>
            </a:r>
            <a:endParaRPr lang="en-US" altLang="zh-CN" dirty="0"/>
          </a:p>
          <a:p>
            <a:r>
              <a:rPr lang="en-US" altLang="zh-CN" dirty="0" err="1"/>
              <a:t>vscode</a:t>
            </a:r>
            <a:r>
              <a:rPr lang="zh-CN" altLang="en-US" dirty="0"/>
              <a:t>可以自动补全，有助于减少</a:t>
            </a:r>
            <a:r>
              <a:rPr lang="en-US" altLang="zh-CN" dirty="0"/>
              <a:t>bug</a:t>
            </a:r>
            <a:endParaRPr lang="en-US" altLang="zh-CN" dirty="0"/>
          </a:p>
          <a:p>
            <a:r>
              <a:rPr lang="zh-CN" altLang="en-US" dirty="0"/>
              <a:t>。。。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这里展示一个</a:t>
            </a:r>
            <a:r>
              <a:rPr lang="en-US" altLang="zh-CN" dirty="0"/>
              <a:t>HTML</a:t>
            </a:r>
            <a:r>
              <a:rPr lang="zh-CN" altLang="en-US" dirty="0"/>
              <a:t>文档中代码的模板</a:t>
            </a:r>
            <a:endParaRPr lang="en-US" altLang="zh-CN" dirty="0"/>
          </a:p>
          <a:p>
            <a:r>
              <a:rPr lang="zh-CN" altLang="en-US" dirty="0"/>
              <a:t>按照标签讲一下结构，注意</a:t>
            </a:r>
            <a:r>
              <a:rPr lang="en-US" altLang="zh-CN" dirty="0"/>
              <a:t>/</a:t>
            </a:r>
            <a:endParaRPr lang="en-US" altLang="zh-CN" dirty="0"/>
          </a:p>
          <a:p>
            <a:r>
              <a:rPr lang="zh-CN" altLang="en-US"/>
              <a:t>提醒大家记一下这个模板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这里需要演示：</a:t>
            </a:r>
            <a:r>
              <a:rPr lang="zh-CN" altLang="en-US" b="1" dirty="0"/>
              <a:t>输入实验代码 （</a:t>
            </a:r>
            <a:r>
              <a:rPr lang="en-US" altLang="zh-CN" b="1" dirty="0"/>
              <a:t>blog1-1.html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zh-CN" altLang="en-US" b="1" dirty="0"/>
              <a:t>（助教随堂写代码？直接看写好的代码？）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打开浏览器看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演示之后；我们将在这一页说明每行代码的意义。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</a:t>
            </a:r>
            <a:r>
              <a:rPr lang="en-US" altLang="zh-CN" dirty="0"/>
              <a:t>html</a:t>
            </a:r>
            <a:r>
              <a:rPr lang="zh-CN" altLang="en-US" dirty="0"/>
              <a:t>文档的结构总是</a:t>
            </a:r>
            <a:r>
              <a:rPr lang="en-US" altLang="zh-CN" dirty="0"/>
              <a:t>&lt;html&gt;&lt;head&gt;…&lt;/head&gt;&lt;body&gt;…&lt;/body&gt;&lt;/html&gt;</a:t>
            </a:r>
            <a:r>
              <a:rPr lang="zh-CN" altLang="en-US" dirty="0"/>
              <a:t>的形式，这是代码的模板。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像</a:t>
            </a:r>
            <a:r>
              <a:rPr lang="en-US" altLang="zh-CN" dirty="0"/>
              <a:t>&lt;html&gt;&lt;head&gt;</a:t>
            </a:r>
            <a:r>
              <a:rPr lang="zh-CN" altLang="en-US" dirty="0"/>
              <a:t>这种单词叫做标签，大家先直观地看一下标签是什么，稍后会给出总结</a:t>
            </a:r>
            <a:endParaRPr lang="en-US" altLang="zh-CN" dirty="0"/>
          </a:p>
          <a:p>
            <a:r>
              <a:rPr lang="zh-CN" altLang="en-US" dirty="0"/>
              <a:t>其次，</a:t>
            </a:r>
            <a:r>
              <a:rPr lang="en-US" altLang="zh-CN" dirty="0"/>
              <a:t>head</a:t>
            </a:r>
            <a:r>
              <a:rPr lang="zh-CN" altLang="en-US" dirty="0"/>
              <a:t>里通常会使用</a:t>
            </a:r>
            <a:r>
              <a:rPr lang="en-US" altLang="zh-CN" dirty="0"/>
              <a:t>meta</a:t>
            </a:r>
            <a:r>
              <a:rPr lang="zh-CN" altLang="en-US" dirty="0"/>
              <a:t>标签来指定文本编码方式，使用</a:t>
            </a:r>
            <a:r>
              <a:rPr lang="en-US" altLang="zh-CN" dirty="0"/>
              <a:t>title</a:t>
            </a:r>
            <a:r>
              <a:rPr lang="zh-CN" altLang="en-US" dirty="0"/>
              <a:t>标签来指定网页的标题；</a:t>
            </a:r>
            <a:endParaRPr lang="en-US" altLang="zh-CN" dirty="0"/>
          </a:p>
          <a:p>
            <a:r>
              <a:rPr lang="en-US" altLang="zh-CN" dirty="0"/>
              <a:t>          body</a:t>
            </a:r>
            <a:r>
              <a:rPr lang="zh-CN" altLang="en-US" dirty="0"/>
              <a:t>里可以定义各种元素</a:t>
            </a:r>
            <a:r>
              <a:rPr lang="en-US" altLang="zh-CN" dirty="0"/>
              <a:t>/</a:t>
            </a:r>
            <a:r>
              <a:rPr lang="zh-CN" altLang="en-US" dirty="0"/>
              <a:t>标签</a:t>
            </a:r>
            <a:r>
              <a:rPr lang="en-US" altLang="zh-CN" dirty="0"/>
              <a:t> </a:t>
            </a:r>
            <a:r>
              <a:rPr lang="zh-CN" altLang="en-US" dirty="0"/>
              <a:t>，比如：分析代码</a:t>
            </a:r>
            <a:r>
              <a:rPr lang="en-US" altLang="zh-CN" dirty="0"/>
              <a:t>   </a:t>
            </a:r>
            <a:endParaRPr lang="en-US" altLang="zh-CN" dirty="0"/>
          </a:p>
          <a:p>
            <a:r>
              <a:rPr lang="zh-CN" altLang="en-US" dirty="0"/>
              <a:t>另外，即使有错误，浏览器也可以显示出部分页面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en-US" altLang="zh-CN" dirty="0"/>
          </a:p>
          <a:p>
            <a:r>
              <a:rPr lang="en-US" altLang="zh-CN" dirty="0"/>
              <a:t>keyword</a:t>
            </a:r>
            <a:r>
              <a:rPr lang="zh-CN" altLang="en-US" dirty="0"/>
              <a:t>此处代表占位符</a:t>
            </a:r>
            <a:endParaRPr lang="en-US" altLang="zh-CN" dirty="0"/>
          </a:p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r>
              <a:rPr lang="zh-CN" altLang="en-US" dirty="0"/>
              <a:t>，（</a:t>
            </a:r>
            <a:r>
              <a:rPr lang="en-US" altLang="zh-CN" dirty="0"/>
              <a:t>click</a:t>
            </a:r>
            <a:r>
              <a:rPr lang="zh-CN" altLang="en-US" dirty="0"/>
              <a:t>）解释</a:t>
            </a:r>
            <a:r>
              <a:rPr lang="en-US" altLang="zh-CN" dirty="0"/>
              <a:t>UTF-8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r>
              <a:rPr lang="zh-CN" altLang="en-US" dirty="0"/>
              <a:t>文字</a:t>
            </a:r>
            <a:endParaRPr lang="en-US" altLang="zh-CN" dirty="0"/>
          </a:p>
          <a:p>
            <a:r>
              <a:rPr lang="en-US" altLang="zh-CN" dirty="0"/>
              <a:t>HTML</a:t>
            </a:r>
            <a:r>
              <a:rPr lang="zh-CN" altLang="en-US" dirty="0"/>
              <a:t>有</a:t>
            </a:r>
            <a:r>
              <a:rPr lang="en-US" altLang="zh-CN" dirty="0"/>
              <a:t>6</a:t>
            </a:r>
            <a:r>
              <a:rPr lang="zh-CN" altLang="en-US" dirty="0"/>
              <a:t>种元素显示网页内的题目，解释标签用法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解释代码改动</a:t>
            </a:r>
            <a:endParaRPr lang="en-US" altLang="zh-CN" dirty="0"/>
          </a:p>
          <a:p>
            <a:r>
              <a:rPr lang="zh-CN" altLang="en-US" dirty="0"/>
              <a:t>解释对应的效果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en-US" altLang="zh-CN" dirty="0"/>
          </a:p>
          <a:p>
            <a:r>
              <a:rPr lang="zh-CN" altLang="en-US" dirty="0"/>
              <a:t>解释用法</a:t>
            </a:r>
            <a:endParaRPr lang="en-US" altLang="zh-CN" dirty="0"/>
          </a:p>
          <a:p>
            <a:r>
              <a:rPr lang="zh-CN" altLang="en-US" dirty="0"/>
              <a:t>现场改代码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解释添加内容和效果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en-US" altLang="zh-CN" dirty="0"/>
          </a:p>
          <a:p>
            <a:r>
              <a:rPr lang="zh-CN" altLang="en-US" dirty="0"/>
              <a:t>解释用法</a:t>
            </a:r>
            <a:endParaRPr lang="en-US" altLang="zh-CN" dirty="0"/>
          </a:p>
          <a:p>
            <a:r>
              <a:rPr lang="zh-CN" altLang="en-US" dirty="0"/>
              <a:t>现场改代码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解释添加内容和效果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读王小二部分</a:t>
            </a:r>
            <a:endParaRPr lang="en-US" altLang="zh-CN" dirty="0"/>
          </a:p>
          <a:p>
            <a:r>
              <a:rPr lang="zh-CN" altLang="en-US" dirty="0"/>
              <a:t>结合使用示例和文字描述讲怎么用</a:t>
            </a:r>
            <a:endParaRPr lang="en-US" altLang="zh-CN" dirty="0"/>
          </a:p>
          <a:p>
            <a:r>
              <a:rPr lang="zh-CN" altLang="en-US" dirty="0"/>
              <a:t>之后现场改代码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解释添加的内容和效果</a:t>
            </a:r>
            <a:endParaRPr lang="en-US" altLang="zh-CN" dirty="0"/>
          </a:p>
          <a:p>
            <a:r>
              <a:rPr lang="zh-CN" altLang="en-US" dirty="0"/>
              <a:t>解释</a:t>
            </a:r>
            <a:r>
              <a:rPr lang="en-US" altLang="zh-CN" dirty="0"/>
              <a:t>border</a:t>
            </a:r>
            <a:r>
              <a:rPr lang="zh-CN" altLang="en-US" dirty="0"/>
              <a:t>属性</a:t>
            </a:r>
            <a:endParaRPr lang="en-US" altLang="zh-CN" dirty="0"/>
          </a:p>
          <a:p>
            <a:r>
              <a:rPr lang="zh-CN" altLang="en-US" dirty="0"/>
              <a:t>解释</a:t>
            </a:r>
            <a:r>
              <a:rPr lang="en-US" altLang="zh-CN" dirty="0"/>
              <a:t>JS</a:t>
            </a:r>
            <a:r>
              <a:rPr lang="zh-CN" altLang="en-US" dirty="0"/>
              <a:t>是什么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r>
              <a:rPr lang="zh-CN" altLang="en-US" dirty="0"/>
              <a:t>中王小二部分</a:t>
            </a:r>
            <a:endParaRPr lang="en-US" altLang="zh-CN" dirty="0"/>
          </a:p>
          <a:p>
            <a:r>
              <a:rPr lang="zh-CN" altLang="en-US" dirty="0"/>
              <a:t>结合语法描述和示例代码讲</a:t>
            </a:r>
            <a:endParaRPr lang="en-US" altLang="zh-CN" dirty="0"/>
          </a:p>
          <a:p>
            <a:r>
              <a:rPr lang="zh-CN" altLang="en-US" dirty="0"/>
              <a:t>现场改代码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展示效果即可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en-US" altLang="zh-CN" dirty="0"/>
          </a:p>
          <a:p>
            <a:r>
              <a:rPr lang="zh-CN" altLang="en-US" dirty="0"/>
              <a:t>（单一的意思是：无结束标签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我们具体看一下都有哪些常用的表单元素：</a:t>
            </a:r>
            <a:endParaRPr lang="en-US" altLang="zh-CN" dirty="0"/>
          </a:p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en-US" altLang="zh-CN" dirty="0"/>
          </a:p>
          <a:p>
            <a:r>
              <a:rPr lang="zh-CN" altLang="en-US" b="0" dirty="0"/>
              <a:t>改代码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再次强调</a:t>
            </a:r>
            <a:r>
              <a:rPr lang="en-US" altLang="zh-CN" dirty="0"/>
              <a:t>name</a:t>
            </a:r>
            <a:r>
              <a:rPr lang="zh-CN" altLang="en-US" dirty="0"/>
              <a:t>属性</a:t>
            </a:r>
            <a:endParaRPr lang="en-US" altLang="zh-CN" dirty="0"/>
          </a:p>
          <a:p>
            <a:r>
              <a:rPr lang="zh-CN" altLang="en-US" dirty="0"/>
              <a:t>展示效果（随便输入操作数、随便选中一个选项，随便输入一个密码）</a:t>
            </a:r>
            <a:endParaRPr lang="en-US" altLang="zh-CN" dirty="0"/>
          </a:p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r>
              <a:rPr lang="zh-CN" altLang="en-US" dirty="0"/>
              <a:t>剩余文字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读王小二</a:t>
            </a:r>
            <a:endParaRPr lang="en-US" altLang="zh-CN" dirty="0"/>
          </a:p>
          <a:p>
            <a:r>
              <a:rPr lang="zh-CN" altLang="en-US" dirty="0"/>
              <a:t>改代码</a:t>
            </a:r>
            <a:endParaRPr lang="en-US" altLang="zh-CN" dirty="0"/>
          </a:p>
          <a:p>
            <a:r>
              <a:rPr lang="zh-CN" altLang="en-US" dirty="0"/>
              <a:t>展示代码整体结构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en-US" altLang="zh-CN" dirty="0"/>
          </a:p>
          <a:p>
            <a:r>
              <a:rPr lang="zh-CN" altLang="en-US" dirty="0"/>
              <a:t>改代码</a:t>
            </a:r>
            <a:endParaRPr lang="en-US" altLang="zh-CN" dirty="0"/>
          </a:p>
          <a:p>
            <a:r>
              <a:rPr lang="zh-CN" altLang="en-US" dirty="0"/>
              <a:t>展示整体结构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读注意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但是一般颜色名称都可以作为</a:t>
            </a:r>
            <a:r>
              <a:rPr lang="en-US" altLang="zh-CN" dirty="0"/>
              <a:t>background-color</a:t>
            </a:r>
            <a:r>
              <a:rPr lang="zh-CN" altLang="en-US" dirty="0"/>
              <a:t>和</a:t>
            </a:r>
            <a:r>
              <a:rPr lang="en-US" altLang="zh-CN" dirty="0"/>
              <a:t>color</a:t>
            </a:r>
            <a:r>
              <a:rPr lang="zh-CN" altLang="en-US" dirty="0"/>
              <a:t>后面的值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改代码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对比代码和展示效果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en-US" altLang="zh-CN" dirty="0"/>
          </a:p>
          <a:p>
            <a:r>
              <a:rPr lang="zh-CN" altLang="en-US" dirty="0"/>
              <a:t>我们用一个例子来展示它怎么用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蓝色的字的作用是用来选中一些元素，并且把这些元素的样式设定为后面这个花括号内的</a:t>
            </a:r>
            <a:r>
              <a:rPr lang="en-US" altLang="zh-CN" dirty="0"/>
              <a:t>CSS</a:t>
            </a:r>
            <a:r>
              <a:rPr lang="zh-CN" altLang="en-US" dirty="0"/>
              <a:t>语句所指定的样式</a:t>
            </a:r>
            <a:endParaRPr lang="en-US" altLang="zh-CN" dirty="0"/>
          </a:p>
          <a:p>
            <a:r>
              <a:rPr lang="zh-CN" altLang="en-US" dirty="0"/>
              <a:t>比如，这里把所有</a:t>
            </a:r>
            <a:r>
              <a:rPr lang="en-US" altLang="zh-CN" dirty="0"/>
              <a:t>h1</a:t>
            </a:r>
            <a:r>
              <a:rPr lang="zh-CN" altLang="en-US" dirty="0"/>
              <a:t>标签的字体设为红色，把那个</a:t>
            </a:r>
            <a:r>
              <a:rPr lang="en-US" altLang="zh-CN" dirty="0"/>
              <a:t>id</a:t>
            </a:r>
            <a:r>
              <a:rPr lang="zh-CN" altLang="en-US" dirty="0"/>
              <a:t>属性指定的元素的字体设为绿色</a:t>
            </a:r>
            <a:endParaRPr lang="en-US" altLang="zh-CN" dirty="0"/>
          </a:p>
          <a:p>
            <a:r>
              <a:rPr lang="zh-CN" altLang="en-US" dirty="0"/>
              <a:t>读后面两行代码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刚才我们提到了</a:t>
            </a:r>
            <a:r>
              <a:rPr lang="en-US" altLang="zh-CN" dirty="0"/>
              <a:t>id</a:t>
            </a:r>
            <a:r>
              <a:rPr lang="zh-CN" altLang="en-US" dirty="0"/>
              <a:t>属性和</a:t>
            </a:r>
            <a:r>
              <a:rPr lang="en-US" altLang="zh-CN" dirty="0"/>
              <a:t>class</a:t>
            </a:r>
            <a:r>
              <a:rPr lang="zh-CN" altLang="en-US" dirty="0"/>
              <a:t>属性，前面其实也提到了</a:t>
            </a:r>
            <a:r>
              <a:rPr lang="en-US" altLang="zh-CN" dirty="0"/>
              <a:t>name</a:t>
            </a:r>
            <a:r>
              <a:rPr lang="zh-CN" altLang="en-US" dirty="0"/>
              <a:t>属性，这些属性都是元素的通用属性，也就是说，几乎所有元素都可以定义这些属性</a:t>
            </a:r>
            <a:endParaRPr lang="en-US" altLang="zh-CN" dirty="0"/>
          </a:p>
          <a:p>
            <a:r>
              <a:rPr lang="zh-CN" altLang="en-US" dirty="0"/>
              <a:t>这些属性可以在</a:t>
            </a:r>
            <a:r>
              <a:rPr lang="en-US" altLang="zh-CN" dirty="0"/>
              <a:t>&lt;style&gt;</a:t>
            </a:r>
            <a:r>
              <a:rPr lang="zh-CN" altLang="en-US" dirty="0"/>
              <a:t>元素里指定各种元素的样式时利用，我们具体学习一下这四种属性：</a:t>
            </a:r>
            <a:endParaRPr lang="en-US" altLang="zh-CN" dirty="0"/>
          </a:p>
          <a:p>
            <a:r>
              <a:rPr lang="zh-CN" altLang="en-US" dirty="0"/>
              <a:t>首先是</a:t>
            </a:r>
            <a:r>
              <a:rPr lang="en-US" altLang="zh-CN" dirty="0"/>
              <a:t>id</a:t>
            </a:r>
            <a:r>
              <a:rPr lang="zh-CN" altLang="en-US" dirty="0"/>
              <a:t>属性，读描述</a:t>
            </a:r>
            <a:endParaRPr lang="en-US" altLang="zh-CN" dirty="0"/>
          </a:p>
          <a:p>
            <a:r>
              <a:rPr lang="zh-CN" altLang="en-US" dirty="0"/>
              <a:t>然后是</a:t>
            </a:r>
            <a:r>
              <a:rPr lang="en-US" altLang="zh-CN" dirty="0"/>
              <a:t>name</a:t>
            </a:r>
            <a:r>
              <a:rPr lang="zh-CN" altLang="en-US" dirty="0"/>
              <a:t>属性，它的一种使用场景是在一个表单里有多个单选框的时候，相同</a:t>
            </a:r>
            <a:r>
              <a:rPr lang="en-US" altLang="zh-CN" dirty="0"/>
              <a:t>name</a:t>
            </a:r>
            <a:r>
              <a:rPr lang="zh-CN" altLang="en-US" dirty="0"/>
              <a:t>属性的单选框只能同时选中一个</a:t>
            </a:r>
            <a:endParaRPr lang="en-US" altLang="zh-CN" dirty="0"/>
          </a:p>
          <a:p>
            <a:r>
              <a:rPr lang="zh-CN" altLang="en-US" dirty="0"/>
              <a:t>还有</a:t>
            </a:r>
            <a:r>
              <a:rPr lang="en-US" altLang="zh-CN" dirty="0"/>
              <a:t>class</a:t>
            </a:r>
            <a:r>
              <a:rPr lang="zh-CN" altLang="en-US" dirty="0"/>
              <a:t>属性，读描述</a:t>
            </a:r>
            <a:endParaRPr lang="en-US" altLang="zh-CN" dirty="0"/>
          </a:p>
          <a:p>
            <a:r>
              <a:rPr lang="zh-CN" altLang="en-US" dirty="0"/>
              <a:t>最后是我们刚刚讲过的</a:t>
            </a:r>
            <a:r>
              <a:rPr lang="en-US" altLang="zh-CN" dirty="0"/>
              <a:t>style</a:t>
            </a:r>
            <a:r>
              <a:rPr lang="zh-CN" altLang="en-US" dirty="0"/>
              <a:t>属性，读描述，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改代码</a:t>
            </a:r>
            <a:endParaRPr lang="en-US" altLang="zh-CN" dirty="0"/>
          </a:p>
          <a:p>
            <a:r>
              <a:rPr lang="zh-CN" altLang="en-US" dirty="0"/>
              <a:t>首先我们给发明三阶段的</a:t>
            </a:r>
            <a:r>
              <a:rPr lang="en-US" altLang="zh-CN" dirty="0"/>
              <a:t>div</a:t>
            </a:r>
            <a:r>
              <a:rPr lang="zh-CN" altLang="en-US" dirty="0"/>
              <a:t>标签加上</a:t>
            </a:r>
            <a:r>
              <a:rPr lang="en-US" altLang="zh-CN" dirty="0"/>
              <a:t>id</a:t>
            </a:r>
            <a:r>
              <a:rPr lang="zh-CN" altLang="en-US" dirty="0"/>
              <a:t>属性，分别是：</a:t>
            </a:r>
            <a:r>
              <a:rPr lang="en-US" altLang="zh-CN" dirty="0" err="1"/>
              <a:t>xxxx</a:t>
            </a:r>
            <a:endParaRPr lang="en-US" altLang="zh-CN" dirty="0"/>
          </a:p>
          <a:p>
            <a:r>
              <a:rPr lang="zh-CN" altLang="en-US" dirty="0"/>
              <a:t>读</a:t>
            </a:r>
            <a:r>
              <a:rPr lang="en-US" altLang="zh-CN" dirty="0"/>
              <a:t>PPT</a:t>
            </a:r>
            <a:endParaRPr lang="en-US" altLang="zh-CN" dirty="0"/>
          </a:p>
          <a:p>
            <a:r>
              <a:rPr lang="zh-CN" altLang="en-US" dirty="0"/>
              <a:t>需要提醒大家，这里的</a:t>
            </a:r>
            <a:r>
              <a:rPr lang="en-US" altLang="zh-CN" dirty="0"/>
              <a:t>div</a:t>
            </a:r>
            <a:r>
              <a:rPr lang="zh-CN" altLang="en-US" dirty="0"/>
              <a:t>标签允许我们为整个发明三阶段中每个阶段设置</a:t>
            </a:r>
            <a:r>
              <a:rPr lang="en-US" altLang="zh-CN" dirty="0"/>
              <a:t>id</a:t>
            </a:r>
            <a:r>
              <a:rPr lang="zh-CN" altLang="en-US" dirty="0"/>
              <a:t>属性，也大大方便了我们为网页设置样式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王小二于是利用了</a:t>
            </a:r>
            <a:r>
              <a:rPr lang="en-US" altLang="zh-CN" dirty="0"/>
              <a:t>id</a:t>
            </a:r>
            <a:r>
              <a:rPr lang="zh-CN" altLang="en-US" dirty="0"/>
              <a:t>属性设置了整个发明前、整个发明中、整个发明后的背景颜色</a:t>
            </a:r>
            <a:endParaRPr lang="en-US" altLang="zh-CN" dirty="0"/>
          </a:p>
          <a:p>
            <a:r>
              <a:rPr lang="zh-CN" altLang="en-US" dirty="0"/>
              <a:t>讲解代码</a:t>
            </a:r>
            <a:endParaRPr lang="en-US" altLang="zh-CN" dirty="0"/>
          </a:p>
          <a:p>
            <a:r>
              <a:rPr lang="zh-CN" altLang="en-US" dirty="0"/>
              <a:t>又用了</a:t>
            </a:r>
            <a:r>
              <a:rPr lang="en-US" altLang="zh-CN" dirty="0"/>
              <a:t>h2</a:t>
            </a:r>
            <a:r>
              <a:rPr lang="zh-CN" altLang="en-US" dirty="0"/>
              <a:t>属性设置了所有小标题的背景颜色</a:t>
            </a:r>
            <a:endParaRPr lang="en-US" altLang="zh-CN" dirty="0"/>
          </a:p>
          <a:p>
            <a:r>
              <a:rPr lang="zh-CN" altLang="en-US" dirty="0"/>
              <a:t>改代码</a:t>
            </a:r>
            <a:endParaRPr lang="en-US" altLang="zh-CN" dirty="0"/>
          </a:p>
          <a:p>
            <a:r>
              <a:rPr lang="zh-CN" altLang="en-US" dirty="0"/>
              <a:t>讲效果</a:t>
            </a:r>
            <a:endParaRPr lang="en-US" altLang="zh-CN" dirty="0"/>
          </a:p>
          <a:p>
            <a:r>
              <a:rPr lang="zh-CN" altLang="en-US" dirty="0"/>
              <a:t>这样，我们一整个网页的内容已经完成了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总结一下这节课讲的所有内容；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(click)</a:t>
            </a:r>
            <a:r>
              <a:rPr lang="zh-CN" altLang="en-US" dirty="0"/>
              <a:t>出解题思路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：</a:t>
            </a:r>
            <a:r>
              <a:rPr lang="en-US" altLang="zh-CN" dirty="0"/>
              <a:t>URL</a:t>
            </a:r>
            <a:r>
              <a:rPr lang="zh-CN" altLang="en-US" dirty="0"/>
              <a:t>的其它用处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8C6D43-13C8-412D-B878-BCB5EB4447F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2" y="1709744"/>
            <a:ext cx="1051560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2" y="4589469"/>
            <a:ext cx="105156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365129"/>
            <a:ext cx="10515601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4"/>
            <a:ext cx="1051560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9"/>
            <a:ext cx="105156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365129"/>
            <a:ext cx="1051560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2" y="365129"/>
            <a:ext cx="10515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BCBCA-E15D-4BC2-9E67-6D9C9FD43E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4" y="6356356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114F9-B99C-42EA-BAC0-45A649ECBD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9"/>
            <a:ext cx="10515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>
              <a:defRPr/>
            </a:pPr>
            <a:fld id="{72E05E3A-ACD3-4DE5-8775-CFC1297DE4D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4" y="6356356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>
              <a:defRPr/>
            </a:pPr>
            <a:fld id="{3164EB57-63C2-43D8-BD35-B1988EDB52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hyperlink" Target="mailto:guohongrui17@mails.ucas.ac.cn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teacher.solid.things.ac.cn:7243/public/materials/web_exp/blog3-6.html" TargetMode="Externa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hyperlink" Target="https://teacher.solid.things.ac.cn:7243/public/materials/web_exp/blog1-11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olid.things.ac.cn:7245/web_exp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olid.things.ac.cn:7245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code.visualstudio.com/" TargetMode="External"/><Relationship Id="rId1" Type="http://schemas.openxmlformats.org/officeDocument/2006/relationships/hyperlink" Target="https://www.google.cn/intl/zh-CN/chrome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runoob.com/html/html-tutorial.html" TargetMode="External"/><Relationship Id="rId2" Type="http://schemas.openxmlformats.org/officeDocument/2006/relationships/hyperlink" Target="https://developer.mozilla.org/en-US/docs/Web/HTML" TargetMode="External"/><Relationship Id="rId1" Type="http://schemas.openxmlformats.org/officeDocument/2006/relationships/hyperlink" Target="https://html.spec.whatwg.org/multipage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92572"/>
            <a:ext cx="9144000" cy="1395063"/>
          </a:xfrm>
        </p:spPr>
        <p:txBody>
          <a:bodyPr/>
          <a:lstStyle/>
          <a:p>
            <a:r>
              <a:rPr lang="zh-CN" altLang="en-US" dirty="0"/>
              <a:t>个人作品实验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0" y="1214349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计算机科学导论实验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24000" y="219903"/>
            <a:ext cx="9144000" cy="430445"/>
            <a:chOff x="1524000" y="219903"/>
            <a:chExt cx="9144000" cy="4304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224110"/>
              <a:ext cx="2032622" cy="42623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4311" y="219903"/>
              <a:ext cx="3143689" cy="428685"/>
            </a:xfrm>
            <a:prstGeom prst="rect">
              <a:avLst/>
            </a:prstGeom>
          </p:spPr>
        </p:pic>
      </p:grp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524000" y="3957851"/>
            <a:ext cx="9144000" cy="2829381"/>
          </a:xfrm>
        </p:spPr>
        <p:txBody>
          <a:bodyPr>
            <a:normAutofit/>
          </a:bodyPr>
          <a:lstStyle/>
          <a:p>
            <a:br>
              <a:rPr lang="en-US" altLang="zh-CN" dirty="0"/>
            </a:b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计算机科学导论实验课程助教组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中国科学院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大学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郭泓锐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hlinkClick r:id="rId3"/>
              </a:rPr>
              <a:t>guohongrui17@mails.ucas.ac.cn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44566" y="56416"/>
            <a:ext cx="4621292" cy="674479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课程安排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>
            <a:endCxn id="10" idx="3"/>
          </p:cNvCxnSpPr>
          <p:nvPr/>
        </p:nvCxnSpPr>
        <p:spPr>
          <a:xfrm flipH="1" flipV="1">
            <a:off x="3814917" y="4721695"/>
            <a:ext cx="3529650" cy="69250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035409" y="4490862"/>
            <a:ext cx="1779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网页计算器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箭头连接符 11"/>
          <p:cNvCxnSpPr>
            <a:endCxn id="13" idx="3"/>
          </p:cNvCxnSpPr>
          <p:nvPr/>
        </p:nvCxnSpPr>
        <p:spPr>
          <a:xfrm flipH="1" flipV="1">
            <a:off x="3814917" y="5773947"/>
            <a:ext cx="3441290" cy="1006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035409" y="5543114"/>
            <a:ext cx="1779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网页时钟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8202" y="2234506"/>
            <a:ext cx="5632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本次实验内容：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做一个独创的网页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（以右图网页为例讲述制作过程）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8202" y="6512005"/>
            <a:ext cx="826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2"/>
              </a:rPr>
              <a:t>https://teacher.solid.things.ac.cn:7243/public/materials/web_exp/blog3-6.html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1484318"/>
            <a:ext cx="12192000" cy="5113337"/>
          </a:xfrm>
          <a:noFill/>
        </p:spPr>
        <p:txBody>
          <a:bodyPr anchor="ctr"/>
          <a:lstStyle/>
          <a:p>
            <a:pPr algn="ctr">
              <a:spcBef>
                <a:spcPts val="2400"/>
              </a:spcBef>
            </a:pPr>
            <a:b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Week 1</a:t>
            </a:r>
            <a:b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a </a:t>
            </a:r>
            <a:r>
              <a:rPr lang="en-US" altLang="zh-CN" sz="6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</a:t>
            </a:r>
            <a: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Webpage</a:t>
            </a:r>
            <a:b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zh-CN" altLang="en-US" sz="8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2" descr="http://www.gucas.ac.cn/newStyle/images/lougou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122458"/>
            <a:ext cx="4381500" cy="1047751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0560674" y="122458"/>
            <a:ext cx="17561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CS101</a:t>
            </a:r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本节课制作：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83444" y="6356356"/>
            <a:ext cx="8151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hlinkClick r:id="rId1"/>
              </a:rPr>
              <a:t>https://teacher.solid.things.ac.cn:7243/public/materials/web_exp/blog1-11.html</a:t>
            </a:r>
            <a:endParaRPr lang="en-US" altLang="zh-CN" sz="1600" dirty="0"/>
          </a:p>
          <a:p>
            <a:endParaRPr lang="en-US" altLang="zh-CN" sz="1600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0303" y="365129"/>
            <a:ext cx="4287283" cy="57831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实验安排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语法知识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80747" y="3690447"/>
            <a:ext cx="6096000" cy="150810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：超文本标记语言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英文全称：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HyperText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Markup Language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这种语言用来描述网页上有什么。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实验安排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语法知识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实验目标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使用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创造性的表达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制作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动态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的网页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通过制作网页，体会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web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编程和本地编程的异同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每位同学的作品会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向全班展示</a:t>
            </a:r>
            <a:endParaRPr lang="en-US" altLang="zh-CN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一个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动态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的网页，包含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HTML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CSS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JavaScript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代码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该网页展示了你的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创造力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展示形式待定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一些例子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级同学的例子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Kitty_Band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Langton's_Ant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39.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The_Three_Body_Game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The_War_of_defending_Blue_Planet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41.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The_World_of_Black_and_White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助教写的例子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others in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https://www.solid.things.ac.cn:7245/web_exp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我们看一看这些作品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9712" y="158651"/>
            <a:ext cx="10515601" cy="1325563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实验内容及评分标准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8105" y="1272229"/>
            <a:ext cx="10576978" cy="573325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网页：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90%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正确性 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75%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创造性 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25%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2"/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报告：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10%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抄袭：总分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&lt;60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if &gt;20%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字符数</a:t>
            </a:r>
            <a:endParaRPr lang="en-US" altLang="zh-CN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不能大规模复制别人的代码，或者只改变量名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不允许使用现成的模板、</a:t>
            </a:r>
            <a:r>
              <a:rPr lang="en-US" altLang="zh-CN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Vue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等编程框架、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Dreamweaver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等自动化工具。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致谢不能掩盖抄袭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8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10580" y="2127350"/>
          <a:ext cx="923331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663"/>
                <a:gridCol w="1846663"/>
                <a:gridCol w="1846663"/>
                <a:gridCol w="1846663"/>
                <a:gridCol w="1846663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提交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网页</a:t>
                      </a:r>
                      <a:r>
                        <a:rPr lang="zh-CN" altLang="en-US" dirty="0" smtClean="0"/>
                        <a:t>显式致谢</a:t>
                      </a:r>
                      <a:r>
                        <a:rPr lang="zh-CN" altLang="en-US" dirty="0"/>
                        <a:t>用到的图片等资源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动态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使用了</a:t>
                      </a:r>
                      <a:r>
                        <a:rPr lang="en-US" altLang="zh-CN" dirty="0"/>
                        <a:t>HTML/JS/CSS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代码行数</a:t>
                      </a:r>
                      <a:r>
                        <a:rPr lang="en-US" altLang="zh-CN" dirty="0"/>
                        <a:t>&lt;300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10*3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110580" y="3719730"/>
          <a:ext cx="76748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97"/>
                <a:gridCol w="2739063"/>
                <a:gridCol w="255828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内容有创意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遵循良好的编程习惯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美观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作品提交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每位同学独立完成作品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提交到 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hlinkClick r:id="rId1"/>
              </a:rPr>
              <a:t>https://www.solid.things.ac.cn:7245/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Deadline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：</a:t>
            </a:r>
            <a:endParaRPr lang="en-US" altLang="zh-CN" dirty="0">
              <a:solidFill>
                <a:srgbClr val="FF0000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代码：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2021/7/7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 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23:00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报告：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2021/7/14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 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23:00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/>
            <a:endParaRPr lang="zh-CN" altLang="en-US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实验安排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课程安排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838205" y="1546227"/>
            <a:ext cx="10515601" cy="4924091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第一次课：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入门知识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第二次课：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基础语法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第三次课：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的对比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简单动画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3741" y="2880173"/>
            <a:ext cx="591195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本课程将会以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“王小二”编写一个网页博客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介绍他发明了网页版时钟和计算器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的伟大事迹为例，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讲述相关的编程知识。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实验安排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语法知识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一个浏览器（推荐使用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https://www.google.cn/intl/zh-CN/chrome/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一个文本编辑器（推荐使用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vscode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https://code.visualstudio.com/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实验安排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语法知识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&lt;html&gt; 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  &lt;head&gt; 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一些代码 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  &lt;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head&gt; 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  &lt;body&gt; 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一些代码 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  &lt;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body&gt; 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html&gt;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5" y="365129"/>
            <a:ext cx="10515601" cy="1325563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8203" y="5992297"/>
            <a:ext cx="383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”的存在！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5" y="171291"/>
            <a:ext cx="10515601" cy="1325563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基本结构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5" y="1400831"/>
            <a:ext cx="10515601" cy="51908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blog.html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文档，并写入正确的代码：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代码意义稍后讲述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&lt;html&gt;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&lt;head&gt;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&lt;meta charset="UTF-8" &gt;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&lt;title&gt;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美好的一天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&lt;/title&gt;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&lt;/head&gt;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&lt;body&gt;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计算器和时钟养成记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&lt;/h1&gt;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&lt;/body&gt;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&lt;/html&gt;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使用浏览器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Firefox)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打开上述文档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514350" indent="-514350">
              <a:buFont typeface="+mj-lt"/>
              <a:buAutoNum type="arabicPeriod" startAt="2"/>
            </a:pP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514350" indent="-514350">
              <a:buFont typeface="+mj-lt"/>
              <a:buAutoNum type="arabicPeriod" startAt="2"/>
            </a:pPr>
            <a:endParaRPr lang="zh-CN" altLang="en-US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85497" y="6335597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/blog1-1.html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r="814" b="28989"/>
          <a:stretch>
            <a:fillRect/>
          </a:stretch>
        </p:blipFill>
        <p:spPr>
          <a:xfrm>
            <a:off x="1088294" y="1197903"/>
            <a:ext cx="8487972" cy="3168655"/>
          </a:xfrm>
          <a:prstGeom prst="rect">
            <a:avLst/>
          </a:prstGeom>
        </p:spPr>
      </p:pic>
      <p:sp>
        <p:nvSpPr>
          <p:cNvPr id="6" name="箭头: 右 5"/>
          <p:cNvSpPr/>
          <p:nvPr/>
        </p:nvSpPr>
        <p:spPr>
          <a:xfrm rot="19542387">
            <a:off x="3069445" y="1039958"/>
            <a:ext cx="1152351" cy="3158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/>
          <p:cNvSpPr/>
          <p:nvPr/>
        </p:nvSpPr>
        <p:spPr>
          <a:xfrm>
            <a:off x="5160912" y="3904892"/>
            <a:ext cx="49199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计算器和时钟养成记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&lt;/h1&gt;  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箭头: 右 10"/>
          <p:cNvSpPr/>
          <p:nvPr/>
        </p:nvSpPr>
        <p:spPr>
          <a:xfrm rot="1261248">
            <a:off x="5909597" y="3466390"/>
            <a:ext cx="1190972" cy="362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/>
        </p:nvSpPr>
        <p:spPr>
          <a:xfrm>
            <a:off x="2721110" y="406318"/>
            <a:ext cx="40639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&lt;title&gt;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美好的一天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title&gt; 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进入</a:t>
            </a:r>
            <a:r>
              <a:rPr lang="en-US" altLang="zh-CN" dirty="0" err="1"/>
              <a:t>SoLid</a:t>
            </a:r>
            <a:r>
              <a:rPr lang="zh-CN" altLang="en-US" dirty="0"/>
              <a:t>，点击</a:t>
            </a:r>
            <a:r>
              <a:rPr lang="en-US" altLang="zh-CN" dirty="0"/>
              <a:t>materials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点击</a:t>
            </a:r>
            <a:r>
              <a:rPr lang="en-US" altLang="zh-CN" dirty="0" err="1"/>
              <a:t>web_exp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2" y="497005"/>
            <a:ext cx="4582603" cy="238737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828" y="3470506"/>
            <a:ext cx="4375353" cy="2506713"/>
          </a:xfrm>
          <a:prstGeom prst="rect">
            <a:avLst/>
          </a:prstGeom>
        </p:spPr>
      </p:pic>
      <p:cxnSp>
        <p:nvCxnSpPr>
          <p:cNvPr id="7" name="连接符: 曲线 6"/>
          <p:cNvCxnSpPr/>
          <p:nvPr/>
        </p:nvCxnSpPr>
        <p:spPr>
          <a:xfrm flipV="1">
            <a:off x="5420804" y="1519108"/>
            <a:ext cx="1572849" cy="542913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曲线 10"/>
          <p:cNvCxnSpPr/>
          <p:nvPr/>
        </p:nvCxnSpPr>
        <p:spPr>
          <a:xfrm>
            <a:off x="3557114" y="2770974"/>
            <a:ext cx="2619269" cy="2610219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/>
          <p:cNvCxnSpPr/>
          <p:nvPr/>
        </p:nvCxnSpPr>
        <p:spPr>
          <a:xfrm flipV="1">
            <a:off x="5409249" y="1537335"/>
            <a:ext cx="1572849" cy="542913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/>
          <p:cNvCxnSpPr/>
          <p:nvPr/>
        </p:nvCxnSpPr>
        <p:spPr>
          <a:xfrm>
            <a:off x="3545559" y="2789201"/>
            <a:ext cx="2619269" cy="2610219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基本结构 </a:t>
            </a:r>
            <a:r>
              <a:rPr lang="en-US" altLang="zh-CN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6"/>
            <a:ext cx="11353800" cy="4667251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源代码的文件名均以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".html"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为扩展名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&lt;html&gt;  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起始标签</a:t>
            </a:r>
            <a:endParaRPr lang="zh-CN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&lt;head&gt;  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起始标签</a:t>
            </a:r>
            <a:endParaRPr lang="zh-CN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&lt;meta charset="UTF-8"&gt;   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标签：文本的编码方式</a:t>
            </a:r>
            <a:endParaRPr lang="zh-CN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&lt;title&gt;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美好的一天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&lt;/title&gt;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标签：中间是网页的标题（名字）</a:t>
            </a:r>
            <a:endParaRPr lang="zh-CN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&lt;/head&gt;  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结束标签</a:t>
            </a:r>
            <a:endParaRPr lang="zh-CN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&lt;body&gt; 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body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起始标签</a:t>
            </a:r>
            <a:endParaRPr lang="zh-CN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计算器和时钟养成记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&lt;/h1&gt;  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标签：显示在网页中的文字</a:t>
            </a:r>
            <a:endParaRPr lang="zh-CN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&lt;/body&gt;  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body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结束标签</a:t>
            </a:r>
            <a:endParaRPr lang="zh-CN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&lt;/html&gt; 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结束标签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左大括号 4"/>
          <p:cNvSpPr/>
          <p:nvPr/>
        </p:nvSpPr>
        <p:spPr>
          <a:xfrm>
            <a:off x="1326381" y="3305908"/>
            <a:ext cx="418407" cy="1319881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-15763" y="3804123"/>
            <a:ext cx="1238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15763" y="5148500"/>
            <a:ext cx="1238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body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1326381" y="4837841"/>
            <a:ext cx="522515" cy="99020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485498" y="6492722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/blog1-1.html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对话气泡: 椭圆形 4"/>
          <p:cNvSpPr/>
          <p:nvPr/>
        </p:nvSpPr>
        <p:spPr>
          <a:xfrm>
            <a:off x="9748698" y="1690692"/>
            <a:ext cx="2214372" cy="1104275"/>
          </a:xfrm>
          <a:prstGeom prst="wedgeEllipseCallout">
            <a:avLst>
              <a:gd name="adj1" fmla="val -224537"/>
              <a:gd name="adj2" fmla="val 1307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utf-8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是一种汉字编码方式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91348" y="5635379"/>
            <a:ext cx="4871722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我们只需要在</a:t>
            </a:r>
            <a:r>
              <a:rPr lang="en-US" altLang="zh-CN" dirty="0"/>
              <a:t>&lt;body&gt;…&lt;/body&gt;</a:t>
            </a:r>
            <a:r>
              <a:rPr lang="zh-CN" altLang="en-US" dirty="0"/>
              <a:t>添加各种元素，就能完成一个</a:t>
            </a:r>
            <a:r>
              <a:rPr lang="en-US" altLang="zh-CN" dirty="0"/>
              <a:t>HTML</a:t>
            </a:r>
            <a:r>
              <a:rPr lang="zh-CN" altLang="en-US" dirty="0"/>
              <a:t>文档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实验安排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语法知识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网站与教程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W3C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https://html.spec.whatwg.org/multipage/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Firefox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的参考文档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https://developer.mozilla.org/en-US/docs/Web/HTML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菜鸟教程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https://www.runoob.com/html/html-tutorial.html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.pdf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语法知识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2" y="1617785"/>
            <a:ext cx="11169578" cy="516485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标记语言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是一种标记语言，它由一个个标签组成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&lt;html&gt;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&lt;/html&gt;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&lt;body&gt;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标签之间允许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：即一对标签之间可以定义另一对标签，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上例中，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&lt;html&gt;…&lt;/html&gt;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之间定义了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&lt;head&gt;…&lt;/head&gt;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&lt;body&gt;…&lt;/body&gt;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&lt;head&gt;…&lt;/head&gt;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之间定义了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&lt;meta&gt;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&lt;title&gt;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&lt;body&gt;…&lt;/body&gt;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之间定义了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&lt;h1&gt;…&lt;/h1&gt;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作为一种编程语言，常常包含对数字符号的各种操作；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只是用来指定一个网页上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显示什么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语法知识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4" y="1558155"/>
            <a:ext cx="11280107" cy="4799383"/>
          </a:xfrm>
        </p:spPr>
        <p:txBody>
          <a:bodyPr>
            <a:no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标签是一个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"&lt;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keyword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&gt;"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单词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&lt;html&gt;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大部分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都按照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keyword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&gt;…&lt;/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keyword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的模式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成对出现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&lt;h1&gt;…&lt;/h1&gt;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前面的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始标签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（开放标签），后面的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&lt;/h1&gt;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结束标签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（闭合标签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注意：以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开头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起始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标签可以带有属性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属性的值是用引号括起来的字符串，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其语法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下：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		&lt;h1 </a:t>
            </a:r>
            <a:r>
              <a:rPr lang="en-US" altLang="zh-CN" i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attribute_name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="…"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&gt;…&lt;/h1&gt;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"&lt;</a:t>
            </a:r>
            <a:r>
              <a:rPr lang="en-US" altLang="zh-CN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key_word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&gt;…&lt;/</a:t>
            </a:r>
            <a:r>
              <a:rPr lang="en-US" altLang="zh-CN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key_word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&gt;"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这一整体称为一个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48256" y="6172170"/>
            <a:ext cx="266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养成记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&lt;/h1&gt;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59045" y="5904935"/>
            <a:ext cx="2843560" cy="88125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5" idx="3"/>
          </p:cNvCxnSpPr>
          <p:nvPr/>
        </p:nvCxnSpPr>
        <p:spPr>
          <a:xfrm>
            <a:off x="6902605" y="6345563"/>
            <a:ext cx="1583478" cy="970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8490812" y="6308205"/>
            <a:ext cx="69338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>
            <a:stCxn id="14" idx="1"/>
          </p:cNvCxnSpPr>
          <p:nvPr/>
        </p:nvCxnSpPr>
        <p:spPr>
          <a:xfrm flipH="1">
            <a:off x="3194822" y="6349322"/>
            <a:ext cx="1042644" cy="933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15" idx="2"/>
          </p:cNvCxnSpPr>
          <p:nvPr/>
        </p:nvCxnSpPr>
        <p:spPr>
          <a:xfrm flipH="1">
            <a:off x="3194826" y="6541497"/>
            <a:ext cx="3145577" cy="446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529389" y="6332872"/>
            <a:ext cx="66070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37466" y="6164657"/>
            <a:ext cx="635620" cy="36933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22590" y="6172169"/>
            <a:ext cx="635620" cy="36933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10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838205" y="372276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语法知识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中的元素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5" y="1825634"/>
            <a:ext cx="10515601" cy="4351337"/>
          </a:xfrm>
        </p:spPr>
        <p:txBody>
          <a:bodyPr>
            <a:normAutofit/>
          </a:bodyPr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&lt;head&gt;…&lt;/head&gt;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一般都需要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&lt;meta&gt;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标签和一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&lt;title&gt;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，比如：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它们的含义为：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853324" y="5312692"/>
          <a:ext cx="8445708" cy="113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2854"/>
                <a:gridCol w="4222854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500" dirty="0"/>
                        <a:t>标签</a:t>
                      </a:r>
                      <a:endParaRPr lang="zh-CN" altLang="en-US" sz="15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en-US" sz="1500" dirty="0"/>
                        <a:t>含义</a:t>
                      </a:r>
                      <a:endParaRPr lang="zh-CN" altLang="en-US" sz="1500" dirty="0"/>
                    </a:p>
                  </a:txBody>
                  <a:tcPr marL="91441" marR="91441"/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lang="en-US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&lt;meta charset=</a:t>
                      </a:r>
                      <a:r>
                        <a:rPr lang="en-US" altLang="zh-CN" sz="1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UTF-8</a:t>
                      </a:r>
                      <a:r>
                        <a:rPr lang="en-US" altLang="zh-CN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&gt;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en-US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规定使用</a:t>
                      </a:r>
                      <a:r>
                        <a:rPr lang="en-US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utf-8</a:t>
                      </a:r>
                      <a:r>
                        <a:rPr lang="zh-CN" altLang="en-US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编码</a:t>
                      </a:r>
                      <a:endParaRPr lang="zh-CN" altLang="en-US" sz="19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41" marR="9144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&lt;title&gt;…&lt;/title&gt;</a:t>
                      </a:r>
                      <a:endParaRPr lang="zh-CN" altLang="en-US" sz="19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en-US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规定整个网页的标题</a:t>
                      </a:r>
                      <a:r>
                        <a:rPr lang="en-US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zh-CN" altLang="en-US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名字</a:t>
                      </a:r>
                      <a:r>
                        <a:rPr lang="en-US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altLang="en-US" sz="19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41" marR="91441"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107621" y="2762015"/>
            <a:ext cx="6096000" cy="16142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&lt;meta charset=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UTF-8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&lt;title&gt;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&lt;/title&gt;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559277" y="3913239"/>
            <a:ext cx="4129549" cy="55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695320" y="4140679"/>
            <a:ext cx="3166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中、英文、空格都可包含，多个连续空格会合并成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添加小标题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5" y="1576223"/>
            <a:ext cx="10515601" cy="4351337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王小二觉得要介绍自己的创建过程，他的文章要分为三个部分，取三个标题（显示在网页中），分别为：“发明前”，“发明中”和“发明后”。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使用以下知识：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2192158" y="3312557"/>
            <a:ext cx="5343985" cy="3143151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1" tIns="45720" rIns="91441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&lt;/h1&gt;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&lt;h2&gt;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&lt;/h2&gt;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&lt;h3&gt;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&lt;/h3&gt;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&lt;h4&gt;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&lt;/h4&gt;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&lt;h5&gt;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&lt;/h5&gt;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&lt;h6&gt;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&lt;/h6&gt;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5443358" y="3312555"/>
            <a:ext cx="12700" cy="2886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640477" y="3560207"/>
            <a:ext cx="615681" cy="23907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字体逐渐变小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70312" y="1366349"/>
            <a:ext cx="6096000" cy="452431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&lt;html&gt;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&lt;meta charset="UTF-8"&gt;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&lt;title&gt;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美好的一天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title&gt;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&lt;body&gt;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&lt;h1&gt;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计算器和时钟养成记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h1&gt;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&lt;h2&gt;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发明前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h2&gt;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&lt;h2&gt;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发明中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h2&gt;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&lt;h2&gt;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发明后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h2&gt;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&lt;/html&gt;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0315" y="615146"/>
            <a:ext cx="2793076" cy="52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代码：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66317" y="467528"/>
            <a:ext cx="1261884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144" y="1270752"/>
            <a:ext cx="4542871" cy="4298776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3857111" y="3557854"/>
            <a:ext cx="3370033" cy="64839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3676698" y="4257506"/>
            <a:ext cx="3550444" cy="32405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3676698" y="4957164"/>
            <a:ext cx="3550444" cy="1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497257" y="6246387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/blog1-2.html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添加自然段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段落、换行、水平线、注释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王小二在添加小标题之后，开始兴高采烈地着手写每一个小标题的下面的段落，并且希望每一个小段之间尽可能空开一些。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需要用到的知识如下：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86004" y="3268985"/>
            <a:ext cx="4555474" cy="2677656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p&gt;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&gt;）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水平线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（或者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注释：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&lt;!--</a:t>
            </a:r>
            <a:r>
              <a:rPr lang="zh-CN" altLang="en-US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注释内容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7185" y="1486195"/>
            <a:ext cx="6419132" cy="40950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&lt;body&gt;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&lt;h1&gt;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计算器和时钟养成记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h1&gt;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&lt;h2&gt;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发明前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在发明前，我也不知道自己能不能做成。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&lt;h2&gt;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发明中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过程中，查了好多资料，好累但很快乐。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&lt;h2&gt;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发明后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终于做好了，虽然很粗糙，那也是亲儿子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636" y="612376"/>
            <a:ext cx="3951317" cy="52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代码（只展示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body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59336" y="421720"/>
            <a:ext cx="1261884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4339" y="1064344"/>
            <a:ext cx="3648075" cy="518160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6629400" y="2628900"/>
            <a:ext cx="1034939" cy="38193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502229" y="2906486"/>
            <a:ext cx="6162110" cy="53884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2" idx="1"/>
          </p:cNvCxnSpPr>
          <p:nvPr/>
        </p:nvCxnSpPr>
        <p:spPr>
          <a:xfrm>
            <a:off x="1502229" y="3249386"/>
            <a:ext cx="6162110" cy="40575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664339" y="6399831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/blog1-3.html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添加名字和时间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文本格式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3" y="1825632"/>
            <a:ext cx="10201103" cy="4351337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王小二在添加段落之后，想要在自己的博客上添加名字和书写时间。名字希望斜体加粗并且上标一个小星星，时间希望是斜体。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需要用到的知识为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文本格式化标签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文本格式化标签通常是一对标签，这对标签指定了标签中间的文本的格式，例如：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23475" y="4475509"/>
            <a:ext cx="5705085" cy="183640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加粗：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&lt;b&gt;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加粗文本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&lt;/b&gt;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斜体：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斜体文本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上标：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&lt;sup&gt;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上标文本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&lt;/sup&gt;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下标：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&lt;sub&gt;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下标文本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&lt;/sub&gt;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l="481" t="1450" r="12835" b="32407"/>
          <a:stretch>
            <a:fillRect/>
          </a:stretch>
        </p:blipFill>
        <p:spPr>
          <a:xfrm>
            <a:off x="7963595" y="1172867"/>
            <a:ext cx="3994827" cy="486200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03268" y="1172864"/>
            <a:ext cx="7331001" cy="47109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&lt;body&gt;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&lt;h1&gt;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计算器和时钟养成记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h1&gt;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b&gt;&lt;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王小二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&gt;&lt;/b&gt; &lt;sup&gt;*&lt;/sup&gt;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&gt;2020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&lt;h2&gt;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发明前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&lt;p&gt;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在发明前，我也不知道自己能不能做成。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&lt;h2&gt;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发明中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&lt;p&gt;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过程中，查了好多资料，好累但很快乐。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&lt;h2&gt;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发明后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&lt;p&gt;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终于做好了，虽然很粗糙，那也是亲儿子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936" y="387547"/>
            <a:ext cx="3951317" cy="52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代码（只展示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body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63597" y="387548"/>
            <a:ext cx="1261884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716969" y="2163339"/>
            <a:ext cx="3246627" cy="9788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634268" y="6296961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.html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添加进度表 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5454" y="1640962"/>
            <a:ext cx="11084786" cy="4667251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王小二在添加完姓名和时间之后，开始回忆自己的创作过程，希望用一个表格的方式记录自己这几天干的事情。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需要用的知识如下：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用一对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&lt;table&gt;…&lt;/table&gt;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定义表格；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在这对标签中间，用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&gt;…&lt;/tr&gt;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在每一对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&gt;…&lt;/tr&gt;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之间，用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&lt;td&gt;…&lt;/td&gt;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在同一行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个单元格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&lt;td&gt;…&lt;/td&gt;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中间的文本就是显示在单元格中的内容。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endParaRPr lang="en-US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endParaRPr lang="en-US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95454" y="4687630"/>
            <a:ext cx="10713331" cy="2028761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&lt;table&gt;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&lt;td&gt;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(row0,col0)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&lt;/td&gt;&lt;td&gt;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(row0,col1)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&lt;/td&gt;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&lt;td&gt;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(row1,col0)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&lt;/td&gt;&lt;td&gt;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(row1,col1)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&lt;/td&gt;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8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&lt;/table&gt;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3585" y="1135724"/>
            <a:ext cx="7331001" cy="47109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&lt;table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border="1"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表：王小二艰难历程表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&lt;td&gt;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td&gt;&lt;td&gt;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感悟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&lt;/tr&gt;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&lt;tr&gt;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&lt;td&gt;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td&gt;&lt;td&gt;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一天没睡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&lt;/tr&gt;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&lt;tr&gt;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&lt;td&gt;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td&gt;&lt;td&gt;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还是没睡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&lt;/tr&gt;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&lt;tr&gt;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&lt;td&gt;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td&gt;&lt;td&gt;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香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&lt;/tr&gt;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&lt;/table&gt;</a:t>
            </a:r>
            <a:endParaRPr 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636" y="612376"/>
            <a:ext cx="3951317" cy="52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代码（发明中部分）：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64586" y="649158"/>
            <a:ext cx="1261884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r="20583" b="-2461"/>
          <a:stretch>
            <a:fillRect/>
          </a:stretch>
        </p:blipFill>
        <p:spPr>
          <a:xfrm>
            <a:off x="7671535" y="1533742"/>
            <a:ext cx="4295063" cy="4152169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2519680" y="1381760"/>
            <a:ext cx="2257364" cy="1226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777044" y="1286150"/>
            <a:ext cx="2637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表格框线条的粗细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96423" y="6308877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.html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198102" y="5061468"/>
            <a:ext cx="413018" cy="852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357120" y="5843415"/>
            <a:ext cx="6059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en-US" altLang="zh-CN" sz="2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【</a:t>
            </a:r>
            <a:r>
              <a:rPr lang="zh-CN" altLang="en-US" sz="2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下节课讲述</a:t>
            </a:r>
            <a:r>
              <a:rPr lang="en-US" altLang="zh-CN" sz="2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的缩写，下同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990605" y="517527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添加动机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有序列表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1" y="1864958"/>
            <a:ext cx="10380405" cy="50323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王小二在添加了创造过程后，突然发现“发明前”还没写，于是用一个有序列表讲了讲自己写网页的目的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有序列表用一对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&gt;…&lt;/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列表每一项用一对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&lt;li&gt;…&lt;/li&gt;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&lt;li&gt;…&lt;/li&gt;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中间的文本是显示在列表项中的内容，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有序列表在浏览器中显示时会自动出现序号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61668" y="4573242"/>
            <a:ext cx="4077132" cy="2028761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&lt;li&gt;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&lt;/li&gt;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&lt;li&gt;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&lt;/li&gt;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36723" y="6232671"/>
            <a:ext cx="381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注：列表其它样式见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.pdf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形标注 2"/>
          <p:cNvSpPr/>
          <p:nvPr/>
        </p:nvSpPr>
        <p:spPr>
          <a:xfrm>
            <a:off x="8826366" y="175566"/>
            <a:ext cx="2832244" cy="131635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把</a:t>
            </a:r>
            <a:r>
              <a:rPr lang="en-US" altLang="zh-CN" dirty="0"/>
              <a:t>&lt;</a:t>
            </a:r>
            <a:r>
              <a:rPr lang="en-US" altLang="zh-CN" dirty="0" err="1"/>
              <a:t>ol</a:t>
            </a:r>
            <a:r>
              <a:rPr lang="en-US" altLang="zh-CN" dirty="0"/>
              <a:t>&gt;</a:t>
            </a:r>
            <a:r>
              <a:rPr lang="zh-CN" altLang="en-US" dirty="0"/>
              <a:t>换成</a:t>
            </a:r>
            <a:r>
              <a:rPr lang="en-US" altLang="zh-CN" dirty="0"/>
              <a:t>&lt;</a:t>
            </a:r>
            <a:r>
              <a:rPr lang="en-US" altLang="zh-CN" dirty="0" err="1"/>
              <a:t>ul</a:t>
            </a:r>
            <a:r>
              <a:rPr lang="en-US" altLang="zh-CN" dirty="0"/>
              <a:t>&gt;</a:t>
            </a:r>
            <a:r>
              <a:rPr lang="zh-CN" altLang="en-US" dirty="0"/>
              <a:t>会定义无序列表（列表项前不显示序号）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6636" y="612376"/>
            <a:ext cx="3951317" cy="52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代码（发明前部分）：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61430" y="612376"/>
            <a:ext cx="1261884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6254" y="1684680"/>
            <a:ext cx="5378140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列表：王小二的动机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&lt;li&gt;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CSS&lt;/li&gt;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&lt;li&gt;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HTML&lt;/li&gt;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&lt;li&gt;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JS&lt;/li&gt;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&lt;li&gt;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写计算器和时钟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&lt;/li&gt;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&lt;/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9718" y="1070543"/>
            <a:ext cx="5391524" cy="39059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477128" y="6158984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/blog1-6.html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990605" y="517527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添加计算器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0" y="1825627"/>
            <a:ext cx="11353800" cy="4592612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王小二在添加了写网页的目的后，想在页面上显示计算器，于是用下面关于表单的知识设计了计算器的样子：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是由一对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&lt;form&gt;…&lt;/form&gt;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组成的元素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，在这对标签中间可以使用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定义各种各样的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表单元素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表单通常用来获取用户的输入，表单内的表单元素通常是文本框或者选项，用户可以在文本框输入文本或者选择选项。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990605" y="517527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添加计算器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表单元素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40559" y="1630487"/>
            <a:ext cx="11353800" cy="527526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各种表单元素使用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属性来区分：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35980" y="2408228"/>
          <a:ext cx="11720040" cy="3932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1"/>
                <a:gridCol w="6416519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表单元素的定义语法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  <a:tr h="822961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&lt;input type="text"&gt;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能输入文本的框，实时显示用户输入的文本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  <a:tr h="822961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&lt;input type="password"&gt;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en-US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用来输入</a:t>
                      </a:r>
                      <a:r>
                        <a:rPr lang="zh-CN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密码</a:t>
                      </a:r>
                      <a:r>
                        <a:rPr lang="zh-CN" altLang="en-US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的框</a:t>
                      </a:r>
                      <a:r>
                        <a:rPr lang="zh-CN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，将用户输入的字符显示为小圆点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  <a:tr h="822961">
                <a:tc>
                  <a:txBody>
                    <a:bodyPr/>
                    <a:lstStyle/>
                    <a:p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&lt;input type=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radio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name=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&gt;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zh-CN" sz="2400" b="0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单选框</a:t>
                      </a:r>
                      <a:r>
                        <a:rPr lang="zh-CN" altLang="en-US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，同一个表单多个中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name</a:t>
                      </a:r>
                      <a:r>
                        <a:rPr lang="zh-CN" altLang="en-US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属性相同的单选框只能选中一个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  <a:tr h="457201">
                <a:tc>
                  <a:txBody>
                    <a:bodyPr/>
                    <a:lstStyle/>
                    <a:p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&lt;input type=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checkbox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&gt;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复选框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  <a:tr h="549099">
                <a:tc>
                  <a:txBody>
                    <a:bodyPr/>
                    <a:lstStyle/>
                    <a:p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&lt;input type=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button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value=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&gt;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按钮（</a:t>
                      </a:r>
                      <a:r>
                        <a:rPr lang="en-US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altLang="zh-CN" sz="2400" b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属性的值为按钮上的文字）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6636" y="810655"/>
            <a:ext cx="3951317" cy="52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代码（发明后部分）：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23613" y="2071088"/>
            <a:ext cx="1261884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8783" y="1519559"/>
            <a:ext cx="6096000" cy="4403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计算器：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&lt;form&gt;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type="text"&gt;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type="text"&gt;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&lt;input type="radio"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="op"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type="radio"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name=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"op"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type="radio"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name=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type="radio"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name=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type="radio"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name=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type="password"&gt;&lt;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&lt;input type="button" value="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&lt;/form&gt;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001659" y="2594310"/>
            <a:ext cx="2572107" cy="547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5729289" y="3787957"/>
            <a:ext cx="1686275" cy="2101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5620218" y="4643813"/>
            <a:ext cx="1795347" cy="5570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/>
          <p:cNvSpPr txBox="1"/>
          <p:nvPr/>
        </p:nvSpPr>
        <p:spPr>
          <a:xfrm>
            <a:off x="7660511" y="5308363"/>
            <a:ext cx="4531497" cy="7571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1" tIns="45720" rIns="91441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注：现在只有计算器的样子，还没有定义功能。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r="9159"/>
          <a:stretch>
            <a:fillRect/>
          </a:stretch>
        </p:blipFill>
        <p:spPr>
          <a:xfrm>
            <a:off x="7573770" y="2567239"/>
            <a:ext cx="4483017" cy="2606524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V="1">
            <a:off x="4246818" y="1614991"/>
            <a:ext cx="639145" cy="14516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382003" y="564669"/>
            <a:ext cx="5347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&lt;form&gt;&lt;/form&gt;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中同样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属性的单选框是一组（只能选中其一）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623611" y="6261739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/blog1-7.html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990605" y="316806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语法知识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块级元素和内联元素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5" y="1441651"/>
            <a:ext cx="11181075" cy="552942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王小二正苦于不知道怎么写，不经意间发现了下面的知识。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在网页中，有的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元素可以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嵌入在某一行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比如文本格式化标签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组成的元素，具有这种性质的元素称为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内联元素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反之，像由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组成的元素那样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以新的一行开始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的元素，称为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块级元素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简单介绍如下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&lt;div&gt;…&lt;/div&gt;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个块级元素，无特殊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含义。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组合多个块级元素（一般网页比较复杂时可为网页分块），方便将来对多个元素进行整体操作。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&lt;span&gt;…&lt;/span&gt;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个内联元素，无特殊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含义。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组合多个行内元素或在某一行内嵌入元素，方便将来操作一行内的一部分。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838205" y="246035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进行代码分块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23904" y="1397005"/>
            <a:ext cx="10515601" cy="4351337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王小二正好觉得代码有点乱，层次不够清楚，于是使用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把代码里发明三阶段分块，这样代码变得好看得多。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5125" y="2451163"/>
            <a:ext cx="4247919" cy="378719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&lt;body&gt;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……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&lt;h2&gt;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发明前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&lt;/h2&gt;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……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&lt;/div&gt;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……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&lt;h2&gt;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发明后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&lt;/h2&gt;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……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&lt;/div&gt;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448303" y="3178178"/>
            <a:ext cx="5595939" cy="2193925"/>
          </a:xfrm>
          <a:prstGeom prst="rect">
            <a:avLst/>
          </a:prstGeom>
        </p:spPr>
        <p:txBody>
          <a:bodyPr vert="horz" lIns="91441" tIns="45720" rIns="91441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加上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后只是改变了代码的结构，网页并没有什么变化。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12557" y="5992297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/blog1-8.html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661990" y="34543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给计算器结果留位置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22076" y="1108428"/>
            <a:ext cx="11020425" cy="87120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王小二眉头一皱，发觉计算器没给计算结果留下位置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于是使用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&lt;span&gt;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&lt;form&gt;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里加上结果的位置。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0068" y="2083537"/>
            <a:ext cx="5698273" cy="40950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计算器：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&lt;form&gt;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type="text"&gt;&lt;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type="text"&gt;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&lt;input type="radio" name= "op"&gt;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type="radio" name= "op"&gt;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&lt;input type="password"&gt;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&lt;span&gt;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&lt;/span&gt;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/&gt;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&lt;input type="button" value="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&lt;/form&gt;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94570" y="2432244"/>
            <a:ext cx="1261884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412557" y="5992297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/blog1-9.html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67" y="2938908"/>
            <a:ext cx="4667251" cy="2238375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V="1">
            <a:off x="5341435" y="4783879"/>
            <a:ext cx="5006899" cy="4973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838205" y="272202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添加元素的样式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272741" y="1471968"/>
            <a:ext cx="11646520" cy="495032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王小二改完代码，开始思考怎样让自己的网页更漂亮，于是学习了下面有关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的知识：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Cascading Style Sheets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，层叠样式表）是一种用来指定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元素的样式（如：字体颜色、背景颜色）的语言，其语句具有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“名称：值；”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的形式，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文档有两种方法来加入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：直接在起始标签上定义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，属性的值是若干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&lt;p 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style="background-color: gold;"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一个金色背景的段落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&lt;/p&gt;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&lt;p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style="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color:red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一个红色字体的段落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&lt;/p&gt;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也可以同时规定不同方面的样式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&lt;h1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style="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color:blue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text-align:center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;"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一个蓝色字体、居中的标题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&lt;/h1&gt;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1293" y="5965907"/>
            <a:ext cx="10582507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语句中名称和值不能是随便一个字符串，而是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语法里有的字符串，除了例子里的字符串外，可以参考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.pdf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1002" y="2059221"/>
            <a:ext cx="11063966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&lt;h1 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style="background-color: gold;"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计算器和时钟养成记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&lt;/h1&gt;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&lt;b&gt;&lt;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style="color: purple;"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&gt;&lt;/b&gt; &lt;sup&gt;*&lt;/sup&gt;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style="color: purple;"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&gt;2020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19128" y="317501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给元素添加颜色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38864"/>
          <a:stretch>
            <a:fillRect/>
          </a:stretch>
        </p:blipFill>
        <p:spPr>
          <a:xfrm>
            <a:off x="1362572" y="3845740"/>
            <a:ext cx="4352924" cy="254472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0688" y="3722746"/>
            <a:ext cx="1261884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</a:rPr>
              <a:t>效果：</a:t>
            </a:r>
            <a:endParaRPr lang="en-US" sz="2800" b="1" dirty="0">
              <a:solidFill>
                <a:prstClr val="black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1575707" y="2473779"/>
            <a:ext cx="339934" cy="24166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2334986" y="2833007"/>
            <a:ext cx="573106" cy="31595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543300" y="3259550"/>
            <a:ext cx="623579" cy="26758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160145" y="6176963"/>
            <a:ext cx="4612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/blog1-10.html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715540" y="299341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添加元素的样式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15540" y="1468791"/>
            <a:ext cx="10906125" cy="50323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王小二觉得自己的网页还不够好看，想要把发明前、中、后各自美化一下，于是使用了下面的知识：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&lt;head&gt;…&lt;/head&gt;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中间定义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&lt;style&gt;…&lt;/style&gt;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内部是若干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 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color:red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;}	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规定某类标签的样式：所有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&lt;h1&gt;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元素字体为红色 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0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属性的值</a:t>
            </a:r>
            <a:r>
              <a:rPr lang="en-US" altLang="zh-CN" sz="20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color:green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;}	 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规定某个元素的样式：被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稍后讲述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指定的元素字体颜色为绿色 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属性的值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color:yellow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;} 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规定某“组”元素的样式：具有相同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稍后讲述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的元素字体颜色为黄色 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&lt;/style&gt;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94214" y="3672071"/>
            <a:ext cx="566481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选中一些元素，设定为花括号内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语句指定的样式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00150" y="4152912"/>
            <a:ext cx="514350" cy="3686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200150" y="4521522"/>
            <a:ext cx="1608364" cy="377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270907" y="5190166"/>
            <a:ext cx="1741714" cy="377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1714500" y="3910693"/>
            <a:ext cx="898071" cy="242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08514" y="4031802"/>
            <a:ext cx="595993" cy="601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3004457" y="4041403"/>
            <a:ext cx="563531" cy="1158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004893" y="317503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元素的通用属性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5" y="1643070"/>
            <a:ext cx="10515601" cy="499191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几乎所有的元素都可定义下面几种属性：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以上属性的语法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tag_name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attribute1_name=“…“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attribute2_name=“…“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&gt;…&lt;/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tag_name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24532" y="2460312"/>
          <a:ext cx="8942936" cy="2657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179"/>
                <a:gridCol w="7457757"/>
              </a:tblGrid>
              <a:tr h="458373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  <a:tr h="535715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元素的</a:t>
                      </a:r>
                      <a:r>
                        <a:rPr lang="zh-CN" altLang="en-US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标识</a:t>
                      </a:r>
                      <a:r>
                        <a:rPr lang="zh-CN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，不同元素需要不同</a:t>
                      </a:r>
                      <a:r>
                        <a:rPr lang="en-US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id</a:t>
                      </a:r>
                      <a:r>
                        <a:rPr lang="zh-CN" altLang="en-US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，可以是任意一个字符串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  <a:tr h="464740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name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en-US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元素的名称，可以是任意一个字符串</a:t>
                      </a:r>
                      <a:endParaRPr lang="zh-CN" altLang="en-US" sz="19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41" marR="91441"/>
                </a:tc>
              </a:tr>
              <a:tr h="734140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class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元素的类，一个元素可以有若干个类，不同元素可以有相同类</a:t>
                      </a:r>
                      <a:r>
                        <a:rPr lang="zh-CN" altLang="en-US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，可以是任意一个字符串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  <a:tr h="464740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style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zh-CN" altLang="zh-CN" sz="19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描述了元素的样式</a:t>
                      </a:r>
                      <a:endParaRPr lang="zh-CN" alt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41" marR="91441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7086" y="1643065"/>
            <a:ext cx="3853631" cy="452431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&lt;body&gt;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……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&lt;div 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id=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before"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……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&lt;/div&gt;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&lt;div 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id="during"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……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&lt;/div&gt;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&lt;div 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id="after"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……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&lt;/div&gt;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&lt;/body&gt;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004893" y="317503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给元素添加属性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5448303" y="3178178"/>
            <a:ext cx="5930897" cy="2193925"/>
          </a:xfrm>
          <a:prstGeom prst="rect">
            <a:avLst/>
          </a:prstGeom>
        </p:spPr>
        <p:txBody>
          <a:bodyPr vert="horz" lIns="91441" tIns="45720" rIns="91441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只是加上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属性不会改变网页的显示效果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但是可以被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&lt;style&gt;&lt;/style&gt;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中间的语句选中，来添加网页的样式。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83084" y="6195685"/>
            <a:ext cx="4612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/blog1-11.html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3812" y="1635065"/>
            <a:ext cx="5027553" cy="4403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#before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background-color: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skyblue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}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#during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background-color: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springgreen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}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#after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background-color: tomato;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}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h2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background-color: violet;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}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&lt;/style&gt;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423809" y="266460"/>
            <a:ext cx="10515601" cy="1325563"/>
          </a:xfrm>
          <a:prstGeom prst="rect">
            <a:avLst/>
          </a:prstGeom>
        </p:spPr>
        <p:txBody>
          <a:bodyPr vert="horz" lIns="91441" tIns="45720" rIns="91441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给元素添加颜色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49441" y="635196"/>
            <a:ext cx="1261884" cy="52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/>
          <p:cNvCxnSpPr>
            <a:endCxn id="13" idx="1"/>
          </p:cNvCxnSpPr>
          <p:nvPr/>
        </p:nvCxnSpPr>
        <p:spPr>
          <a:xfrm flipV="1">
            <a:off x="1918017" y="1745976"/>
            <a:ext cx="1617559" cy="1999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535576" y="1545855"/>
            <a:ext cx="3457575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中间不能有空格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26709" y="6340559"/>
            <a:ext cx="4612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/blog1-11.html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9441" y="1158544"/>
            <a:ext cx="4270185" cy="515741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120" y="164405"/>
            <a:ext cx="10515601" cy="1325563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Take home message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7120" y="1333853"/>
            <a:ext cx="10515601" cy="522306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实验环境：使用浏览器显示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2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怎样制作一个静态网页？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.html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文档的基本结构、标签、属性、元素</a:t>
            </a:r>
            <a:endParaRPr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2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文档的各种标签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常用标签：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&lt;h1&gt;-&lt;h6&gt;,&lt;</a:t>
            </a:r>
            <a:r>
              <a:rPr lang="en-US" altLang="zh-CN" sz="19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/&gt;,&lt;</a:t>
            </a:r>
            <a:r>
              <a:rPr lang="en-US" altLang="zh-CN" sz="19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/&gt;,&lt;p&gt;</a:t>
            </a:r>
            <a:endParaRPr lang="en-US" altLang="zh-CN" sz="1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文本格式化标签：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9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&gt;,&lt;b&gt;,&lt;sup&gt;,&lt;sub&gt;</a:t>
            </a:r>
            <a:endParaRPr lang="en-US" altLang="zh-CN" sz="1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列表：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9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&gt;,&lt;</a:t>
            </a:r>
            <a:r>
              <a:rPr lang="en-US" altLang="zh-CN" sz="19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&gt;,&lt;li&gt;</a:t>
            </a:r>
            <a:endParaRPr lang="en-US" altLang="zh-CN" sz="1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表格：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&lt;table&gt;,&lt;</a:t>
            </a:r>
            <a:r>
              <a:rPr lang="en-US" altLang="zh-CN" sz="19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&gt;,&lt;td&gt;</a:t>
            </a:r>
            <a:endParaRPr lang="en-US" altLang="zh-CN" sz="1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表单：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&lt;form&gt;,&lt;input type=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1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块级和内联元素：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&lt;div&gt;,&lt;span&gt;</a:t>
            </a:r>
            <a:endParaRPr lang="en-US" altLang="zh-CN" sz="1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样式（自学）：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en-US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1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5" y="365129"/>
            <a:ext cx="10515601" cy="1325563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课后练习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6" y="1825625"/>
            <a:ext cx="6117766" cy="3959158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复习本节课所讲的内容，制作一个和右图外表一样的网页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思考你的个人作品，设计你自己的网页的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，并尝试写出来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9441" y="1158544"/>
            <a:ext cx="4270185" cy="515741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26062" y="-80509"/>
            <a:ext cx="10515601" cy="1325563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课上练习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通用资源定位符（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58590" y="1068834"/>
            <a:ext cx="11065324" cy="5716977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通用资源定位符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(URL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Uniform Resource Locator) 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是一个特定的资源在万维网上的“名字”，即我们通常所说的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网址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，所有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可以构成一个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名字空间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000"/>
              </a:lnSpc>
              <a:spcBef>
                <a:spcPts val="24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我们可以在网页中添加图片、超链接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1000"/>
              </a:lnSpc>
              <a:spcBef>
                <a:spcPts val="24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图片：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（某个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）”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&gt;&lt;/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1000"/>
              </a:lnSpc>
              <a:spcBef>
                <a:spcPts val="24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超链接：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&lt;a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=“xxx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（某个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”&gt;…&lt;/a&gt;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000"/>
              </a:lnSpc>
              <a:spcBef>
                <a:spcPts val="24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已知一张图片的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1000"/>
              </a:lnSpc>
              <a:spcBef>
                <a:spcPts val="2400"/>
              </a:spcBef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://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teacher.solid.things.ac.cn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7243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/public/information_hiding/ucas.bmp</a:t>
            </a:r>
            <a:endParaRPr lang="en-US" altLang="zh-CN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000"/>
              </a:lnSpc>
              <a:spcBef>
                <a:spcPts val="24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000"/>
              </a:lnSpc>
              <a:spcBef>
                <a:spcPts val="24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写一个包含了这张图片的网页，并且点击图片可以跳转到本科教育网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000"/>
              </a:lnSpc>
              <a:spcBef>
                <a:spcPts val="24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思考：我们写的该网页是超文本吗？王小二写的网页是超文本吗？（实验报告）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1000"/>
              </a:lnSpc>
              <a:spcBef>
                <a:spcPts val="24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有关“超文本”的参考资料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ts val="1000"/>
              </a:lnSpc>
              <a:spcBef>
                <a:spcPts val="24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英文课本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hypertext”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、百度百科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https://baike.baidu.com/item/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超文本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/2832422?fr=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aladdin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1000"/>
              </a:lnSpc>
              <a:spcBef>
                <a:spcPts val="2400"/>
              </a:spcBef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r="18309" b="8822"/>
          <a:stretch>
            <a:fillRect/>
          </a:stretch>
        </p:blipFill>
        <p:spPr>
          <a:xfrm>
            <a:off x="7964866" y="2160225"/>
            <a:ext cx="2675823" cy="17711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1411043" y="4384164"/>
            <a:ext cx="75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82233" y="4384164"/>
            <a:ext cx="1535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服务器域名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62297" y="4384164"/>
            <a:ext cx="843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47456" y="4384164"/>
            <a:ext cx="2773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服务器上的路径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72" y="1690692"/>
            <a:ext cx="10555295" cy="2952329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Answer of exercise</a:t>
            </a:r>
            <a:endParaRPr lang="zh-CN" altLang="en-US" sz="3600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右箭头 5"/>
          <p:cNvSpPr/>
          <p:nvPr/>
        </p:nvSpPr>
        <p:spPr>
          <a:xfrm rot="16200000">
            <a:off x="4578775" y="4519502"/>
            <a:ext cx="1008582" cy="6780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Content Placeholder 2"/>
          <p:cNvSpPr txBox="1"/>
          <p:nvPr/>
        </p:nvSpPr>
        <p:spPr>
          <a:xfrm>
            <a:off x="4047611" y="5362840"/>
            <a:ext cx="3769033" cy="513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 hyperlink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（超链接）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38135" y="3404026"/>
            <a:ext cx="9215666" cy="77468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79eacc1d-ad11-4fc0-a832-84e326892a97}"/>
</p:tagLst>
</file>

<file path=ppt/tags/tag2.xml><?xml version="1.0" encoding="utf-8"?>
<p:tagLst xmlns:p="http://schemas.openxmlformats.org/presentationml/2006/main">
  <p:tag name="KSO_WM_UNIT_TABLE_BEAUTIFY" val="smartTable{d4db9ad4-ce26-4c84-b56d-ff5decd798f7}"/>
</p:tagLst>
</file>

<file path=ppt/tags/tag3.xml><?xml version="1.0" encoding="utf-8"?>
<p:tagLst xmlns:p="http://schemas.openxmlformats.org/presentationml/2006/main">
  <p:tag name="KSO_WM_UNIT_TABLE_BEAUTIFY" val="smartTable{2b992680-f15f-48b2-81a9-f40b474e4d2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9841</Words>
  <Application>WPS 演示</Application>
  <PresentationFormat>宽屏</PresentationFormat>
  <Paragraphs>791</Paragraphs>
  <Slides>50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4" baseType="lpstr">
      <vt:lpstr>Arial</vt:lpstr>
      <vt:lpstr>宋体</vt:lpstr>
      <vt:lpstr>Wingdings</vt:lpstr>
      <vt:lpstr>黑体</vt:lpstr>
      <vt:lpstr>楷体</vt:lpstr>
      <vt:lpstr>微软雅黑</vt:lpstr>
      <vt:lpstr>Calibri</vt:lpstr>
      <vt:lpstr>等线 Light</vt:lpstr>
      <vt:lpstr>等线</vt:lpstr>
      <vt:lpstr>Arial Unicode MS</vt:lpstr>
      <vt:lpstr>Arial Unicode MS</vt:lpstr>
      <vt:lpstr>Consolas</vt:lpstr>
      <vt:lpstr>Office 主题​​</vt:lpstr>
      <vt:lpstr>Office Theme</vt:lpstr>
      <vt:lpstr>个人作品实验-1</vt:lpstr>
      <vt:lpstr>课程安排</vt:lpstr>
      <vt:lpstr> Week 1  Make a Static Webpage  </vt:lpstr>
      <vt:lpstr>本节课制作：</vt:lpstr>
      <vt:lpstr>内容大纲</vt:lpstr>
      <vt:lpstr>内容大纲</vt:lpstr>
      <vt:lpstr>实验目标</vt:lpstr>
      <vt:lpstr>一些例子</vt:lpstr>
      <vt:lpstr>实验内容及评分标准</vt:lpstr>
      <vt:lpstr>作品提交</vt:lpstr>
      <vt:lpstr>实验安排 —课程安排</vt:lpstr>
      <vt:lpstr>内容大纲</vt:lpstr>
      <vt:lpstr>实验环境</vt:lpstr>
      <vt:lpstr>内容大纲</vt:lpstr>
      <vt:lpstr>HTML基本结构</vt:lpstr>
      <vt:lpstr>HTML基本结构 —例子</vt:lpstr>
      <vt:lpstr>PowerPoint 演示文稿</vt:lpstr>
      <vt:lpstr>PPT中代码</vt:lpstr>
      <vt:lpstr>HTML基本结构 —例子</vt:lpstr>
      <vt:lpstr>内容大纲</vt:lpstr>
      <vt:lpstr>HTML网站与教程</vt:lpstr>
      <vt:lpstr>HTML语法知识 —概述</vt:lpstr>
      <vt:lpstr>HTML语法知识 —基本概念</vt:lpstr>
      <vt:lpstr>PowerPoint 演示文稿</vt:lpstr>
      <vt:lpstr>添加小标题 —标题</vt:lpstr>
      <vt:lpstr>PowerPoint 演示文稿</vt:lpstr>
      <vt:lpstr>添加自然段 —段落、换行、水平线、注释</vt:lpstr>
      <vt:lpstr>PowerPoint 演示文稿</vt:lpstr>
      <vt:lpstr>添加名字和时间 —文本格式</vt:lpstr>
      <vt:lpstr>PowerPoint 演示文稿</vt:lpstr>
      <vt:lpstr>添加进度表 —表格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Take home message</vt:lpstr>
      <vt:lpstr>课后练习</vt:lpstr>
      <vt:lpstr>课上练习 —— 通用资源定位符（URL）</vt:lpstr>
      <vt:lpstr>Answer of exercise</vt:lpstr>
    </vt:vector>
  </TitlesOfParts>
  <Company>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实验示例</dc:title>
  <dc:creator>Horry Gou</dc:creator>
  <cp:lastModifiedBy>唐嘉良</cp:lastModifiedBy>
  <cp:revision>1318</cp:revision>
  <dcterms:created xsi:type="dcterms:W3CDTF">2020-02-24T08:18:00Z</dcterms:created>
  <dcterms:modified xsi:type="dcterms:W3CDTF">2021-06-27T18:17:35Z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53422025C8FA4776B1E737437C576D35</vt:lpwstr>
  </property>
  <property fmtid="{D5CDD505-2E9C-101B-9397-08002B2CF9AE}" pid="3" name="KSOProductBuildVer">
    <vt:lpwstr>2052-11.1.0.10578</vt:lpwstr>
  </property>
</Properties>
</file>