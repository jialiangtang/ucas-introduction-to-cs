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95" r:id="rId4"/>
    <p:sldId id="340" r:id="rId6"/>
    <p:sldId id="341" r:id="rId7"/>
    <p:sldId id="301" r:id="rId8"/>
    <p:sldId id="330" r:id="rId9"/>
    <p:sldId id="258" r:id="rId10"/>
    <p:sldId id="332" r:id="rId11"/>
    <p:sldId id="318" r:id="rId12"/>
    <p:sldId id="320" r:id="rId13"/>
    <p:sldId id="333" r:id="rId14"/>
    <p:sldId id="264" r:id="rId15"/>
    <p:sldId id="266" r:id="rId16"/>
    <p:sldId id="267" r:id="rId17"/>
    <p:sldId id="342" r:id="rId18"/>
    <p:sldId id="281" r:id="rId19"/>
    <p:sldId id="334" r:id="rId20"/>
    <p:sldId id="321" r:id="rId21"/>
    <p:sldId id="322" r:id="rId22"/>
    <p:sldId id="323" r:id="rId23"/>
    <p:sldId id="324" r:id="rId24"/>
    <p:sldId id="338" r:id="rId25"/>
    <p:sldId id="339" r:id="rId26"/>
    <p:sldId id="335" r:id="rId27"/>
    <p:sldId id="280" r:id="rId28"/>
    <p:sldId id="284" r:id="rId29"/>
    <p:sldId id="336" r:id="rId30"/>
    <p:sldId id="343" r:id="rId31"/>
    <p:sldId id="309" r:id="rId32"/>
    <p:sldId id="327" r:id="rId33"/>
    <p:sldId id="337" r:id="rId34"/>
    <p:sldId id="313" r:id="rId35"/>
    <p:sldId id="299" r:id="rId36"/>
    <p:sldId id="298" r:id="rId37"/>
    <p:sldId id="292" r:id="rId38"/>
    <p:sldId id="275" r:id="rId39"/>
    <p:sldId id="345" r:id="rId40"/>
    <p:sldId id="346" r:id="rId41"/>
    <p:sldId id="347" r:id="rId42"/>
    <p:sldId id="348" r:id="rId43"/>
    <p:sldId id="349" r:id="rId44"/>
    <p:sldId id="353" r:id="rId45"/>
    <p:sldId id="350" r:id="rId46"/>
    <p:sldId id="351" r:id="rId47"/>
    <p:sldId id="352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len tian" initials="ht" lastIdx="2" clrIdx="0"/>
  <p:cmAuthor id="2" name="Yin Tang" initials="YT" lastIdx="3" clrIdx="1"/>
  <p:cmAuthor id="3" name="Horry Gou" initials="HG" lastIdx="18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9" autoAdjust="0"/>
    <p:restoredTop sz="93963" autoAdjust="0"/>
  </p:normalViewPr>
  <p:slideViewPr>
    <p:cSldViewPr snapToGrid="0">
      <p:cViewPr varScale="1">
        <p:scale>
          <a:sx n="65" d="100"/>
          <a:sy n="65" d="100"/>
        </p:scale>
        <p:origin x="6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2" Type="http://schemas.openxmlformats.org/officeDocument/2006/relationships/commentAuthors" Target="commentAuthors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294F2-71EB-430F-BD37-C94B112A633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大家好，欢迎来到计算机科学导论的实验课，我是</a:t>
            </a:r>
            <a:r>
              <a:rPr lang="en-US" altLang="zh-CN" dirty="0" smtClean="0"/>
              <a:t>XXX</a:t>
            </a:r>
            <a:r>
              <a:rPr lang="zh-CN" altLang="en-US" dirty="0" smtClean="0"/>
              <a:t>，我们今天开始讲个人作品实验最后一次课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上节课我们讲到王小二已经成功读取了计算器的操作数，这节课我们将会看到王小二如何写完自己的博客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EB4D858-9D6B-43A8-9E5A-AD6FB330B7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B919110-6856-4A64-9A7D-D40C491B9A44}" type="slidenum">
              <a:rPr lang="en-US" altLang="zh-CN"/>
            </a:fld>
            <a:endParaRPr lang="en-US" altLang="zh-CN"/>
          </a:p>
        </p:txBody>
      </p:sp>
      <p:sp>
        <p:nvSpPr>
          <p:cNvPr id="4833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4E1A39FF-2C30-45B6-8F91-645ED773424D}" type="slidenum">
              <a:rPr lang="en-US" altLang="zh-CN" sz="1200"/>
            </a:fld>
            <a:endParaRPr lang="en-US" altLang="zh-CN" sz="1200"/>
          </a:p>
        </p:txBody>
      </p:sp>
      <p:sp>
        <p:nvSpPr>
          <p:cNvPr id="483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483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，略加解释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，略加解释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，略加解释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JS</a:t>
            </a:r>
            <a:r>
              <a:rPr lang="zh-CN" altLang="en-US" dirty="0" smtClean="0"/>
              <a:t>变量：强调不需要声明类型</a:t>
            </a:r>
            <a:endParaRPr lang="en-US" altLang="zh-CN" dirty="0" smtClean="0"/>
          </a:p>
          <a:p>
            <a:r>
              <a:rPr lang="en-US" altLang="zh-CN" dirty="0" smtClean="0"/>
              <a:t>JS</a:t>
            </a:r>
            <a:r>
              <a:rPr lang="zh-CN" altLang="en-US" dirty="0" smtClean="0"/>
              <a:t>函数：参数和返回值不需要声明类型，且只能返回一个值</a:t>
            </a:r>
            <a:endParaRPr lang="en-US" altLang="zh-CN" dirty="0" smtClean="0"/>
          </a:p>
          <a:p>
            <a:r>
              <a:rPr lang="en-US" altLang="zh-CN" dirty="0" smtClean="0"/>
              <a:t>JS</a:t>
            </a:r>
            <a:r>
              <a:rPr lang="zh-CN" altLang="en-US" dirty="0" smtClean="0"/>
              <a:t>表达式：强调除法和</a:t>
            </a:r>
            <a:r>
              <a:rPr lang="en-US" altLang="zh-CN" dirty="0" smtClean="0"/>
              <a:t>Go</a:t>
            </a:r>
            <a:r>
              <a:rPr lang="zh-CN" altLang="en-US" dirty="0" smtClean="0"/>
              <a:t>的不同</a:t>
            </a:r>
            <a:endParaRPr lang="en-US" altLang="zh-CN" dirty="0" smtClean="0"/>
          </a:p>
          <a:p>
            <a:r>
              <a:rPr lang="en-US" altLang="zh-CN" dirty="0" smtClean="0"/>
              <a:t>JS</a:t>
            </a:r>
            <a:r>
              <a:rPr lang="zh-CN" altLang="en-US" dirty="0" smtClean="0"/>
              <a:t>对象：</a:t>
            </a:r>
            <a:r>
              <a:rPr lang="en-US" altLang="zh-CN" dirty="0" smtClean="0"/>
              <a:t>Date</a:t>
            </a:r>
            <a:r>
              <a:rPr lang="zh-CN" altLang="en-US" dirty="0" smtClean="0"/>
              <a:t>对象和</a:t>
            </a:r>
            <a:r>
              <a:rPr lang="en-US" altLang="zh-CN" dirty="0" smtClean="0"/>
              <a:t>Array</a:t>
            </a:r>
            <a:r>
              <a:rPr lang="zh-CN" altLang="en-US" dirty="0" smtClean="0"/>
              <a:t>对象我们需要掌握如何创建以及如何使用它们的属性和方法；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对象我们指定如何获取、如何修改属性以达到修改网页内容的目的</a:t>
            </a:r>
            <a:endParaRPr lang="en-US" altLang="zh-CN" dirty="0" smtClean="0"/>
          </a:p>
          <a:p>
            <a:r>
              <a:rPr lang="en-US" altLang="zh-CN" dirty="0" smtClean="0"/>
              <a:t>JS</a:t>
            </a:r>
            <a:r>
              <a:rPr lang="zh-CN" altLang="en-US" dirty="0" smtClean="0"/>
              <a:t>响应事件：我们要知道用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配合</a:t>
            </a:r>
            <a:r>
              <a:rPr lang="en-US" altLang="zh-CN" dirty="0" smtClean="0"/>
              <a:t>JavaScript</a:t>
            </a:r>
            <a:r>
              <a:rPr lang="zh-CN" altLang="en-US" dirty="0" smtClean="0"/>
              <a:t>来响应事件，比如，在一个按钮上添加</a:t>
            </a:r>
            <a:r>
              <a:rPr lang="en-US" altLang="zh-CN" dirty="0" err="1" smtClean="0"/>
              <a:t>onclick</a:t>
            </a:r>
            <a:r>
              <a:rPr lang="zh-CN" altLang="en-US" dirty="0" smtClean="0"/>
              <a:t>属性，属性的值是一段</a:t>
            </a:r>
            <a:r>
              <a:rPr lang="en-US" altLang="zh-CN" dirty="0" smtClean="0"/>
              <a:t>JS</a:t>
            </a:r>
            <a:r>
              <a:rPr lang="zh-CN" altLang="en-US" dirty="0" smtClean="0"/>
              <a:t>代码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，略加解释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读王小二</a:t>
            </a:r>
            <a:endParaRPr lang="en-US" altLang="zh-CN" dirty="0" smtClean="0"/>
          </a:p>
          <a:p>
            <a:r>
              <a:rPr lang="en-US" altLang="zh-CN" dirty="0" smtClean="0"/>
              <a:t>Date</a:t>
            </a:r>
            <a:r>
              <a:rPr lang="zh-CN" altLang="en-US" dirty="0" smtClean="0"/>
              <a:t>对象也是我们所学习的第一个</a:t>
            </a:r>
            <a:r>
              <a:rPr lang="en-US" altLang="zh-CN" dirty="0" smtClean="0"/>
              <a:t>JavaScript</a:t>
            </a:r>
            <a:r>
              <a:rPr lang="zh-CN" altLang="en-US" dirty="0" smtClean="0"/>
              <a:t>的对象，</a:t>
            </a:r>
            <a:r>
              <a:rPr lang="en-US" altLang="zh-CN" dirty="0" smtClean="0"/>
              <a:t>Date</a:t>
            </a:r>
            <a:r>
              <a:rPr lang="zh-CN" altLang="en-US" dirty="0" smtClean="0"/>
              <a:t>对象表示一个时间</a:t>
            </a:r>
            <a:endParaRPr lang="en-US" altLang="zh-CN" dirty="0" smtClean="0"/>
          </a:p>
          <a:p>
            <a:r>
              <a:rPr lang="zh-CN" altLang="en-US" dirty="0" smtClean="0"/>
              <a:t>首先：我们来学习怎样创建一个</a:t>
            </a:r>
            <a:r>
              <a:rPr lang="en-US" altLang="zh-CN" dirty="0" smtClean="0"/>
              <a:t>Date</a:t>
            </a:r>
            <a:r>
              <a:rPr lang="zh-CN" altLang="en-US" dirty="0" smtClean="0"/>
              <a:t>对象：</a:t>
            </a:r>
            <a:endParaRPr lang="en-US" altLang="zh-CN" dirty="0" smtClean="0"/>
          </a:p>
          <a:p>
            <a:r>
              <a:rPr lang="zh-CN" altLang="en-US" dirty="0" smtClean="0"/>
              <a:t>我们在这里先声明一个</a:t>
            </a:r>
            <a:r>
              <a:rPr lang="en-US" altLang="zh-CN" dirty="0" smtClean="0"/>
              <a:t>date</a:t>
            </a:r>
            <a:r>
              <a:rPr lang="zh-CN" altLang="en-US" dirty="0" smtClean="0"/>
              <a:t>变量，用来存放创建的</a:t>
            </a:r>
            <a:r>
              <a:rPr lang="en-US" altLang="zh-CN" dirty="0" smtClean="0"/>
              <a:t>Date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r>
              <a:rPr lang="zh-CN" altLang="en-US" dirty="0" smtClean="0"/>
              <a:t>然后使用</a:t>
            </a:r>
            <a:r>
              <a:rPr lang="en-US" altLang="zh-CN" dirty="0" smtClean="0"/>
              <a:t>new Date();</a:t>
            </a:r>
            <a:r>
              <a:rPr lang="zh-CN" altLang="en-US" dirty="0" smtClean="0"/>
              <a:t>这一句创建一个对象，大家可以把</a:t>
            </a:r>
            <a:r>
              <a:rPr lang="en-US" altLang="zh-CN" dirty="0" smtClean="0"/>
              <a:t>Date()</a:t>
            </a:r>
            <a:r>
              <a:rPr lang="zh-CN" altLang="en-US" dirty="0" smtClean="0"/>
              <a:t>理解成专门用于创建对象的一个函数，并且只有前面带有</a:t>
            </a:r>
            <a:r>
              <a:rPr lang="en-US" altLang="zh-CN" dirty="0" smtClean="0"/>
              <a:t>new</a:t>
            </a:r>
            <a:r>
              <a:rPr lang="zh-CN" altLang="en-US" dirty="0" smtClean="0"/>
              <a:t>的时候才能返回所创建的对象</a:t>
            </a:r>
            <a:endParaRPr lang="en-US" altLang="zh-CN" dirty="0" smtClean="0"/>
          </a:p>
          <a:p>
            <a:r>
              <a:rPr lang="zh-CN" altLang="en-US" dirty="0" smtClean="0"/>
              <a:t>我们创建完</a:t>
            </a:r>
            <a:r>
              <a:rPr lang="en-US" altLang="zh-CN" dirty="0" smtClean="0"/>
              <a:t>Date</a:t>
            </a:r>
            <a:r>
              <a:rPr lang="zh-CN" altLang="en-US" dirty="0" smtClean="0"/>
              <a:t>对象并把这个对象存到了</a:t>
            </a:r>
            <a:r>
              <a:rPr lang="en-US" altLang="zh-CN" dirty="0" smtClean="0"/>
              <a:t>date</a:t>
            </a:r>
            <a:r>
              <a:rPr lang="zh-CN" altLang="en-US" dirty="0" smtClean="0"/>
              <a:t>变量里，我们就可以用</a:t>
            </a:r>
            <a:r>
              <a:rPr lang="en-US" altLang="zh-CN" dirty="0" smtClean="0"/>
              <a:t>date</a:t>
            </a:r>
            <a:r>
              <a:rPr lang="zh-CN" altLang="en-US" dirty="0" smtClean="0"/>
              <a:t>变量来访问这个对象的方法了</a:t>
            </a:r>
            <a:endParaRPr lang="en-US" altLang="zh-CN" dirty="0" smtClean="0"/>
          </a:p>
          <a:p>
            <a:r>
              <a:rPr lang="zh-CN" altLang="en-US" dirty="0" smtClean="0"/>
              <a:t>然后：</a:t>
            </a:r>
            <a:r>
              <a:rPr lang="en-US" altLang="zh-CN" dirty="0" smtClean="0"/>
              <a:t>Date</a:t>
            </a:r>
            <a:r>
              <a:rPr lang="zh-CN" altLang="en-US" dirty="0" smtClean="0"/>
              <a:t>常用的就是下面的这些方法：</a:t>
            </a:r>
            <a:endParaRPr lang="en-US" altLang="zh-CN" dirty="0" smtClean="0"/>
          </a:p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9F856-2694-47A1-8D60-4EDBF5A312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添加代码，展示效果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E9F856-2694-47A1-8D60-4EDBF5A312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，略加解释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，解释</a:t>
            </a:r>
            <a:r>
              <a:rPr lang="en-US" altLang="zh-CN" dirty="0" smtClean="0"/>
              <a:t>switch-case</a:t>
            </a:r>
            <a:r>
              <a:rPr lang="zh-CN" altLang="en-US" dirty="0" smtClean="0"/>
              <a:t>语句</a:t>
            </a:r>
            <a:endParaRPr lang="en-US" altLang="zh-CN" dirty="0" smtClean="0"/>
          </a:p>
          <a:p>
            <a:r>
              <a:rPr lang="en-US" altLang="zh-CN" dirty="0" smtClean="0"/>
              <a:t>(click)</a:t>
            </a:r>
            <a:endParaRPr lang="en-US" altLang="zh-CN" dirty="0" smtClean="0"/>
          </a:p>
          <a:p>
            <a:r>
              <a:rPr lang="zh-CN" altLang="en-US" dirty="0" smtClean="0"/>
              <a:t>提醒加</a:t>
            </a:r>
            <a:r>
              <a:rPr lang="en-US" altLang="zh-CN" dirty="0" smtClean="0"/>
              <a:t>break</a:t>
            </a:r>
            <a:endParaRPr lang="en-US" altLang="zh-CN" dirty="0" smtClean="0"/>
          </a:p>
          <a:p>
            <a:r>
              <a:rPr lang="en-US" altLang="zh-CN" dirty="0" smtClean="0"/>
              <a:t>Go</a:t>
            </a:r>
            <a:r>
              <a:rPr lang="zh-CN" altLang="en-US" dirty="0"/>
              <a:t>里好像没学过</a:t>
            </a:r>
            <a:r>
              <a:rPr lang="en-US" altLang="zh-CN" dirty="0"/>
              <a:t>switch-case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之后再在</a:t>
            </a:r>
            <a:r>
              <a:rPr lang="en-US" altLang="zh-CN" dirty="0"/>
              <a:t>&lt;p&gt;</a:t>
            </a:r>
            <a:r>
              <a:rPr lang="zh-CN" altLang="en-US" dirty="0"/>
              <a:t>里加上即</a:t>
            </a:r>
            <a:r>
              <a:rPr lang="zh-CN" altLang="en-US" dirty="0" smtClean="0"/>
              <a:t>可</a:t>
            </a:r>
            <a:endParaRPr lang="en-US" altLang="zh-CN" dirty="0" smtClean="0"/>
          </a:p>
          <a:p>
            <a:r>
              <a:rPr lang="zh-CN" altLang="en-US" dirty="0" smtClean="0"/>
              <a:t>（图片里没有放操纵</a:t>
            </a:r>
            <a:r>
              <a:rPr lang="en-US" altLang="zh-CN" dirty="0" smtClean="0"/>
              <a:t>&lt;p&gt;</a:t>
            </a:r>
            <a:r>
              <a:rPr lang="zh-CN" altLang="en-US" dirty="0" smtClean="0"/>
              <a:t>里文本的代码，自己加上）</a:t>
            </a:r>
            <a:endParaRPr lang="en-US" altLang="zh-CN" dirty="0" smtClean="0"/>
          </a:p>
          <a:p>
            <a:r>
              <a:rPr lang="zh-CN" altLang="en-US" dirty="0" smtClean="0"/>
              <a:t>加代码，看效果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提示和</a:t>
            </a:r>
            <a:r>
              <a:rPr lang="en-US" altLang="zh-CN" dirty="0" smtClean="0"/>
              <a:t>Go</a:t>
            </a:r>
            <a:r>
              <a:rPr lang="zh-CN" altLang="en-US" dirty="0" smtClean="0"/>
              <a:t>里语法上的不同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加代码，看效果</a:t>
            </a:r>
            <a:endParaRPr lang="en-US" altLang="zh-CN" dirty="0" smtClean="0"/>
          </a:p>
          <a:p>
            <a:r>
              <a:rPr lang="zh-CN" altLang="en-US" dirty="0" smtClean="0"/>
              <a:t>提醒大家代表</a:t>
            </a:r>
            <a:r>
              <a:rPr lang="en-US" altLang="zh-CN" dirty="0" smtClean="0"/>
              <a:t>input</a:t>
            </a:r>
            <a:r>
              <a:rPr lang="zh-CN" altLang="en-US" dirty="0" smtClean="0"/>
              <a:t>元素的对象有一个</a:t>
            </a:r>
            <a:r>
              <a:rPr lang="en-US" altLang="zh-CN" dirty="0" smtClean="0"/>
              <a:t>value</a:t>
            </a:r>
            <a:r>
              <a:rPr lang="zh-CN" altLang="en-US" dirty="0" smtClean="0"/>
              <a:t>属性</a:t>
            </a:r>
            <a:endParaRPr lang="en-US" altLang="zh-CN" dirty="0" smtClean="0"/>
          </a:p>
          <a:p>
            <a:r>
              <a:rPr lang="zh-CN" altLang="en-US" dirty="0" smtClean="0"/>
              <a:t>密码</a:t>
            </a:r>
            <a:r>
              <a:rPr lang="zh-CN" altLang="en-US" dirty="0"/>
              <a:t>正确就计算，否则弹出提示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加代码，看效果</a:t>
            </a:r>
            <a:endParaRPr lang="en-US" altLang="zh-CN" dirty="0" smtClean="0"/>
          </a:p>
          <a:p>
            <a:r>
              <a:rPr lang="zh-CN" altLang="en-US" dirty="0" smtClean="0"/>
              <a:t>提醒大家代表</a:t>
            </a:r>
            <a:r>
              <a:rPr lang="en-US" altLang="zh-CN" dirty="0" smtClean="0"/>
              <a:t>input</a:t>
            </a:r>
            <a:r>
              <a:rPr lang="zh-CN" altLang="en-US" dirty="0" smtClean="0"/>
              <a:t>元素的对象有一个</a:t>
            </a:r>
            <a:r>
              <a:rPr lang="en-US" altLang="zh-CN" dirty="0" smtClean="0"/>
              <a:t>value</a:t>
            </a:r>
            <a:r>
              <a:rPr lang="zh-CN" altLang="en-US" dirty="0" smtClean="0"/>
              <a:t>属性</a:t>
            </a:r>
            <a:endParaRPr lang="en-US" altLang="zh-CN" dirty="0" smtClean="0"/>
          </a:p>
          <a:p>
            <a:r>
              <a:rPr lang="zh-CN" altLang="en-US" dirty="0" smtClean="0"/>
              <a:t>密码</a:t>
            </a:r>
            <a:r>
              <a:rPr lang="zh-CN" altLang="en-US" dirty="0"/>
              <a:t>正确就计算，否则弹出提示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，略加解释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那么我们怎样让时钟动起来呢？我们可以把原来的打印时间的那部分代码放到一个程序里，每</a:t>
            </a:r>
            <a:r>
              <a:rPr lang="en-US" altLang="zh-CN" dirty="0" smtClean="0"/>
              <a:t>1000ms</a:t>
            </a:r>
            <a:r>
              <a:rPr lang="zh-CN" altLang="en-US" dirty="0" smtClean="0"/>
              <a:t>就调用一遍这个函数</a:t>
            </a:r>
            <a:endParaRPr lang="en-US" altLang="zh-CN" dirty="0" smtClean="0"/>
          </a:p>
          <a:p>
            <a:r>
              <a:rPr lang="zh-CN" altLang="en-US" dirty="0" smtClean="0"/>
              <a:t>加代码，看效果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写代码，看效果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把引用传递解释为传递地址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写代码，看效果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写代码，看效果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，略加解释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现场</a:t>
            </a:r>
            <a:r>
              <a:rPr lang="zh-CN" altLang="en-US" dirty="0"/>
              <a:t>演示</a:t>
            </a:r>
            <a:endParaRPr lang="en-US" altLang="zh-CN" dirty="0"/>
          </a:p>
          <a:p>
            <a:r>
              <a:rPr lang="zh-CN" altLang="en-US" dirty="0"/>
              <a:t>控制台应该会很详细地打印这个对象，可以看它的属性和方法。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其实我们对一个模式的对象也可以这样做</a:t>
            </a:r>
            <a:endParaRPr lang="en-US" altLang="zh-CN" dirty="0" smtClean="0"/>
          </a:p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en-US" altLang="zh-CN" dirty="0" smtClean="0"/>
          </a:p>
          <a:p>
            <a:r>
              <a:rPr lang="zh-CN" altLang="en-US" dirty="0" smtClean="0"/>
              <a:t>但是</a:t>
            </a:r>
            <a:r>
              <a:rPr lang="en-US" altLang="zh-CN" dirty="0" smtClean="0"/>
              <a:t>console.log</a:t>
            </a:r>
            <a:r>
              <a:rPr lang="zh-CN" altLang="en-US" dirty="0" smtClean="0"/>
              <a:t>打印出的东西可能会很多，所以仅仅是个辅助工具，有不明白的首选百度搜素，还是不明白可以提问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55259F2-FC60-4146-A39E-AC99610852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，略加解释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r>
              <a:rPr lang="zh-CN" altLang="en-US" dirty="0" smtClean="0"/>
              <a:t>，略加解释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我们这次实验没有课堂报告部分，所以只需要提交实验代码和实验报告</a:t>
            </a:r>
            <a:endParaRPr lang="en-US" altLang="zh-CN" dirty="0" smtClean="0"/>
          </a:p>
          <a:p>
            <a:r>
              <a:rPr lang="zh-CN" altLang="en-US" dirty="0" smtClean="0"/>
              <a:t>关于这次实验的评分，我们添加了一个</a:t>
            </a:r>
            <a:r>
              <a:rPr lang="zh-CN" altLang="en-US" b="1" dirty="0" smtClean="0"/>
              <a:t>匿名投票</a:t>
            </a:r>
            <a:r>
              <a:rPr lang="zh-CN" altLang="en-US" dirty="0" smtClean="0"/>
              <a:t>环节，就是在代码提交截止后，大家需要在我们的</a:t>
            </a:r>
            <a:r>
              <a:rPr lang="en-US" altLang="zh-CN" dirty="0" smtClean="0"/>
              <a:t>SOLID</a:t>
            </a:r>
            <a:r>
              <a:rPr lang="zh-CN" altLang="en-US" dirty="0" smtClean="0"/>
              <a:t>教学平台上进行匿名投票</a:t>
            </a:r>
            <a:endParaRPr lang="en-US" altLang="zh-CN" dirty="0" smtClean="0"/>
          </a:p>
          <a:p>
            <a:r>
              <a:rPr lang="zh-CN" altLang="en-US" dirty="0" smtClean="0"/>
              <a:t>投票打分：</a:t>
            </a:r>
            <a:r>
              <a:rPr lang="en-US" altLang="zh-CN" dirty="0" smtClean="0"/>
              <a:t>10</a:t>
            </a:r>
            <a:r>
              <a:rPr lang="zh-CN" altLang="en-US" dirty="0" smtClean="0"/>
              <a:t>个作品里每一个</a:t>
            </a:r>
            <a:r>
              <a:rPr lang="en-US" altLang="zh-CN" dirty="0" smtClean="0"/>
              <a:t>4</a:t>
            </a:r>
            <a:r>
              <a:rPr lang="zh-CN" altLang="en-US" dirty="0" smtClean="0"/>
              <a:t>分，至少一个优点和一个缺点，只要评语说得不是假大空而且说得对，每点得</a:t>
            </a:r>
            <a:r>
              <a:rPr lang="en-US" altLang="zh-CN" dirty="0" smtClean="0"/>
              <a:t>2</a:t>
            </a:r>
            <a:r>
              <a:rPr lang="zh-CN" altLang="en-US" dirty="0" smtClean="0"/>
              <a:t>分（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分最高）；否则，这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分拿不到。</a:t>
            </a:r>
            <a:endParaRPr lang="en-US" altLang="zh-CN" dirty="0" smtClean="0"/>
          </a:p>
          <a:p>
            <a:r>
              <a:rPr lang="zh-CN" altLang="en-US" dirty="0" smtClean="0"/>
              <a:t>可以找一个优点，加</a:t>
            </a:r>
            <a:r>
              <a:rPr lang="en-US" altLang="zh-CN" dirty="0" smtClean="0"/>
              <a:t>5</a:t>
            </a:r>
            <a:r>
              <a:rPr lang="zh-CN" altLang="en-US" dirty="0" smtClean="0"/>
              <a:t>分，找一个缺点，减</a:t>
            </a:r>
            <a:r>
              <a:rPr lang="en-US" altLang="zh-CN" dirty="0" smtClean="0"/>
              <a:t>5</a:t>
            </a:r>
            <a:r>
              <a:rPr lang="zh-CN" altLang="en-US" dirty="0" smtClean="0"/>
              <a:t>分，</a:t>
            </a:r>
            <a:r>
              <a:rPr lang="en-US" altLang="zh-CN" dirty="0" smtClean="0"/>
              <a:t>20</a:t>
            </a:r>
            <a:r>
              <a:rPr lang="zh-CN" altLang="en-US" dirty="0" smtClean="0"/>
              <a:t>分是基础。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910A-01DD-4D1E-AA16-0C11FAC033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最简单的封面图片就是网页截图：建议宽</a:t>
            </a:r>
            <a:r>
              <a:rPr lang="en-US" altLang="zh-CN" dirty="0" smtClean="0"/>
              <a:t>3</a:t>
            </a:r>
            <a:r>
              <a:rPr lang="zh-CN" altLang="en-US" dirty="0" smtClean="0"/>
              <a:t>高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读</a:t>
            </a:r>
            <a:r>
              <a:rPr lang="en-US" altLang="zh-CN" dirty="0" smtClean="0"/>
              <a:t>PPT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8C6D43-13C8-412D-B878-BCB5EB4447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根据剩余时间，随便展示几个作品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59F2-FC60-4146-A39E-AC99610852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总结一下这节课讲的所有内容；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22910A-01DD-4D1E-AA16-0C11FAC0331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62187-DF48-49F6-940F-0E804EA6B2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9E74-5B43-41B9-91EF-411CC7A4F5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62187-DF48-49F6-940F-0E804EA6B2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9E74-5B43-41B9-91EF-411CC7A4F5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62187-DF48-49F6-940F-0E804EA6B2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9E74-5B43-41B9-91EF-411CC7A4F5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62187-DF48-49F6-940F-0E804EA6B2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9E74-5B43-41B9-91EF-411CC7A4F5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62187-DF48-49F6-940F-0E804EA6B2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9E74-5B43-41B9-91EF-411CC7A4F5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62187-DF48-49F6-940F-0E804EA6B2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9E74-5B43-41B9-91EF-411CC7A4F5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62187-DF48-49F6-940F-0E804EA6B2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9E74-5B43-41B9-91EF-411CC7A4F5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62187-DF48-49F6-940F-0E804EA6B2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9E74-5B43-41B9-91EF-411CC7A4F5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62187-DF48-49F6-940F-0E804EA6B2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9E74-5B43-41B9-91EF-411CC7A4F5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62187-DF48-49F6-940F-0E804EA6B2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9E74-5B43-41B9-91EF-411CC7A4F5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62187-DF48-49F6-940F-0E804EA6B2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59E74-5B43-41B9-91EF-411CC7A4F5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62187-DF48-49F6-940F-0E804EA6B2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59E74-5B43-41B9-91EF-411CC7A4F5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E05E3A-ACD3-4DE5-8775-CFC1297DE4D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4EB57-63C2-43D8-BD35-B1988EDB52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hyperlink" Target="mailto:XXX@xxx.ac.cn" TargetMode="Externa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hyperlink" Target="https://teacher.solid.things.ac.cn:7243/public/materials/web_exp/blog3-6.html" TargetMode="Externa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3.xml"/><Relationship Id="rId2" Type="http://schemas.openxmlformats.org/officeDocument/2006/relationships/hyperlink" Target="https://www.solid.things.ac.cn:7245/" TargetMode="External"/><Relationship Id="rId1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3.xml"/><Relationship Id="rId2" Type="http://schemas.openxmlformats.org/officeDocument/2006/relationships/hyperlink" Target="https://www.solid.things.ac.cn:7245/" TargetMode="External"/><Relationship Id="rId1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3.png"/><Relationship Id="rId1" Type="http://schemas.openxmlformats.org/officeDocument/2006/relationships/hyperlink" Target="https://www.solid.things.ac.cn:7245/web_exp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teacher.solid.things.ac.cn:7243/public/web/Langton's_Ant.html" TargetMode="External"/><Relationship Id="rId1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hyperlink" Target="https://teacher.solid.things.ac.cn:7243/public/web/The_Three_Body_Game.html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hyperlink" Target="https://teacher.solid.things.ac.cn:7243/public/web/Fibonacci_1.html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92572"/>
            <a:ext cx="9144000" cy="1395063"/>
          </a:xfrm>
        </p:spPr>
        <p:txBody>
          <a:bodyPr/>
          <a:lstStyle/>
          <a:p>
            <a:r>
              <a:rPr lang="zh-CN" altLang="en-US" dirty="0" smtClean="0"/>
              <a:t>个人作品实验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0" y="1214349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计算机科学导论实验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524000" y="219903"/>
            <a:ext cx="9144000" cy="430445"/>
            <a:chOff x="1524000" y="219903"/>
            <a:chExt cx="9144000" cy="43044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224110"/>
              <a:ext cx="2032622" cy="426238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4311" y="219903"/>
              <a:ext cx="3143689" cy="428685"/>
            </a:xfrm>
            <a:prstGeom prst="rect">
              <a:avLst/>
            </a:prstGeom>
          </p:spPr>
        </p:pic>
      </p:grp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524000" y="3957851"/>
            <a:ext cx="9144000" cy="2829381"/>
          </a:xfrm>
        </p:spPr>
        <p:txBody>
          <a:bodyPr>
            <a:normAutofit/>
          </a:bodyPr>
          <a:lstStyle/>
          <a:p>
            <a:br>
              <a:rPr lang="en-US" altLang="zh-CN" dirty="0"/>
            </a:b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计算机科学导论实验课程助教组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郭泓锐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中国科学院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大学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800"/>
              </a:spcBef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  <a:hlinkClick r:id="rId3"/>
              </a:rPr>
              <a:t>guohongrui17@mails.ucas.ac.cn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72BA7-A053-4C77-BE4A-2C9478A22DA6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8230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1484318"/>
            <a:ext cx="12192000" cy="5113337"/>
          </a:xfrm>
          <a:noFill/>
        </p:spPr>
        <p:txBody>
          <a:bodyPr anchor="ctr"/>
          <a:lstStyle/>
          <a:p>
            <a:pPr algn="ctr"/>
            <a:b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Week 3</a:t>
            </a:r>
            <a:b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Make a </a:t>
            </a:r>
            <a:r>
              <a:rPr lang="en-US" altLang="zh-CN" sz="6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Dynamic</a:t>
            </a:r>
            <a:r>
              <a:rPr lang="en-US" altLang="zh-CN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Webpage</a:t>
            </a:r>
            <a:br>
              <a:rPr lang="en-US" altLang="zh-CN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zh-CN" altLang="en-US" sz="8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2" descr="http://www.gucas.ac.cn/newStyle/images/lougou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15480" y="3"/>
            <a:ext cx="4381500" cy="1047751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9154661" y="3"/>
            <a:ext cx="17561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/>
              <a:t>CS101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0917" y="2298273"/>
            <a:ext cx="6790590" cy="2671374"/>
          </a:xfrm>
          <a:prstGeom prst="rect">
            <a:avLst/>
          </a:prstGeom>
        </p:spPr>
      </p:pic>
      <p:sp>
        <p:nvSpPr>
          <p:cNvPr id="5" name="椭圆形标注 4"/>
          <p:cNvSpPr/>
          <p:nvPr/>
        </p:nvSpPr>
        <p:spPr>
          <a:xfrm>
            <a:off x="6298277" y="2121550"/>
            <a:ext cx="2458065" cy="1081548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/>
              <a:t>动态的时钟</a:t>
            </a:r>
            <a:endParaRPr lang="zh-CN" altLang="en-US" sz="24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课程安排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74375" y="6459795"/>
            <a:ext cx="826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hlinkClick r:id="rId2"/>
              </a:rPr>
              <a:t>https://</a:t>
            </a:r>
            <a:r>
              <a:rPr lang="en-US" altLang="zh-CN" sz="1400" dirty="0" smtClean="0">
                <a:hlinkClick r:id="rId2"/>
              </a:rPr>
              <a:t>teacher.solid.things.ac.cn:7243/public/materials/web_exp/blog3-6.html</a:t>
            </a:r>
            <a:endParaRPr lang="en-US" altLang="zh-CN" sz="1400" dirty="0" smtClean="0"/>
          </a:p>
          <a:p>
            <a:endParaRPr lang="zh-CN" altLang="en-US" sz="1400" dirty="0"/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1972787" y="3731310"/>
            <a:ext cx="2156761" cy="3097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8491" y="3474516"/>
            <a:ext cx="243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日期、时间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8062452" y="3962400"/>
            <a:ext cx="1779638" cy="786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9842089" y="3633960"/>
            <a:ext cx="1317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星期几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6538452" y="4689987"/>
            <a:ext cx="1268361" cy="63909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7010400" y="5315622"/>
            <a:ext cx="2635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今年第几天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280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switch-case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网页动画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 vs JS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2809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switch-case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网页动画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 vs JS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8200" y="1536867"/>
            <a:ext cx="10515600" cy="5149068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函数定义：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function add(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){ return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x+y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}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函数调用：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z = add(1,2);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：整数相除可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小数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%: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小数可以取余（损失精度）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：可以连接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==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：进行自动类型转换后，比较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===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：直接比较，类型不同则结果为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元素的对象，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Array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响应事件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onclick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280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switch-case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网页动画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 vs JS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知识 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—Date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的使用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28751"/>
            <a:ext cx="10515600" cy="5429249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王小二写完计算器，开始写网页版时钟，并且希望把年月日、时分秒显示在时钟上，于是学习了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对象的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date = new Date();  //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中存一个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date = new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Date;    //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创建时可以不加圆括号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方法的使用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date.getDate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         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//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返回该月第几天（</a:t>
            </a:r>
            <a:r>
              <a:rPr lang="zh-CN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date.getDay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          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//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返回该周第几天（从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开始，星期日为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date.getFullYear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     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//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返回年份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date.getMonth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();         //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返回月份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（从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开始）</a:t>
            </a:r>
            <a:endParaRPr lang="en-US" altLang="zh-CN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date.getHours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        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//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返回小时（在一天中）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date.getMinutes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      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//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返回分钟（在一小时中）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date.getSeconds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      //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返回秒（在一分钟中）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6" y="99609"/>
            <a:ext cx="10515600" cy="1325563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添加时钟</a:t>
            </a:r>
            <a:endParaRPr 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58186" y="1280894"/>
            <a:ext cx="9775086" cy="50783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&lt;div id=“after”&gt;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时钟：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 id="clock"&gt;&lt;/p&gt;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&lt;/div&gt;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script&gt;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……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dirty="0" err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date = new Date;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year =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date.getFullYear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month =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date.getMonth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 + 1;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day =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date.getDate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hour =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date.getHours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min =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date.getMinutes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second =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date.getSeconds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</a:t>
            </a:r>
            <a:r>
              <a:rPr lang="en-US" altLang="zh-CN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time = year + "/" + month + "/" + day + " " + hour + ":" + min + ":" + second;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</a:t>
            </a:r>
            <a:r>
              <a:rPr lang="en-US" altLang="zh-CN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clock = </a:t>
            </a:r>
            <a:r>
              <a:rPr lang="en-US" altLang="zh-CN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document.getElementById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("clock");</a:t>
            </a:r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</a:t>
            </a:r>
            <a:r>
              <a:rPr lang="en-US" altLang="zh-CN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clock.innerHTML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= time;</a:t>
            </a:r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&lt;/script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741118" y="1008985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效果：</a:t>
            </a:r>
            <a:endParaRPr 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31008" y="6400234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/blog3-2.html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右大括号 2"/>
          <p:cNvSpPr/>
          <p:nvPr/>
        </p:nvSpPr>
        <p:spPr>
          <a:xfrm>
            <a:off x="4581625" y="3012707"/>
            <a:ext cx="375386" cy="2088682"/>
          </a:xfrm>
          <a:prstGeom prst="rightBrace">
            <a:avLst>
              <a:gd name="adj1" fmla="val 8333"/>
              <a:gd name="adj2" fmla="val 394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45729" y="3496884"/>
            <a:ext cx="260122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获取当前时间：年、月（是从</a:t>
            </a:r>
            <a:r>
              <a:rPr lang="en-US" altLang="zh-CN" dirty="0" smtClean="0">
                <a:solidFill>
                  <a:srgbClr val="0070C0"/>
                </a:solidFill>
              </a:rPr>
              <a:t>0</a:t>
            </a:r>
            <a:r>
              <a:rPr lang="zh-CN" altLang="en-US" dirty="0" smtClean="0">
                <a:solidFill>
                  <a:srgbClr val="0070C0"/>
                </a:solidFill>
              </a:rPr>
              <a:t>开始的所以要加</a:t>
            </a:r>
            <a:r>
              <a:rPr lang="zh-CN" altLang="en-US" dirty="0" smtClean="0">
                <a:solidFill>
                  <a:srgbClr val="0070C0"/>
                </a:solidFill>
              </a:rPr>
              <a:t>一）、日、时、分、秒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06913" y="4414072"/>
            <a:ext cx="210166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u="sng" dirty="0" smtClean="0">
                <a:solidFill>
                  <a:srgbClr val="00B050"/>
                </a:solidFill>
              </a:rPr>
              <a:t>代表时间的数字和字符串连接时，会先把数字转换成字符串，再连接</a:t>
            </a:r>
            <a:endParaRPr lang="zh-CN" altLang="en-US" b="1" u="sng" dirty="0" smtClean="0">
              <a:solidFill>
                <a:srgbClr val="00B05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09636" y="5459669"/>
            <a:ext cx="3262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修改</a:t>
            </a:r>
            <a:r>
              <a:rPr lang="en-US" altLang="zh-CN" dirty="0" smtClean="0">
                <a:solidFill>
                  <a:srgbClr val="7030A0"/>
                </a:solidFill>
              </a:rPr>
              <a:t>id</a:t>
            </a:r>
            <a:r>
              <a:rPr lang="zh-CN" altLang="en-US" dirty="0" smtClean="0">
                <a:solidFill>
                  <a:srgbClr val="7030A0"/>
                </a:solidFill>
              </a:rPr>
              <a:t>属性为</a:t>
            </a:r>
            <a:r>
              <a:rPr lang="en-US" altLang="zh-CN" dirty="0" smtClean="0">
                <a:solidFill>
                  <a:srgbClr val="7030A0"/>
                </a:solidFill>
              </a:rPr>
              <a:t>clock</a:t>
            </a:r>
            <a:r>
              <a:rPr lang="zh-CN" altLang="en-US" dirty="0" smtClean="0">
                <a:solidFill>
                  <a:srgbClr val="7030A0"/>
                </a:solidFill>
              </a:rPr>
              <a:t>的那对标签中间的内容</a:t>
            </a:r>
            <a:endParaRPr lang="zh-CN" altLang="en-US" dirty="0">
              <a:solidFill>
                <a:srgbClr val="7030A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60" y="1651253"/>
            <a:ext cx="3293421" cy="13614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280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switch-case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网页动画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 vs JS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 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—switch-case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8199" y="1410790"/>
            <a:ext cx="10885371" cy="1322786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添加好能显示日期和时间的时钟后，觉得时钟过于单调，还想要在时钟里显示今天是星期几，因此使用了下面关于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switch-case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语句的知识：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1889" y="2921295"/>
            <a:ext cx="10851682" cy="390106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400" b="1" kern="0" dirty="0">
                <a:solidFill>
                  <a:srgbClr val="00669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switch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表达式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){  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  </a:t>
            </a:r>
            <a:r>
              <a:rPr lang="en-US" altLang="zh-CN" sz="2400" b="1" kern="0" dirty="0">
                <a:solidFill>
                  <a:srgbClr val="00669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case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zh-CN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值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1: </a:t>
            </a:r>
            <a:r>
              <a:rPr lang="en-US" altLang="zh-CN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zh-CN" altLang="zh-CN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一系列代码，当表达式的值等于值</a:t>
            </a:r>
            <a:r>
              <a:rPr lang="en-US" altLang="zh-CN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zh-CN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时执行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  </a:t>
            </a:r>
            <a:r>
              <a:rPr lang="en-US" altLang="zh-CN" sz="2400" b="1" kern="0" dirty="0">
                <a:solidFill>
                  <a:srgbClr val="00669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break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  </a:t>
            </a:r>
            <a:r>
              <a:rPr lang="en-US" altLang="zh-CN" sz="2400" kern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000" kern="0" dirty="0" smtClean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zh-CN" altLang="en-US" sz="2000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不要忘记</a:t>
            </a:r>
            <a:r>
              <a:rPr lang="en-US" altLang="zh-CN" sz="2000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break;</a:t>
            </a:r>
            <a:r>
              <a:rPr lang="zh-CN" altLang="en-US" sz="2000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否则，已匹配</a:t>
            </a:r>
            <a:r>
              <a:rPr lang="en-US" altLang="zh-CN" sz="2000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case</a:t>
            </a:r>
            <a:r>
              <a:rPr lang="zh-CN" altLang="en-US" sz="2000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语句后面所有语句都会无条件</a:t>
            </a:r>
            <a:r>
              <a:rPr lang="zh-CN" altLang="en-US" sz="2000" kern="0" dirty="0" smtClean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执行，                     </a:t>
            </a:r>
            <a:endParaRPr lang="en-US" altLang="zh-CN" sz="2000" kern="0" dirty="0" smtClean="0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000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kern="0" dirty="0" smtClean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//</a:t>
            </a:r>
            <a:r>
              <a:rPr lang="zh-CN" altLang="en-US" sz="2000" kern="0" dirty="0" smtClean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直到碰到后面的</a:t>
            </a:r>
            <a:r>
              <a:rPr lang="en-US" altLang="zh-CN" sz="2000" kern="0" dirty="0" smtClean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break</a:t>
            </a:r>
            <a:r>
              <a:rPr lang="zh-CN" altLang="en-US" sz="2000" kern="0" dirty="0" smtClean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或者到达整个</a:t>
            </a:r>
            <a:r>
              <a:rPr lang="en-US" altLang="zh-CN" sz="2000" kern="0" dirty="0" smtClean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switch-case</a:t>
            </a:r>
            <a:r>
              <a:rPr lang="zh-CN" altLang="en-US" sz="2000" kern="0" dirty="0" smtClean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语句末尾</a:t>
            </a:r>
            <a:endParaRPr lang="zh-CN" altLang="zh-CN" sz="2800" kern="100" dirty="0">
              <a:solidFill>
                <a:srgbClr val="FF000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  </a:t>
            </a:r>
            <a:r>
              <a:rPr lang="en-US" altLang="zh-CN" sz="2400" b="1" kern="0" dirty="0">
                <a:solidFill>
                  <a:srgbClr val="00669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case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zh-CN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值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2: </a:t>
            </a:r>
            <a:r>
              <a:rPr lang="en-US" altLang="zh-CN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zh-CN" altLang="zh-CN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一系列代码，当表达式的值</a:t>
            </a:r>
            <a:r>
              <a:rPr lang="zh-CN" altLang="en-US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不等于值</a:t>
            </a:r>
            <a:r>
              <a:rPr lang="en-US" altLang="zh-CN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且</a:t>
            </a:r>
            <a:r>
              <a:rPr lang="zh-CN" altLang="zh-CN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等于值</a:t>
            </a:r>
            <a:r>
              <a:rPr lang="en-US" altLang="zh-CN" sz="24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时执行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  </a:t>
            </a:r>
            <a:r>
              <a:rPr lang="en-US" altLang="zh-CN" sz="2400" b="1" kern="0" dirty="0">
                <a:solidFill>
                  <a:srgbClr val="006699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break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  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  default: </a:t>
            </a:r>
            <a:r>
              <a:rPr lang="en-US" altLang="zh-CN" sz="2400" kern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kern="0" dirty="0" smtClean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zh-CN" altLang="zh-CN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一系列代码，当表达式的值既不等于值</a:t>
            </a:r>
            <a:r>
              <a:rPr lang="en-US" altLang="zh-CN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zh-CN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也不等于值</a:t>
            </a:r>
            <a:r>
              <a:rPr lang="en-US" altLang="zh-CN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24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lang="zh-CN" altLang="zh-CN" sz="2400" kern="0" dirty="0" smtClean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执行</a:t>
            </a:r>
            <a:endParaRPr lang="en-US" altLang="zh-CN" sz="2400" kern="0" dirty="0" smtClean="0">
              <a:solidFill>
                <a:srgbClr val="008200"/>
              </a:solidFill>
              <a:effectLst/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400" kern="0" dirty="0" smtClean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				   </a:t>
            </a:r>
            <a:r>
              <a:rPr lang="en-US" altLang="zh-CN" sz="2000" kern="0" dirty="0" smtClean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en-US" altLang="zh-CN" sz="2000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default</a:t>
            </a:r>
            <a:r>
              <a:rPr lang="zh-CN" altLang="en-US" sz="2000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可以省略</a:t>
            </a:r>
            <a:endParaRPr lang="en-US" altLang="zh-CN" sz="2000" kern="0" dirty="0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0" indent="-342900">
              <a:lnSpc>
                <a:spcPts val="3300"/>
              </a:lnSpc>
              <a:tabLst>
                <a:tab pos="457200" algn="l"/>
              </a:tabLst>
            </a:pPr>
            <a:r>
              <a:rPr lang="en-US" altLang="zh-CN" sz="2400" kern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70220" y="3836201"/>
            <a:ext cx="1260295" cy="384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80311" y="1556610"/>
            <a:ext cx="6479177" cy="452431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星期几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dayInWeek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= 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date.getDay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dayInWeek_string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switch(</a:t>
            </a:r>
            <a:r>
              <a:rPr lang="en-US" altLang="zh-CN" dirty="0" err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dayInWeek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){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</a:t>
            </a:r>
            <a:r>
              <a:rPr lang="en-US" altLang="zh-CN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0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dayInWeek_string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= </a:t>
            </a:r>
            <a:r>
              <a:rPr lang="en-US" altLang="zh-CN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[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星期日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 ";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</a:t>
            </a:r>
            <a:r>
              <a:rPr lang="en-US" altLang="zh-CN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</a:t>
            </a:r>
            <a:r>
              <a:rPr lang="en-US" altLang="zh-CN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1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dayInWeek_string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= </a:t>
            </a:r>
            <a:r>
              <a:rPr lang="en-US" altLang="zh-CN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[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星期一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 ";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</a:t>
            </a:r>
            <a:r>
              <a:rPr lang="en-US" altLang="zh-CN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</a:t>
            </a:r>
            <a:r>
              <a:rPr lang="en-US" altLang="zh-CN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</a:t>
            </a:r>
            <a:r>
              <a:rPr lang="en-US" altLang="zh-CN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5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dayInWeek_string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= </a:t>
            </a:r>
            <a:r>
              <a:rPr lang="en-US" altLang="zh-CN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[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星期五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 ";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</a:t>
            </a:r>
            <a:r>
              <a:rPr lang="en-US" altLang="zh-CN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</a:t>
            </a:r>
            <a:r>
              <a:rPr lang="en-US" altLang="zh-CN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6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 </a:t>
            </a:r>
            <a:r>
              <a:rPr lang="en-US" altLang="zh-CN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dayInWeek_string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= </a:t>
            </a:r>
            <a:r>
              <a:rPr lang="en-US" altLang="zh-CN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[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星期六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 ";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</a:t>
            </a:r>
            <a:r>
              <a:rPr lang="en-US" altLang="zh-CN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</a:t>
            </a:r>
            <a:r>
              <a:rPr lang="en-US" altLang="zh-CN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default: </a:t>
            </a:r>
            <a:r>
              <a:rPr lang="en-US" altLang="zh-CN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//default</a:t>
            </a:r>
            <a:r>
              <a:rPr lang="zh-CN" altLang="en-US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可以</a:t>
            </a:r>
            <a:r>
              <a:rPr lang="zh-CN" altLang="en-US" kern="0" dirty="0" smtClean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省略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</a:t>
            </a: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= time + </a:t>
            </a:r>
            <a:r>
              <a:rPr lang="en-US" altLang="zh-CN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dayInWeek_string</a:t>
            </a: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94062" y="424939"/>
            <a:ext cx="3196161" cy="875846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添加星期几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007241" y="1476297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效果：</a:t>
            </a:r>
            <a:endParaRPr 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38183" y="6347735"/>
            <a:ext cx="43701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material/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/blog3-3.html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15812" y="1830696"/>
            <a:ext cx="2361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//</a:t>
            </a:r>
            <a:r>
              <a:rPr lang="zh-CN" altLang="en-US" dirty="0" smtClean="0">
                <a:solidFill>
                  <a:srgbClr val="FF0000"/>
                </a:solidFill>
              </a:rPr>
              <a:t>获取今天是星期几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右大括号 8"/>
          <p:cNvSpPr/>
          <p:nvPr/>
        </p:nvSpPr>
        <p:spPr>
          <a:xfrm>
            <a:off x="4985886" y="2474114"/>
            <a:ext cx="471638" cy="31374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24901" y="3581156"/>
            <a:ext cx="2319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1"/>
                </a:solidFill>
              </a:rPr>
              <a:t>根据不同的</a:t>
            </a:r>
            <a:r>
              <a:rPr lang="en-US" altLang="zh-CN" dirty="0" smtClean="0">
                <a:solidFill>
                  <a:schemeClr val="accent1"/>
                </a:solidFill>
              </a:rPr>
              <a:t>case</a:t>
            </a:r>
            <a:r>
              <a:rPr lang="zh-CN" altLang="en-US" dirty="0" smtClean="0">
                <a:solidFill>
                  <a:schemeClr val="accent1"/>
                </a:solidFill>
              </a:rPr>
              <a:t>，赋予</a:t>
            </a:r>
            <a:r>
              <a:rPr lang="en-US" altLang="zh-CN" dirty="0" err="1" smtClean="0">
                <a:solidFill>
                  <a:schemeClr val="accent1"/>
                </a:solidFill>
              </a:rPr>
              <a:t>dayInWeek_string</a:t>
            </a:r>
            <a:r>
              <a:rPr lang="zh-CN" altLang="en-US" dirty="0" smtClean="0">
                <a:solidFill>
                  <a:schemeClr val="accent1"/>
                </a:solidFill>
              </a:rPr>
              <a:t>变量不同的值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80311" y="6130957"/>
            <a:ext cx="4766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//</a:t>
            </a:r>
            <a:r>
              <a:rPr lang="zh-CN" altLang="en-US" dirty="0" smtClean="0">
                <a:solidFill>
                  <a:srgbClr val="00B050"/>
                </a:solidFill>
              </a:rPr>
              <a:t>把</a:t>
            </a:r>
            <a:r>
              <a:rPr lang="en-US" altLang="zh-CN" dirty="0" err="1" smtClean="0">
                <a:solidFill>
                  <a:srgbClr val="00B050"/>
                </a:solidFill>
              </a:rPr>
              <a:t>dayInWeek_string</a:t>
            </a:r>
            <a:r>
              <a:rPr lang="zh-CN" altLang="en-US" dirty="0" smtClean="0">
                <a:solidFill>
                  <a:srgbClr val="00B050"/>
                </a:solidFill>
              </a:rPr>
              <a:t>连接到原来的时间上</a:t>
            </a: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490" y="2147289"/>
            <a:ext cx="3819808" cy="12333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 </a:t>
            </a:r>
            <a:r>
              <a:rPr lang="en-US" altLang="zh-CN" sz="3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—for</a:t>
            </a:r>
            <a:r>
              <a:rPr lang="zh-CN" altLang="en-US" sz="3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57943" y="1690688"/>
            <a:ext cx="10395857" cy="4601301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王小二在时钟里添加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完星期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几后，还想在时钟里显示今天是今年的第几天，于是先把各个月份的天数存到一个数组里，然后遍历这个数组，把经过的天数累加起来，他使用了下面的知识：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循环类似，只是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后变成一对圆括号。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15757" y="3453174"/>
            <a:ext cx="5262154" cy="15158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ts val="3700"/>
              </a:lnSpc>
              <a:tabLst>
                <a:tab pos="457200" algn="l"/>
              </a:tabLst>
            </a:pPr>
            <a:r>
              <a:rPr lang="en-US" altLang="zh-CN" sz="28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2800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zh-CN" sz="2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语句</a:t>
            </a:r>
            <a:r>
              <a:rPr lang="en-US" altLang="zh-CN" sz="2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2800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r>
              <a:rPr lang="zh-CN" altLang="zh-CN" sz="2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表达式</a:t>
            </a:r>
            <a:r>
              <a:rPr lang="en-US" altLang="zh-CN" sz="2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2800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r>
              <a:rPr lang="zh-CN" altLang="zh-CN" sz="2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语句</a:t>
            </a:r>
            <a:r>
              <a:rPr lang="en-US" altLang="zh-CN" sz="2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2800" kern="0" dirty="0" smtClean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800" kern="0" dirty="0" smtClean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r>
              <a:rPr lang="en-US" altLang="zh-CN" sz="2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</a:t>
            </a:r>
            <a:endParaRPr lang="zh-CN" altLang="zh-CN" sz="36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700"/>
              </a:lnSpc>
              <a:tabLst>
                <a:tab pos="457200" algn="l"/>
              </a:tabLst>
            </a:pPr>
            <a:r>
              <a:rPr lang="en-US" altLang="zh-CN" sz="2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  </a:t>
            </a:r>
            <a:r>
              <a:rPr lang="en-US" altLang="zh-CN" sz="2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zh-CN" altLang="zh-CN" sz="2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一系列代码</a:t>
            </a:r>
            <a:r>
              <a:rPr lang="en-US" altLang="zh-CN" sz="2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</a:t>
            </a:r>
            <a:endParaRPr lang="zh-CN" altLang="zh-CN" sz="36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700"/>
              </a:lnSpc>
              <a:tabLst>
                <a:tab pos="457200" algn="l"/>
              </a:tabLst>
            </a:pPr>
            <a:r>
              <a:rPr lang="en-US" altLang="zh-CN" sz="2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  </a:t>
            </a:r>
            <a:endParaRPr lang="zh-CN" altLang="zh-CN" sz="36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62103" y="21303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05956" y="1773285"/>
            <a:ext cx="8728750" cy="34163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 day in the year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 err="1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dayInYear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= 0;</a:t>
            </a:r>
            <a:endParaRPr lang="en-US" altLang="zh-CN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 err="1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daysInMonth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= [31,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,31,30,31,30,31,31,30,31,30,31];</a:t>
            </a:r>
            <a:endParaRPr lang="en-US" altLang="zh-CN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=0;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date.getMonth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++){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dayInYear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=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dayInYear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+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daysInMonth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dayInYear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=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dayInYear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+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date.getDate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time = time + "&lt;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&gt;" + "Today is " +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dayInYear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"-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day in the year";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083038" y="5403645"/>
            <a:ext cx="4661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Source code: </a:t>
            </a:r>
            <a:r>
              <a:rPr lang="en-US" altLang="zh-CN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materials/</a:t>
            </a:r>
            <a:r>
              <a:rPr lang="en-US" altLang="zh-CN" dirty="0" err="1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web_exp</a:t>
            </a:r>
            <a:r>
              <a:rPr lang="en-US" altLang="zh-CN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/blog3-4.html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620251" y="218584"/>
            <a:ext cx="7299829" cy="875846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发现</a:t>
            </a:r>
            <a:r>
              <a:rPr lang="en-US" altLang="zh-CN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05956" y="1249191"/>
            <a:ext cx="358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思考如何修改？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94062" y="1733591"/>
            <a:ext cx="6834137" cy="34163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添加今年第几天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 smtClean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 err="1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dayInYear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= 0;</a:t>
            </a:r>
            <a:endParaRPr lang="en-US" altLang="zh-CN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 smtClean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 err="1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daysInMonth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= [</a:t>
            </a:r>
            <a:r>
              <a:rPr lang="en-US" altLang="zh-CN" dirty="0" smtClean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31,29,31,30,31,30,31,31,30,31,30,31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];</a:t>
            </a:r>
            <a:endParaRPr lang="en-US" altLang="zh-CN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for(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=0; 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date.getMonth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 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++){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    </a:t>
            </a:r>
            <a:r>
              <a:rPr lang="en-US" altLang="zh-CN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dayInYear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= 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dayInYear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+ 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daysInMonth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];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dayInYear</a:t>
            </a: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= </a:t>
            </a:r>
            <a:r>
              <a:rPr lang="en-US" altLang="zh-CN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dayInYear</a:t>
            </a: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+ </a:t>
            </a:r>
            <a:r>
              <a:rPr lang="en-US" altLang="zh-CN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date.getDate</a:t>
            </a: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= time + 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"&lt;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&gt;"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+ "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今天是今年第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 </a:t>
            </a:r>
            <a:r>
              <a:rPr lang="en-US" altLang="zh-CN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dayInYear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+ "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";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524982" y="1039175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</a:rPr>
              <a:t>效果：</a:t>
            </a:r>
            <a:endParaRPr lang="en-US" sz="2800" b="1" dirty="0">
              <a:solidFill>
                <a:prstClr val="black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635103" y="6383160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/blog3-4.html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394062" y="424939"/>
            <a:ext cx="5612102" cy="875846"/>
          </a:xfrm>
        </p:spPr>
        <p:txBody>
          <a:bodyPr>
            <a:normAutofit fontScale="90000"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添加今天是今年第几天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98157" y="3164016"/>
            <a:ext cx="2897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把这个月前面的月份里的天数累加起来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98157" y="4295463"/>
            <a:ext cx="3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B050"/>
                </a:solidFill>
              </a:rPr>
              <a:t>加上这个月里经过的天数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324825" y="4732707"/>
            <a:ext cx="3445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把最终结果连接到原来的时间上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2473692" y="5032877"/>
            <a:ext cx="0" cy="59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94062" y="5630656"/>
            <a:ext cx="62918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&lt;</a:t>
            </a:r>
            <a:r>
              <a:rPr lang="en-US" altLang="zh-CN" dirty="0" err="1" smtClean="0"/>
              <a:t>br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标签写到</a:t>
            </a:r>
            <a:r>
              <a:rPr lang="en-US" altLang="zh-CN" dirty="0" smtClean="0"/>
              <a:t>id</a:t>
            </a:r>
            <a:r>
              <a:rPr lang="zh-CN" altLang="en-US" dirty="0" smtClean="0"/>
              <a:t>属性为</a:t>
            </a:r>
            <a:r>
              <a:rPr lang="en-US" altLang="zh-CN" dirty="0" smtClean="0"/>
              <a:t>clock</a:t>
            </a:r>
            <a:r>
              <a:rPr lang="zh-CN" altLang="en-US" dirty="0" smtClean="0"/>
              <a:t>的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元素的</a:t>
            </a:r>
            <a:r>
              <a:rPr lang="en-US" altLang="zh-CN" dirty="0" err="1" smtClean="0"/>
              <a:t>innerHTML</a:t>
            </a:r>
            <a:r>
              <a:rPr lang="zh-CN" altLang="en-US" dirty="0" smtClean="0"/>
              <a:t>属性里</a:t>
            </a:r>
            <a:endParaRPr lang="en-US" altLang="zh-CN" dirty="0" smtClean="0"/>
          </a:p>
          <a:p>
            <a:r>
              <a:rPr lang="zh-CN" altLang="en-US" dirty="0" smtClean="0"/>
              <a:t>即起始标签和结束标签之间出现了一个“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br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”，</a:t>
            </a:r>
            <a:endParaRPr lang="en-US" altLang="zh-CN" dirty="0" smtClean="0"/>
          </a:p>
          <a:p>
            <a:r>
              <a:rPr lang="zh-CN" altLang="en-US" dirty="0" smtClean="0"/>
              <a:t>相当于在这个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元素中嵌套定义了一个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br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标签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0258" y="1630307"/>
            <a:ext cx="3346040" cy="13035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280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switch-case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网页动画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 vs JS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网页动画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443790"/>
            <a:ext cx="10735492" cy="498313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王小二写了一个时钟，但是这个时钟只是显示了一条日期，并不是一个动态的时钟，为了让这个时钟动起来，王小二学习了下面的函数：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setTimeout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用法：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setTimeout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函数名，时间（单位毫秒）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2,…,);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含义：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告知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在指定的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毫秒过后，执行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由第一个参数指定的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（以第三个参数以及后面的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参数作为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函数的参数）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仅仅告知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，不需要等待浏览器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执行所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告知的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函数，告知完继续执行后面的语句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使用举例：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= 0;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setTimeout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(console.log,1000,a);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//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1000ms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后执行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console.log(a);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09314" y="2375529"/>
            <a:ext cx="5377600" cy="28623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run_clock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run_clock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(){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setTimeout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run_clock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1000);</a:t>
            </a:r>
            <a:endParaRPr lang="en-US" altLang="zh-CN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98525" y="1171291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效果：</a:t>
            </a:r>
            <a:endParaRPr 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6251" y="536135"/>
            <a:ext cx="11783126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把显示时间的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到一个函数里，每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1000ms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就调用一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遍：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562965" y="6223737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/blog3-5.html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1867301" y="2107933"/>
            <a:ext cx="0" cy="442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975074" y="1461602"/>
            <a:ext cx="2461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我们只需要写一次调用</a:t>
            </a:r>
            <a:r>
              <a:rPr lang="en-US" altLang="zh-CN" dirty="0" err="1" smtClean="0"/>
              <a:t>run_clock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3041583" y="4565480"/>
            <a:ext cx="19251" cy="1132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867301" y="5698156"/>
            <a:ext cx="342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每次函数执行完，都会告诉浏览器，</a:t>
            </a:r>
            <a:r>
              <a:rPr lang="en-US" altLang="zh-CN" dirty="0" smtClean="0"/>
              <a:t>1000ms</a:t>
            </a:r>
            <a:r>
              <a:rPr lang="zh-CN" altLang="en-US" dirty="0" smtClean="0"/>
              <a:t>后再调用“我”一遍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t="13042"/>
          <a:stretch>
            <a:fillRect/>
          </a:stretch>
        </p:blipFill>
        <p:spPr>
          <a:xfrm>
            <a:off x="7086382" y="1845424"/>
            <a:ext cx="2830702" cy="110502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7549"/>
          <a:stretch>
            <a:fillRect/>
          </a:stretch>
        </p:blipFill>
        <p:spPr>
          <a:xfrm>
            <a:off x="7086382" y="3154748"/>
            <a:ext cx="2893994" cy="12094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382" y="4565479"/>
            <a:ext cx="2893994" cy="11470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网页动画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18308" y="1432560"/>
            <a:ext cx="11573692" cy="5425440"/>
          </a:xfrm>
        </p:spPr>
        <p:txBody>
          <a:bodyPr>
            <a:normAutofit fontScale="70000" lnSpcReduction="20000"/>
          </a:bodyPr>
          <a:lstStyle/>
          <a:p>
            <a:pPr lvl="0">
              <a:lnSpc>
                <a:spcPct val="150000"/>
              </a:lnSpc>
            </a:pP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至此，王小二成功地完成了网页版时钟，但是王小二在使用</a:t>
            </a:r>
            <a:r>
              <a:rPr lang="en-US" altLang="zh-CN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setTimeout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的时候，巧妙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地避开了</a:t>
            </a: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setTimeout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的一个坑：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另一个使用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setTimeout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的例子：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上会打印什么？会逐渐打印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[0,1,2,3],[1,1,2,3],…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40940" y="3150549"/>
            <a:ext cx="7310120" cy="254428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=[0,1,2,3];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for(</a:t>
            </a:r>
            <a:r>
              <a:rPr lang="en-US" altLang="zh-CN" sz="28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=0;i&lt;1000;i++){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8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setTimeout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(console.log, 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8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8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8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[0]++;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199" y="453573"/>
            <a:ext cx="10515600" cy="1325563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网页动画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735492" cy="503237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控制台打印：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当传递给函数的参数是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一个对象时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，实际传递的只是对象的地址，而非复制整个对象。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setTimeout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把数组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地址传给浏览器，而且由于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只有一个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，当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setTimeout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过浏览器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次后，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已经变成了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[1000,1,2,3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即使时间达到，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setTimeout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告知浏览器要执行的函数必须在正常的代码执行完后再执行。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于是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打印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的全部是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[1000,1,2,3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b="69985"/>
          <a:stretch>
            <a:fillRect/>
          </a:stretch>
        </p:blipFill>
        <p:spPr>
          <a:xfrm>
            <a:off x="3028950" y="1952411"/>
            <a:ext cx="3067049" cy="19955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网页动画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18307" y="1432560"/>
            <a:ext cx="5614471" cy="5278483"/>
          </a:xfrm>
        </p:spPr>
        <p:txBody>
          <a:bodyPr>
            <a:normAutofit fontScale="77500" lnSpcReduction="20000"/>
          </a:bodyPr>
          <a:lstStyle/>
          <a:p>
            <a:pPr lvl="0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其它使用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setTimeout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的例子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传递数字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传递的是数字的副本，而非地址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传递对象后，修改保存对象的变量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传递的是原对象的地址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共定义了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个对象，先后赋值给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每次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setTimeout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个参数是不同的对象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传递对象后，修改对象的属性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传递的是原对象的地址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共定义了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个对象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990798" y="1974662"/>
            <a:ext cx="4739877" cy="769381"/>
            <a:chOff x="1828799" y="2685342"/>
            <a:chExt cx="4739877" cy="76938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1"/>
            <a:srcRect l="1514" t="9758"/>
            <a:stretch>
              <a:fillRect/>
            </a:stretch>
          </p:blipFill>
          <p:spPr>
            <a:xfrm>
              <a:off x="1828799" y="2685342"/>
              <a:ext cx="4739877" cy="764067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1" name="文本框 10"/>
            <p:cNvSpPr txBox="1"/>
            <p:nvPr/>
          </p:nvSpPr>
          <p:spPr>
            <a:xfrm>
              <a:off x="2363842" y="2888414"/>
              <a:ext cx="37928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/>
                <a:t>// x=4; </a:t>
              </a:r>
              <a:r>
                <a:rPr lang="zh-CN" altLang="en-US" sz="1400" dirty="0" smtClean="0"/>
                <a:t>的返回值</a:t>
              </a:r>
              <a:endParaRPr lang="zh-CN" altLang="en-US" sz="1400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369285" y="3146946"/>
              <a:ext cx="37928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/>
                <a:t>// console.log </a:t>
              </a:r>
              <a:r>
                <a:rPr lang="zh-CN" altLang="en-US" sz="1400" dirty="0" smtClean="0"/>
                <a:t>打印的结果</a:t>
              </a:r>
              <a:endParaRPr lang="zh-CN" altLang="en-US" sz="1400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990798" y="3117681"/>
            <a:ext cx="4759777" cy="1852982"/>
            <a:chOff x="5112713" y="3236733"/>
            <a:chExt cx="4759777" cy="1852982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/>
            <a:srcRect r="3101"/>
            <a:stretch>
              <a:fillRect/>
            </a:stretch>
          </p:blipFill>
          <p:spPr>
            <a:xfrm>
              <a:off x="5112713" y="3236733"/>
              <a:ext cx="4759777" cy="1823910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4" name="文本框 13"/>
            <p:cNvSpPr txBox="1"/>
            <p:nvPr/>
          </p:nvSpPr>
          <p:spPr>
            <a:xfrm>
              <a:off x="5409382" y="3874433"/>
              <a:ext cx="37928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/>
                <a:t>// </a:t>
              </a:r>
              <a:r>
                <a:rPr lang="zh-CN" altLang="en-US" sz="1400" dirty="0" smtClean="0"/>
                <a:t>最后一次</a:t>
              </a:r>
              <a:r>
                <a:rPr lang="en-US" altLang="zh-CN" sz="1400" dirty="0" err="1" smtClean="0"/>
                <a:t>setTimeout</a:t>
              </a:r>
              <a:r>
                <a:rPr lang="zh-CN" altLang="en-US" sz="1400" dirty="0" smtClean="0"/>
                <a:t>的返回值</a:t>
              </a:r>
              <a:endParaRPr lang="zh-CN" altLang="en-US" sz="1400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376290" y="4100376"/>
              <a:ext cx="33637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/>
                <a:t>// </a:t>
              </a:r>
              <a:r>
                <a:rPr lang="zh-CN" altLang="en-US" sz="1400" dirty="0" smtClean="0"/>
                <a:t>第</a:t>
              </a:r>
              <a:r>
                <a:rPr lang="en-US" altLang="zh-CN" sz="1400" dirty="0" smtClean="0"/>
                <a:t>1</a:t>
              </a:r>
              <a:r>
                <a:rPr lang="zh-CN" altLang="en-US" sz="1400" dirty="0" smtClean="0"/>
                <a:t>次</a:t>
              </a:r>
              <a:r>
                <a:rPr lang="en-US" altLang="zh-CN" sz="1400" dirty="0" smtClean="0"/>
                <a:t>console.log</a:t>
              </a:r>
              <a:r>
                <a:rPr lang="zh-CN" altLang="en-US" sz="1400" dirty="0" smtClean="0"/>
                <a:t>的打印结果</a:t>
              </a:r>
              <a:endParaRPr lang="zh-CN" altLang="en-US" sz="1400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389898" y="4334416"/>
              <a:ext cx="33637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/>
                <a:t>// </a:t>
              </a:r>
              <a:r>
                <a:rPr lang="zh-CN" altLang="en-US" sz="1400" dirty="0" smtClean="0"/>
                <a:t>第</a:t>
              </a:r>
              <a:r>
                <a:rPr lang="en-US" altLang="zh-CN" sz="1400" dirty="0"/>
                <a:t>2</a:t>
              </a:r>
              <a:r>
                <a:rPr lang="zh-CN" altLang="en-US" sz="1400" dirty="0" smtClean="0"/>
                <a:t>次</a:t>
              </a:r>
              <a:r>
                <a:rPr lang="en-US" altLang="zh-CN" sz="1400" dirty="0"/>
                <a:t>console.log</a:t>
              </a:r>
              <a:r>
                <a:rPr lang="zh-CN" altLang="en-US" sz="1400" dirty="0"/>
                <a:t>的打印结果</a:t>
              </a:r>
              <a:endParaRPr lang="zh-CN" altLang="en-US" sz="1400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89897" y="4547898"/>
              <a:ext cx="33637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/>
                <a:t>// </a:t>
              </a:r>
              <a:r>
                <a:rPr lang="zh-CN" altLang="en-US" sz="1400" dirty="0" smtClean="0"/>
                <a:t>第</a:t>
              </a:r>
              <a:r>
                <a:rPr lang="en-US" altLang="zh-CN" sz="1400" dirty="0" smtClean="0"/>
                <a:t>3</a:t>
              </a:r>
              <a:r>
                <a:rPr lang="zh-CN" altLang="en-US" sz="1400" dirty="0" smtClean="0"/>
                <a:t>次</a:t>
              </a:r>
              <a:r>
                <a:rPr lang="en-US" altLang="zh-CN" sz="1400" dirty="0"/>
                <a:t>console.log</a:t>
              </a:r>
              <a:r>
                <a:rPr lang="zh-CN" altLang="en-US" sz="1400" dirty="0"/>
                <a:t>的打印结果</a:t>
              </a:r>
              <a:endParaRPr lang="zh-CN" altLang="en-US" sz="1400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411668" y="4781938"/>
              <a:ext cx="33637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/>
                <a:t>// </a:t>
              </a:r>
              <a:r>
                <a:rPr lang="zh-CN" altLang="en-US" sz="1400" dirty="0" smtClean="0"/>
                <a:t>第</a:t>
              </a:r>
              <a:r>
                <a:rPr lang="en-US" altLang="zh-CN" sz="1400" dirty="0"/>
                <a:t>4</a:t>
              </a:r>
              <a:r>
                <a:rPr lang="zh-CN" altLang="en-US" sz="1400" dirty="0" smtClean="0"/>
                <a:t>次</a:t>
              </a:r>
              <a:r>
                <a:rPr lang="en-US" altLang="zh-CN" sz="1400" dirty="0"/>
                <a:t>console.log</a:t>
              </a:r>
              <a:r>
                <a:rPr lang="zh-CN" altLang="en-US" sz="1400" dirty="0"/>
                <a:t>的打印结果</a:t>
              </a:r>
              <a:endParaRPr lang="zh-CN" altLang="en-US" sz="1400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990798" y="5579291"/>
            <a:ext cx="5494564" cy="686729"/>
            <a:chOff x="5076398" y="5704908"/>
            <a:chExt cx="5494564" cy="686729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3"/>
            <a:srcRect l="449" t="6057" r="2203" b="5462"/>
            <a:stretch>
              <a:fillRect/>
            </a:stretch>
          </p:blipFill>
          <p:spPr>
            <a:xfrm>
              <a:off x="5076398" y="5704908"/>
              <a:ext cx="5494564" cy="66349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21" name="文本框 20"/>
            <p:cNvSpPr txBox="1"/>
            <p:nvPr/>
          </p:nvSpPr>
          <p:spPr>
            <a:xfrm>
              <a:off x="5765628" y="5849823"/>
              <a:ext cx="37928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/>
                <a:t>// x[0]++; </a:t>
              </a:r>
              <a:r>
                <a:rPr lang="zh-CN" altLang="en-US" sz="1400" dirty="0" smtClean="0"/>
                <a:t>的返回值</a:t>
              </a:r>
              <a:endParaRPr lang="zh-CN" altLang="en-US" sz="1400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611991" y="6083860"/>
              <a:ext cx="37928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/>
                <a:t>// console.log </a:t>
              </a:r>
              <a:r>
                <a:rPr lang="zh-CN" altLang="en-US" sz="1400" dirty="0" smtClean="0"/>
                <a:t>打印的结果</a:t>
              </a:r>
              <a:endParaRPr lang="zh-CN" alt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网页动画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22874" y="1421267"/>
            <a:ext cx="7365855" cy="5278483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其它使用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setTimeout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的例子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告知浏览器，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1000ms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后执行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increase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打印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increase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尚未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执行，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不变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increase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会在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循环执行完毕后再执行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increase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1000ms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后执行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每次把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[0]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打印出的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[0]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递增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t="1207" r="42482"/>
          <a:stretch>
            <a:fillRect/>
          </a:stretch>
        </p:blipFill>
        <p:spPr>
          <a:xfrm>
            <a:off x="7955716" y="1511074"/>
            <a:ext cx="3398084" cy="46754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4" name="文本框 23"/>
          <p:cNvSpPr txBox="1"/>
          <p:nvPr/>
        </p:nvSpPr>
        <p:spPr>
          <a:xfrm>
            <a:off x="6368143" y="3429001"/>
            <a:ext cx="11021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for</a:t>
            </a:r>
            <a:r>
              <a:rPr lang="zh-CN" altLang="en-US" sz="1400" dirty="0" smtClean="0"/>
              <a:t>循环中</a:t>
            </a:r>
            <a:r>
              <a:rPr lang="en-US" altLang="zh-CN" sz="1400" dirty="0" smtClean="0"/>
              <a:t>console.log</a:t>
            </a:r>
            <a:r>
              <a:rPr lang="zh-CN" altLang="en-US" sz="1400" dirty="0"/>
              <a:t>的打印结果</a:t>
            </a:r>
            <a:endParaRPr lang="zh-CN" altLang="en-US" sz="1400" dirty="0"/>
          </a:p>
        </p:txBody>
      </p:sp>
      <p:sp>
        <p:nvSpPr>
          <p:cNvPr id="6" name="左大括号 5"/>
          <p:cNvSpPr/>
          <p:nvPr/>
        </p:nvSpPr>
        <p:spPr>
          <a:xfrm>
            <a:off x="7527472" y="3135086"/>
            <a:ext cx="347798" cy="11674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左大括号 24"/>
          <p:cNvSpPr/>
          <p:nvPr/>
        </p:nvSpPr>
        <p:spPr>
          <a:xfrm>
            <a:off x="7527472" y="4708072"/>
            <a:ext cx="347798" cy="11674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368143" y="4874079"/>
            <a:ext cx="11593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increase</a:t>
            </a:r>
            <a:r>
              <a:rPr lang="zh-CN" altLang="en-US" sz="1400" dirty="0" smtClean="0"/>
              <a:t>函数中</a:t>
            </a:r>
            <a:r>
              <a:rPr lang="en-US" altLang="zh-CN" sz="1400" dirty="0" smtClean="0"/>
              <a:t>console.log</a:t>
            </a:r>
            <a:r>
              <a:rPr lang="zh-CN" altLang="en-US" sz="1400" dirty="0"/>
              <a:t>的打印结果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280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switch-case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网页动画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 vs JS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Debug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专用函数：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509" y="1690687"/>
            <a:ext cx="10515600" cy="4636633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王小二写博客的过程看似一帆风顺，其实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层出不穷，还是多亏了下面的函数才能把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们找出来：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可以打印对象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有时会打印对象的详细信息（属性、方法）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很多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内置函数的返回值是对象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不确定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某函数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的返回值时，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可用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打印它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控制台可以执行用户直接输入的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台输入下面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代码，然后按回车执行，观察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控制台输出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a",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"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b",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"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];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 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不同浏览器效果可能不同，图示使用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l="3331" b="7293"/>
          <a:stretch>
            <a:fillRect/>
          </a:stretch>
        </p:blipFill>
        <p:spPr>
          <a:xfrm>
            <a:off x="9413284" y="4743450"/>
            <a:ext cx="2778716" cy="2114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278247" y="659071"/>
            <a:ext cx="7259023" cy="996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sz="2800" noProof="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noProof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查看函数的返回值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3366" y="1742710"/>
            <a:ext cx="6447674" cy="70788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options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document.getElementsByName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("op");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console.log(options);</a:t>
            </a: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78247" y="4572481"/>
            <a:ext cx="8121172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打印中间变量的值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739488" y="6420738"/>
            <a:ext cx="4477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materials/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web_exp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/blog3-6.html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l="6323" t="5472" r="11773" b="4710"/>
          <a:stretch>
            <a:fillRect/>
          </a:stretch>
        </p:blipFill>
        <p:spPr>
          <a:xfrm>
            <a:off x="7274560" y="1768999"/>
            <a:ext cx="4687503" cy="16995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矩形 14"/>
          <p:cNvSpPr/>
          <p:nvPr/>
        </p:nvSpPr>
        <p:spPr>
          <a:xfrm>
            <a:off x="603366" y="3638046"/>
            <a:ext cx="6376554" cy="70788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pwd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document.getElementById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pwd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console.log(</a:t>
            </a:r>
            <a:r>
              <a:rPr lang="en-US" altLang="zh-CN" sz="2000" dirty="0" err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pwd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560" y="3672013"/>
            <a:ext cx="4171950" cy="3905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矩形 16"/>
          <p:cNvSpPr/>
          <p:nvPr/>
        </p:nvSpPr>
        <p:spPr>
          <a:xfrm>
            <a:off x="603366" y="5078037"/>
            <a:ext cx="6834298" cy="15081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operand1 =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document.getElementById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("operand1");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x = operand1.value - 0;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operand2 =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document.getElementById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("operand2");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y = operand2.value - 0;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s-ES" altLang="zh-CN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es-E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"x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=", </a:t>
            </a:r>
            <a:r>
              <a:rPr lang="es-E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"</a:t>
            </a:r>
            <a:r>
              <a:rPr lang="es-E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y=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s-E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s-E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y);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018" y="5065190"/>
            <a:ext cx="3505200" cy="7334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019" y="5890567"/>
            <a:ext cx="3505200" cy="4382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603366" y="555260"/>
            <a:ext cx="7990114" cy="335766"/>
          </a:xfrm>
        </p:spPr>
        <p:txBody>
          <a:bodyPr>
            <a:normAutofit fontScale="90000"/>
          </a:bodyPr>
          <a:lstStyle/>
          <a:p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使用场景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280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switch-case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网页动画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 vs JS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936523" y="1491329"/>
            <a:ext cx="10515600" cy="5027458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要点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是用来做“本地编程”的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直接执行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操作硬盘中的文件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读取终端的命令行输入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 algn="just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可直接向终端输出信息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所访问的资源均在本地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是用来做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（网络）编程的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通过浏览器执行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操作展示在浏览器里的网页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向浏览器中的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console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里输出信息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所访问的文件可在万维网（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WWW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）中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 vs JS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 vs JS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838200" y="1121375"/>
          <a:ext cx="10515600" cy="530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878"/>
                <a:gridCol w="3917482"/>
                <a:gridCol w="4587240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Go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JavaScript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变量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需要类型，一旦声明，类型不能变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如：</a:t>
                      </a:r>
                      <a:r>
                        <a:rPr lang="en-US" altLang="zh-CN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var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a </a:t>
                      </a:r>
                      <a:r>
                        <a:rPr lang="en-US" altLang="zh-CN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= 1 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无类型，声明后可以把不同类型的值赋值给它，如：</a:t>
                      </a:r>
                      <a:r>
                        <a:rPr lang="en-US" altLang="zh-CN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var</a:t>
                      </a:r>
                      <a:r>
                        <a:rPr lang="en-US" altLang="zh-CN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a=1; a=“JS”;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数据类型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JS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多了数组、切片、字符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JS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里没有切片，数组是通过“对象”实现的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JS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里只有字符串类型，没有字符类型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函数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需要参数类型，返回值类型，可以有多个返回值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不需要参数类型，不需要写返回值类型，只能有一个返回值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函数是一种特殊“对象”，可组成函数数组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算术运算符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5/2=2   5.0/2=2.5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3.2 % 0.7 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编译时报错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5/2=2.5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3.2 % 0.7 ≈ 0.4 (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损失精度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比较运算符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不同类型值的比较编译时会报错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如果用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==(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!=)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比较，不同类型的值先自动转换成相同类型，再比较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如果用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===(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!==)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比较，不同类型的值比较的结果是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false(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true)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右移运算符 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&gt;&gt;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A&gt;&gt;B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是无符号数：高位补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是有符号数：高位补符号位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A&gt;&gt;B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：高位补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A&gt;&gt;&gt;B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：高位补符号位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 vs JS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838200" y="1151855"/>
          <a:ext cx="10515600" cy="395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878"/>
                <a:gridCol w="3917482"/>
                <a:gridCol w="4587240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Go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JavaScript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控制流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条件不用加括号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if x&lt;10 {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……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}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条件需要加括号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if (x&lt;10){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……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}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对象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没有讲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Array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对象、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Date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对象、代表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HTML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元素的对象等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打印函数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fmt.Println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</a:t>
                      </a:r>
                      <a:r>
                        <a:rPr lang="en-US" altLang="zh-CN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baseline="0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fmt.Printf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console.log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数组长度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len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(array)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array.length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语言类型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编译型，需先编译成可执行文件，再运行可执行文件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解释型，浏览器内置的解释器一句句解释执行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JS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语句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结尾不需要分号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结尾分号可有可无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内容大纲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2809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知识回顾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switch-case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网页动画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 vs JS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评分标准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05192"/>
            <a:ext cx="10515601" cy="4924091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作业提交：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实验代码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截止日期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实验代码：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23:00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23:00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0%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0%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167" y="2542724"/>
            <a:ext cx="9123866" cy="42734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53303" y="1630953"/>
            <a:ext cx="10969135" cy="2572582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登录课程教学平台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https://www.solid.things.ac.cn:7245/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，点击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实验信息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，点击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网络实验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，点击左上方的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实验信息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，点击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代码上传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23522" y="4250882"/>
            <a:ext cx="107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第三步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283051" y="3525691"/>
            <a:ext cx="723298" cy="29905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249167" y="2917245"/>
            <a:ext cx="736949" cy="34706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243206" y="3887495"/>
            <a:ext cx="546266" cy="31604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099967" y="2906111"/>
            <a:ext cx="107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第二步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233891" y="3842466"/>
            <a:ext cx="107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第一步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02832" y="5096944"/>
            <a:ext cx="6219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需要上传网页、封面图片、作品名字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46324" y="5053526"/>
            <a:ext cx="2756508" cy="74750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b="10452"/>
          <a:stretch>
            <a:fillRect/>
          </a:stretch>
        </p:blipFill>
        <p:spPr>
          <a:xfrm>
            <a:off x="1887195" y="3047922"/>
            <a:ext cx="8063049" cy="341187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实验报告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625" y="1774467"/>
            <a:ext cx="10515600" cy="1489843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登录课程教学平台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https://www.solid.things.ac.cn:7245/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，点击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实验报告提交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，点击左上方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实验报告提交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，选中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个人作品实验报告提交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740876" y="3047922"/>
            <a:ext cx="779839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887195" y="5073145"/>
            <a:ext cx="1167428" cy="269137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87195" y="3459805"/>
            <a:ext cx="1053250" cy="33988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648136" y="2670675"/>
            <a:ext cx="107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第一步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40445" y="3464293"/>
            <a:ext cx="107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第二步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78178" y="5347040"/>
            <a:ext cx="107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第三步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参考示例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0450"/>
          </a:xfrm>
        </p:spPr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hlinkClick r:id="rId1"/>
              </a:rPr>
              <a:t>https://www.solid.things.ac.cn:7245/web_exp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有一些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参考示例。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个人作品不要与参考示例重复。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268" y="2964658"/>
            <a:ext cx="5638723" cy="32886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Take home message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24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控制流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24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switch-case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24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2400"/>
              </a:spcBef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setTimeout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 vs JS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24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例子：结合你的专业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30532" y="1690688"/>
            <a:ext cx="3424837" cy="436040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158119" y="6352143"/>
            <a:ext cx="71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linkClick r:id="rId2"/>
              </a:rPr>
              <a:t>https://</a:t>
            </a:r>
            <a:r>
              <a:rPr lang="en-US" altLang="zh-CN" dirty="0" smtClean="0">
                <a:hlinkClick r:id="rId2"/>
              </a:rPr>
              <a:t>teacher.solid.things.ac.cn:7243/public/web/Langton's_Ant.html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7" name="内容占位符 2"/>
          <p:cNvSpPr txBox="1"/>
          <p:nvPr/>
        </p:nvSpPr>
        <p:spPr bwMode="auto">
          <a:xfrm>
            <a:off x="5447701" y="1690688"/>
            <a:ext cx="5814188" cy="7669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345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370" algn="l" rtl="0" fontAlgn="base">
              <a:spcBef>
                <a:spcPct val="20000"/>
              </a:spcBef>
              <a:spcAft>
                <a:spcPct val="0"/>
              </a:spcAft>
              <a:buClr>
                <a:srgbClr val="9900CC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280795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2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4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26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698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0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2400"/>
              </a:spcBef>
            </a:pPr>
            <a:r>
              <a:rPr lang="en-US" altLang="zh-CN" kern="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“Langton’s Ant” </a:t>
            </a:r>
            <a:r>
              <a:rPr lang="zh-CN" altLang="en-US" kern="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是一个数学游戏</a:t>
            </a:r>
            <a:endParaRPr lang="en-US" altLang="zh-CN" sz="2000" kern="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809833" y="6146919"/>
            <a:ext cx="8312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linkClick r:id="rId1"/>
              </a:rPr>
              <a:t>https://</a:t>
            </a:r>
            <a:r>
              <a:rPr lang="en-US" altLang="zh-CN" dirty="0" smtClean="0">
                <a:hlinkClick r:id="rId1"/>
              </a:rPr>
              <a:t>teacher.solid.things.ac.cn:7243/public/web/The_Three_Body_Game.html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4161" y="2651126"/>
            <a:ext cx="7101228" cy="3431014"/>
          </a:xfrm>
          <a:prstGeom prst="rect">
            <a:avLst/>
          </a:prstGeom>
        </p:spPr>
      </p:pic>
      <p:sp>
        <p:nvSpPr>
          <p:cNvPr id="8" name="内容占位符 2"/>
          <p:cNvSpPr txBox="1"/>
          <p:nvPr/>
        </p:nvSpPr>
        <p:spPr bwMode="auto">
          <a:xfrm>
            <a:off x="757086" y="1325563"/>
            <a:ext cx="8455742" cy="14441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345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370" algn="l" rtl="0" fontAlgn="base">
              <a:spcBef>
                <a:spcPct val="20000"/>
              </a:spcBef>
              <a:spcAft>
                <a:spcPct val="0"/>
              </a:spcAft>
              <a:buClr>
                <a:srgbClr val="9900CC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280795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2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4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26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698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0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</a:pPr>
            <a:r>
              <a:rPr lang="zh-CN" altLang="en-US" sz="2400" kern="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把“记忆游戏”嵌套进</a:t>
            </a:r>
            <a:r>
              <a:rPr lang="en-US" altLang="zh-CN" sz="2400" kern="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《</a:t>
            </a:r>
            <a:r>
              <a:rPr lang="zh-CN" altLang="en-US" sz="2400" kern="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三体</a:t>
            </a:r>
            <a:r>
              <a:rPr lang="en-US" altLang="zh-CN" sz="2400" kern="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》</a:t>
            </a:r>
            <a:r>
              <a:rPr lang="zh-CN" altLang="en-US" sz="2400" kern="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的背景中</a:t>
            </a:r>
            <a:endParaRPr lang="en-US" altLang="zh-CN" sz="2400" kern="0" dirty="0" smtClean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zh-CN" altLang="en-US" sz="2400" kern="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此</a:t>
            </a:r>
            <a:r>
              <a:rPr lang="zh-CN" altLang="en-US" sz="2400" kern="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网页的外观营造</a:t>
            </a:r>
            <a:r>
              <a:rPr lang="zh-CN" altLang="en-US" sz="2400" kern="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了神秘的氛围</a:t>
            </a:r>
            <a:endParaRPr lang="en-US" altLang="zh-CN" sz="2400" kern="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zh-CN" altLang="en-US" sz="2400" kern="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所有的图片均已被致谢</a:t>
            </a:r>
            <a:endParaRPr lang="en-US" altLang="zh-CN" sz="2400" kern="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endParaRPr lang="en-US" altLang="zh-CN" sz="1800" kern="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43999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例子：表达得好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626587" y="6051902"/>
            <a:ext cx="71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linkClick r:id="rId1"/>
              </a:rPr>
              <a:t>https://</a:t>
            </a:r>
            <a:r>
              <a:rPr lang="en-US" altLang="zh-CN" dirty="0" smtClean="0">
                <a:hlinkClick r:id="rId1"/>
              </a:rPr>
              <a:t>teacher.solid.things.ac.cn:7243/public/web/Fibonacci_1.html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8073" y="2879789"/>
            <a:ext cx="7608128" cy="29876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内容占位符 2"/>
          <p:cNvSpPr txBox="1"/>
          <p:nvPr/>
        </p:nvSpPr>
        <p:spPr bwMode="auto">
          <a:xfrm>
            <a:off x="1929581" y="1251382"/>
            <a:ext cx="8558908" cy="34648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345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370" algn="l" rtl="0" fontAlgn="base">
              <a:spcBef>
                <a:spcPct val="20000"/>
              </a:spcBef>
              <a:spcAft>
                <a:spcPct val="0"/>
              </a:spcAft>
              <a:buClr>
                <a:srgbClr val="9900CC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280795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2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4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26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698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0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2400"/>
              </a:spcBef>
            </a:pPr>
            <a:r>
              <a:rPr lang="zh-CN" altLang="en-US" kern="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此网页展示了斐波那契亚曲线</a:t>
            </a:r>
            <a:endParaRPr lang="en-US" altLang="zh-CN" kern="0" dirty="0" smtClean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>
              <a:spcBef>
                <a:spcPts val="2400"/>
              </a:spcBef>
            </a:pPr>
            <a:r>
              <a:rPr lang="zh-CN" altLang="en-US" kern="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遵循了良好的编程习惯</a:t>
            </a:r>
            <a:endParaRPr lang="en-US" altLang="zh-CN" sz="2000" kern="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43999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例子：编程习惯好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7441454" y="1629569"/>
            <a:ext cx="3216202" cy="34648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345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370" algn="l" rtl="0" fontAlgn="base">
              <a:spcBef>
                <a:spcPct val="20000"/>
              </a:spcBef>
              <a:spcAft>
                <a:spcPct val="0"/>
              </a:spcAft>
              <a:buClr>
                <a:srgbClr val="9900CC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280795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2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4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26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698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0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2400"/>
              </a:spcBef>
            </a:pPr>
            <a:r>
              <a:rPr lang="en-US" altLang="zh-CN" sz="1800" dirty="0"/>
              <a:t>Put constant definitions up front.</a:t>
            </a:r>
            <a:endParaRPr lang="en-US" altLang="zh-CN" sz="1800" dirty="0"/>
          </a:p>
          <a:p>
            <a:pPr>
              <a:spcBef>
                <a:spcPts val="2400"/>
              </a:spcBef>
            </a:pPr>
            <a:r>
              <a:rPr lang="en-US" altLang="zh-CN" sz="1800" dirty="0"/>
              <a:t>Use descriptive names</a:t>
            </a:r>
            <a:endParaRPr lang="en-US" altLang="zh-CN" sz="1800" dirty="0"/>
          </a:p>
          <a:p>
            <a:pPr>
              <a:spcBef>
                <a:spcPts val="2400"/>
              </a:spcBef>
            </a:pPr>
            <a:r>
              <a:rPr lang="en-US" altLang="zh-CN" sz="1800" dirty="0"/>
              <a:t>Avoid repetitive code</a:t>
            </a:r>
            <a:endParaRPr lang="en-US" altLang="zh-CN" sz="1800" dirty="0"/>
          </a:p>
          <a:p>
            <a:pPr>
              <a:spcBef>
                <a:spcPts val="2400"/>
              </a:spcBef>
            </a:pPr>
            <a:r>
              <a:rPr lang="en-US" altLang="zh-CN" sz="1800" dirty="0"/>
              <a:t>Use </a:t>
            </a:r>
            <a:r>
              <a:rPr lang="en-US" altLang="zh-CN" sz="1800" dirty="0" smtClean="0"/>
              <a:t>comments</a:t>
            </a:r>
            <a:r>
              <a:rPr lang="zh-CN" altLang="en-US" sz="1800" dirty="0" smtClean="0"/>
              <a:t>（注释）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to document the </a:t>
            </a:r>
            <a:r>
              <a:rPr lang="en-US" altLang="zh-CN" sz="1800" dirty="0" smtClean="0"/>
              <a:t>code</a:t>
            </a:r>
            <a:endParaRPr lang="en-US" altLang="zh-CN" sz="1800" dirty="0" smtClean="0"/>
          </a:p>
          <a:p>
            <a:pPr>
              <a:spcBef>
                <a:spcPts val="2400"/>
              </a:spcBef>
            </a:pPr>
            <a:r>
              <a:rPr lang="en-US" altLang="zh-CN" sz="1800" dirty="0" smtClean="0"/>
              <a:t>Avoid </a:t>
            </a:r>
            <a:r>
              <a:rPr lang="en-US" altLang="zh-CN" sz="1800" dirty="0"/>
              <a:t>magic numbers</a:t>
            </a:r>
            <a:endParaRPr lang="en-US" altLang="zh-CN" sz="1800" kern="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2457451" y="1390650"/>
            <a:ext cx="5114925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 flipV="1">
            <a:off x="2667001" y="1552576"/>
            <a:ext cx="4905375" cy="113347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2619375" y="2676526"/>
            <a:ext cx="4953000" cy="130492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>
            <a:off x="2905125" y="2686051"/>
            <a:ext cx="4667250" cy="2560737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3057526" y="2496692"/>
            <a:ext cx="4562475" cy="76085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2905125" y="3257551"/>
            <a:ext cx="4667250" cy="41967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 flipV="1">
            <a:off x="4585557" y="2877120"/>
            <a:ext cx="2986819" cy="9923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5119687" y="3869433"/>
            <a:ext cx="2452688" cy="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5238751" y="3857055"/>
            <a:ext cx="2333625" cy="86159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3924300" y="4718645"/>
            <a:ext cx="3695700" cy="18673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>
            <a:off x="5014912" y="4728170"/>
            <a:ext cx="2605088" cy="42496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内容占位符 7"/>
          <p:cNvSpPr txBox="1"/>
          <p:nvPr/>
        </p:nvSpPr>
        <p:spPr bwMode="auto">
          <a:xfrm>
            <a:off x="1535016" y="1133128"/>
            <a:ext cx="5973638" cy="54726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345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370" algn="l" rtl="0" fontAlgn="base">
              <a:spcBef>
                <a:spcPct val="20000"/>
              </a:spcBef>
              <a:spcAft>
                <a:spcPct val="0"/>
              </a:spcAft>
              <a:buClr>
                <a:srgbClr val="9900CC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280795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2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4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26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698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0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i="1" kern="0" smtClean="0">
                <a:solidFill>
                  <a:srgbClr val="A0A1A7"/>
                </a:solidFill>
                <a:latin typeface="Consolas" panose="020B0609020204030204" pitchFamily="49" charset="0"/>
              </a:rPr>
              <a:t>// code executed directly: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len = 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14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; </a:t>
            </a:r>
            <a:r>
              <a:rPr lang="en-US" altLang="zh-CN" sz="800" i="1" kern="0" smtClean="0">
                <a:solidFill>
                  <a:srgbClr val="A0A1A7"/>
                </a:solidFill>
                <a:latin typeface="Consolas" panose="020B0609020204030204" pitchFamily="49" charset="0"/>
              </a:rPr>
              <a:t>// the number of Fibonicaii numbers to form the Curve (Global variable)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fibonaciiArray = </a:t>
            </a: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800" kern="0" smtClean="0">
                <a:solidFill>
                  <a:srgbClr val="C18401"/>
                </a:solidFill>
                <a:latin typeface="Consolas" panose="020B0609020204030204" pitchFamily="49" charset="0"/>
              </a:rPr>
              <a:t>Array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(len); </a:t>
            </a:r>
            <a:r>
              <a:rPr lang="en-US" altLang="zh-CN" sz="800" i="1" kern="0" smtClean="0">
                <a:solidFill>
                  <a:srgbClr val="A0A1A7"/>
                </a:solidFill>
                <a:latin typeface="Consolas" panose="020B0609020204030204" pitchFamily="49" charset="0"/>
              </a:rPr>
              <a:t>// Fibonicaii numbers to form the Curve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calculate_fibnacii();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drawFibonacciArc();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i="1" kern="0" smtClean="0">
                <a:solidFill>
                  <a:srgbClr val="A0A1A7"/>
                </a:solidFill>
                <a:latin typeface="Consolas" panose="020B0609020204030204" pitchFamily="49" charset="0"/>
              </a:rPr>
              <a:t>// function definition: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800" kern="0" smtClean="0">
                <a:solidFill>
                  <a:srgbClr val="4078F2"/>
                </a:solidFill>
                <a:latin typeface="Consolas" panose="020B0609020204030204" pitchFamily="49" charset="0"/>
              </a:rPr>
              <a:t>calculate_fibnacii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(){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fibonaciiArray[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] = 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; fibonaciiArray[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] = 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i=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;i&lt;len;i++) fibonaciiArray[i]=fibonaciiArray[i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-1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]+fibonaciiArray[i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-2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];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}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800" kern="0" smtClean="0">
                <a:solidFill>
                  <a:srgbClr val="4078F2"/>
                </a:solidFill>
                <a:latin typeface="Consolas" panose="020B0609020204030204" pitchFamily="49" charset="0"/>
              </a:rPr>
              <a:t>drawFibonacciArc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(){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800" i="1" kern="0" smtClean="0">
                <a:solidFill>
                  <a:srgbClr val="A0A1A7"/>
                </a:solidFill>
                <a:latin typeface="Consolas" panose="020B0609020204030204" pitchFamily="49" charset="0"/>
              </a:rPr>
              <a:t>// show the whole curve by draw many 1/4 circles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canvas = </a:t>
            </a:r>
            <a:r>
              <a:rPr lang="en-US" altLang="zh-CN" sz="800" kern="0" smtClean="0">
                <a:solidFill>
                  <a:srgbClr val="C18401"/>
                </a:solidFill>
                <a:latin typeface="Consolas" panose="020B0609020204030204" pitchFamily="49" charset="0"/>
              </a:rPr>
              <a:t>document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.getElementById(</a:t>
            </a:r>
            <a:r>
              <a:rPr lang="en-US" altLang="zh-CN" sz="800" kern="0" smtClean="0">
                <a:solidFill>
                  <a:srgbClr val="50A14F"/>
                </a:solidFill>
                <a:latin typeface="Consolas" panose="020B0609020204030204" pitchFamily="49" charset="0"/>
              </a:rPr>
              <a:t>"myCanvas"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); </a:t>
            </a:r>
            <a:r>
              <a:rPr lang="en-US" altLang="zh-CN" sz="800" i="1" kern="0" smtClean="0">
                <a:solidFill>
                  <a:srgbClr val="A0A1A7"/>
                </a:solidFill>
                <a:latin typeface="Consolas" panose="020B0609020204030204" pitchFamily="49" charset="0"/>
              </a:rPr>
              <a:t>// get Canvas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ctx = canvas.getContext(</a:t>
            </a:r>
            <a:r>
              <a:rPr lang="en-US" altLang="zh-CN" sz="800" kern="0" smtClean="0">
                <a:solidFill>
                  <a:srgbClr val="50A14F"/>
                </a:solidFill>
                <a:latin typeface="Consolas" panose="020B0609020204030204" pitchFamily="49" charset="0"/>
              </a:rPr>
              <a:t>"2d"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);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x0 = 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400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, y0 = 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200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x = x0, y = y0, startDegree = 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, endDegree = 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90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(</a:t>
            </a: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i = 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; i &lt; len; i++) {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i="1" kern="0" smtClean="0">
                <a:solidFill>
                  <a:srgbClr val="A0A1A7"/>
                </a:solidFill>
                <a:latin typeface="Consolas" panose="020B0609020204030204" pitchFamily="49" charset="0"/>
              </a:rPr>
              <a:t>// Draw 1/4 Circle whose radius is fibonaciiNumber[i]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radius = fibonaciiArray[i];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ctx.beginPath();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ctx.strokeStyle = </a:t>
            </a:r>
            <a:r>
              <a:rPr lang="en-US" altLang="zh-CN" sz="800" kern="0" smtClean="0">
                <a:solidFill>
                  <a:srgbClr val="50A14F"/>
                </a:solidFill>
                <a:latin typeface="Consolas" panose="020B0609020204030204" pitchFamily="49" charset="0"/>
              </a:rPr>
              <a:t>"black"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ctx.arc(x,y,radius,(startDegree/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180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)*</a:t>
            </a:r>
            <a:r>
              <a:rPr lang="en-US" altLang="zh-CN" sz="800" kern="0" smtClean="0">
                <a:solidFill>
                  <a:srgbClr val="C18401"/>
                </a:solidFill>
                <a:latin typeface="Consolas" panose="020B0609020204030204" pitchFamily="49" charset="0"/>
              </a:rPr>
              <a:t>Math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.PI,(endDegree/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180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)*</a:t>
            </a:r>
            <a:r>
              <a:rPr lang="en-US" altLang="zh-CN" sz="800" kern="0" smtClean="0">
                <a:solidFill>
                  <a:srgbClr val="C18401"/>
                </a:solidFill>
                <a:latin typeface="Consolas" panose="020B0609020204030204" pitchFamily="49" charset="0"/>
              </a:rPr>
              <a:t>Math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.PI);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ctx.stroke();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i="1" kern="0" smtClean="0">
                <a:solidFill>
                  <a:srgbClr val="A0A1A7"/>
                </a:solidFill>
                <a:latin typeface="Consolas" panose="020B0609020204030204" pitchFamily="49" charset="0"/>
              </a:rPr>
              <a:t>// update the position of the center of next 1/4 circle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direction = startDegree/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90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(i&lt;len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-1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){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inc_x = (direction%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2-2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800" kern="0" smtClean="0">
                <a:solidFill>
                  <a:srgbClr val="C18401"/>
                </a:solidFill>
                <a:latin typeface="Consolas" panose="020B0609020204030204" pitchFamily="49" charset="0"/>
              </a:rPr>
              <a:t>Math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.floor(direction/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))*(fibonaciiArray[i+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]-fibonaciiArray[i]);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sz="800" kern="0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inc_y = -(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-direction+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800" kern="0" smtClean="0">
                <a:solidFill>
                  <a:srgbClr val="C18401"/>
                </a:solidFill>
                <a:latin typeface="Consolas" panose="020B0609020204030204" pitchFamily="49" charset="0"/>
              </a:rPr>
              <a:t>Math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.floor(direction/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))*(fibonaciiArray[i+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]-fibonaciiArray[i]);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    x += inc_x; y += inc_y;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}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i="1" kern="0" smtClean="0">
                <a:solidFill>
                  <a:srgbClr val="A0A1A7"/>
                </a:solidFill>
                <a:latin typeface="Consolas" panose="020B0609020204030204" pitchFamily="49" charset="0"/>
              </a:rPr>
              <a:t>// update the range of degrees of next 1/4 circle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startDegree = (startDegree+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90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)%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360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endDegree = (endDegree+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90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)%</a:t>
            </a:r>
            <a:r>
              <a:rPr lang="en-US" altLang="zh-CN" sz="800" kern="0" smtClean="0">
                <a:solidFill>
                  <a:srgbClr val="986801"/>
                </a:solidFill>
                <a:latin typeface="Consolas" panose="020B0609020204030204" pitchFamily="49" charset="0"/>
              </a:rPr>
              <a:t>360</a:t>
            </a: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};</a:t>
            </a:r>
            <a:endParaRPr lang="en-US" altLang="zh-CN" sz="800" kern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smtClean="0">
                <a:solidFill>
                  <a:srgbClr val="5C5C5C"/>
                </a:solidFill>
                <a:latin typeface="Consolas" panose="020B0609020204030204" pitchFamily="49" charset="0"/>
              </a:rPr>
              <a:t>}</a:t>
            </a:r>
            <a:endParaRPr lang="en-US" altLang="zh-CN" sz="800" kern="0" dirty="0">
              <a:solidFill>
                <a:srgbClr val="5C5C5C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标题 1"/>
          <p:cNvSpPr txBox="1"/>
          <p:nvPr/>
        </p:nvSpPr>
        <p:spPr>
          <a:xfrm>
            <a:off x="43999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例子：编程习惯好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157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Tips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Canvas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20" name="内容占位符 2"/>
          <p:cNvSpPr txBox="1"/>
          <p:nvPr/>
        </p:nvSpPr>
        <p:spPr bwMode="auto">
          <a:xfrm>
            <a:off x="6266086" y="2660467"/>
            <a:ext cx="4450270" cy="18728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345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370" algn="l" rtl="0" fontAlgn="base">
              <a:spcBef>
                <a:spcPct val="20000"/>
              </a:spcBef>
              <a:spcAft>
                <a:spcPct val="0"/>
              </a:spcAft>
              <a:buClr>
                <a:srgbClr val="9900CC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280795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2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4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26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698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0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2400" kern="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Canvas</a:t>
            </a:r>
            <a:r>
              <a:rPr lang="zh-CN" altLang="en-US" sz="2400" kern="0" dirty="0" smtClean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的用法：</a:t>
            </a:r>
            <a:endParaRPr lang="en-US" altLang="zh-CN" sz="2400" kern="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80137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kern="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canvas = </a:t>
            </a:r>
            <a:r>
              <a:rPr lang="en-US" altLang="zh-CN" sz="2000" kern="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document.getElementById</a:t>
            </a:r>
            <a:r>
              <a:rPr lang="en-US" altLang="zh-CN" sz="2000" kern="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(“…”)</a:t>
            </a:r>
            <a:endParaRPr lang="en-US" altLang="zh-CN" sz="2000" kern="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80137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kern="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ctx</a:t>
            </a:r>
            <a:r>
              <a:rPr lang="en-US" altLang="zh-CN" sz="2000" kern="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= </a:t>
            </a:r>
            <a:r>
              <a:rPr lang="en-US" altLang="zh-CN" sz="2000" kern="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canvas.getContext</a:t>
            </a:r>
            <a:r>
              <a:rPr lang="en-US" altLang="zh-CN" sz="2000" kern="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(“2d”)</a:t>
            </a:r>
            <a:endParaRPr lang="en-US" altLang="zh-CN" sz="2000" kern="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80137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kern="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ctx.XXX</a:t>
            </a:r>
            <a:r>
              <a:rPr lang="en-US" altLang="zh-CN" sz="2000" kern="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()</a:t>
            </a:r>
            <a:endParaRPr lang="en-US" altLang="zh-CN" sz="2000" kern="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80137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kern="0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ctx.stroke</a:t>
            </a:r>
            <a:r>
              <a:rPr lang="en-US" altLang="zh-CN" sz="2000" kern="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()</a:t>
            </a:r>
            <a:endParaRPr lang="en-US" altLang="zh-CN" sz="2000" kern="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4637944" y="3038476"/>
            <a:ext cx="1991457" cy="161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 flipV="1">
            <a:off x="3867151" y="3190875"/>
            <a:ext cx="2752725" cy="571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3857626" y="4048126"/>
            <a:ext cx="2771775" cy="219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>
            <a:off x="2905125" y="4295775"/>
            <a:ext cx="3724276" cy="323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7"/>
          <p:cNvSpPr txBox="1"/>
          <p:nvPr/>
        </p:nvSpPr>
        <p:spPr bwMode="auto">
          <a:xfrm>
            <a:off x="1598735" y="1142961"/>
            <a:ext cx="6078413" cy="54726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345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370" algn="l" rtl="0" fontAlgn="base">
              <a:spcBef>
                <a:spcPct val="20000"/>
              </a:spcBef>
              <a:spcAft>
                <a:spcPct val="0"/>
              </a:spcAft>
              <a:buClr>
                <a:srgbClr val="9900CC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280795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2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4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26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698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095" indent="-315595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i="1" kern="0" dirty="0" smtClean="0">
                <a:solidFill>
                  <a:srgbClr val="A0A1A7"/>
                </a:solidFill>
                <a:latin typeface="Consolas" panose="020B0609020204030204" pitchFamily="49" charset="0"/>
              </a:rPr>
              <a:t>// code executed directly: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err="1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14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; </a:t>
            </a:r>
            <a:r>
              <a:rPr lang="en-US" altLang="zh-CN" sz="800" i="1" kern="0" dirty="0" smtClean="0">
                <a:solidFill>
                  <a:srgbClr val="A0A1A7"/>
                </a:solidFill>
                <a:latin typeface="Consolas" panose="020B0609020204030204" pitchFamily="49" charset="0"/>
              </a:rPr>
              <a:t>// the number of </a:t>
            </a:r>
            <a:r>
              <a:rPr lang="en-US" altLang="zh-CN" sz="800" i="1" kern="0" dirty="0" err="1" smtClean="0">
                <a:solidFill>
                  <a:srgbClr val="A0A1A7"/>
                </a:solidFill>
                <a:latin typeface="Consolas" panose="020B0609020204030204" pitchFamily="49" charset="0"/>
              </a:rPr>
              <a:t>Fibonicaii</a:t>
            </a:r>
            <a:r>
              <a:rPr lang="en-US" altLang="zh-CN" sz="800" i="1" kern="0" dirty="0" smtClean="0">
                <a:solidFill>
                  <a:srgbClr val="A0A1A7"/>
                </a:solidFill>
                <a:latin typeface="Consolas" panose="020B0609020204030204" pitchFamily="49" charset="0"/>
              </a:rPr>
              <a:t> numbers to form the Curve (Global variable)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err="1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fibonaciiArray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sz="800" kern="0" dirty="0" smtClean="0">
                <a:solidFill>
                  <a:srgbClr val="A626A4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800" kern="0" dirty="0" smtClean="0">
                <a:solidFill>
                  <a:srgbClr val="C18401"/>
                </a:solidFill>
                <a:latin typeface="Consolas" panose="020B0609020204030204" pitchFamily="49" charset="0"/>
              </a:rPr>
              <a:t>Array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); </a:t>
            </a:r>
            <a:r>
              <a:rPr lang="en-US" altLang="zh-CN" sz="800" i="1" kern="0" dirty="0" smtClean="0">
                <a:solidFill>
                  <a:srgbClr val="A0A1A7"/>
                </a:solidFill>
                <a:latin typeface="Consolas" panose="020B0609020204030204" pitchFamily="49" charset="0"/>
              </a:rPr>
              <a:t>// </a:t>
            </a:r>
            <a:r>
              <a:rPr lang="en-US" altLang="zh-CN" sz="800" i="1" kern="0" dirty="0" err="1" smtClean="0">
                <a:solidFill>
                  <a:srgbClr val="A0A1A7"/>
                </a:solidFill>
                <a:latin typeface="Consolas" panose="020B0609020204030204" pitchFamily="49" charset="0"/>
              </a:rPr>
              <a:t>Fibonicaii</a:t>
            </a:r>
            <a:r>
              <a:rPr lang="en-US" altLang="zh-CN" sz="800" i="1" kern="0" dirty="0" smtClean="0">
                <a:solidFill>
                  <a:srgbClr val="A0A1A7"/>
                </a:solidFill>
                <a:latin typeface="Consolas" panose="020B0609020204030204" pitchFamily="49" charset="0"/>
              </a:rPr>
              <a:t> numbers to form the Curve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calculate_fibnacii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();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drawFibonacciArc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();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i="1" kern="0" dirty="0" smtClean="0">
                <a:solidFill>
                  <a:srgbClr val="A0A1A7"/>
                </a:solidFill>
                <a:latin typeface="Consolas" panose="020B0609020204030204" pitchFamily="49" charset="0"/>
              </a:rPr>
              <a:t>// function definition: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A626A4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800" kern="0" dirty="0" err="1" smtClean="0">
                <a:solidFill>
                  <a:srgbClr val="4078F2"/>
                </a:solidFill>
                <a:latin typeface="Consolas" panose="020B0609020204030204" pitchFamily="49" charset="0"/>
              </a:rPr>
              <a:t>calculate_fibnacii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(){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fibonaciiArray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] = 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;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fibonaciiArray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] = 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800" kern="0" dirty="0" smtClean="0">
                <a:solidFill>
                  <a:srgbClr val="A626A4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800" kern="0" dirty="0" err="1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;i&lt;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len;i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++)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fibonaciiArray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]=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fibonaciiArray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[i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-1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]+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fibonaciiArray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[i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-2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];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}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A626A4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800" kern="0" dirty="0" err="1" smtClean="0">
                <a:solidFill>
                  <a:srgbClr val="4078F2"/>
                </a:solidFill>
                <a:latin typeface="Consolas" panose="020B0609020204030204" pitchFamily="49" charset="0"/>
              </a:rPr>
              <a:t>drawFibonacciArc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(){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800" i="1" kern="0" dirty="0" smtClean="0">
                <a:solidFill>
                  <a:srgbClr val="A0A1A7"/>
                </a:solidFill>
                <a:latin typeface="Consolas" panose="020B0609020204030204" pitchFamily="49" charset="0"/>
              </a:rPr>
              <a:t>// show the whole curve by draw many 1/4 circles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800" kern="0" dirty="0" err="1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canvas = </a:t>
            </a:r>
            <a:r>
              <a:rPr lang="en-US" altLang="zh-CN" sz="800" kern="0" dirty="0" err="1" smtClean="0">
                <a:solidFill>
                  <a:srgbClr val="C18401"/>
                </a:solidFill>
                <a:latin typeface="Consolas" panose="020B0609020204030204" pitchFamily="49" charset="0"/>
              </a:rPr>
              <a:t>document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.getElementById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800" kern="0" dirty="0" smtClean="0">
                <a:solidFill>
                  <a:srgbClr val="50A14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800" kern="0" dirty="0" err="1" smtClean="0">
                <a:solidFill>
                  <a:srgbClr val="50A14F"/>
                </a:solidFill>
                <a:latin typeface="Consolas" panose="020B0609020204030204" pitchFamily="49" charset="0"/>
              </a:rPr>
              <a:t>myCanvas</a:t>
            </a:r>
            <a:r>
              <a:rPr lang="en-US" altLang="zh-CN" sz="800" kern="0" dirty="0" smtClean="0">
                <a:solidFill>
                  <a:srgbClr val="50A14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); </a:t>
            </a:r>
            <a:r>
              <a:rPr lang="en-US" altLang="zh-CN" sz="800" i="1" kern="0" dirty="0" smtClean="0">
                <a:solidFill>
                  <a:srgbClr val="A0A1A7"/>
                </a:solidFill>
                <a:latin typeface="Consolas" panose="020B0609020204030204" pitchFamily="49" charset="0"/>
              </a:rPr>
              <a:t>// get Canvas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800" kern="0" dirty="0" err="1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ctx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canvas.getContext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800" kern="0" dirty="0" smtClean="0">
                <a:solidFill>
                  <a:srgbClr val="50A14F"/>
                </a:solidFill>
                <a:latin typeface="Consolas" panose="020B0609020204030204" pitchFamily="49" charset="0"/>
              </a:rPr>
              <a:t>"2d"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);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800" kern="0" dirty="0" err="1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x0 = 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400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, y0 = 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200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800" kern="0" dirty="0" err="1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x = x0, y = y0,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startDegree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,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endDegree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90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800" kern="0" dirty="0" smtClean="0">
                <a:solidFill>
                  <a:srgbClr val="A626A4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(</a:t>
            </a:r>
            <a:r>
              <a:rPr lang="en-US" altLang="zh-CN" sz="800" kern="0" dirty="0" err="1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;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&lt;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;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++) {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i="1" kern="0" dirty="0" smtClean="0">
                <a:solidFill>
                  <a:srgbClr val="A0A1A7"/>
                </a:solidFill>
                <a:latin typeface="Consolas" panose="020B0609020204030204" pitchFamily="49" charset="0"/>
              </a:rPr>
              <a:t>// Draw 1/4 Circle whose radius is </a:t>
            </a:r>
            <a:r>
              <a:rPr lang="en-US" altLang="zh-CN" sz="800" i="1" kern="0" dirty="0" err="1" smtClean="0">
                <a:solidFill>
                  <a:srgbClr val="A0A1A7"/>
                </a:solidFill>
                <a:latin typeface="Consolas" panose="020B0609020204030204" pitchFamily="49" charset="0"/>
              </a:rPr>
              <a:t>fibonaciiNumber</a:t>
            </a:r>
            <a:r>
              <a:rPr lang="en-US" altLang="zh-CN" sz="800" i="1" kern="0" dirty="0" smtClean="0">
                <a:solidFill>
                  <a:srgbClr val="A0A1A7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800" i="1" kern="0" dirty="0" err="1" smtClean="0">
                <a:solidFill>
                  <a:srgbClr val="A0A1A7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800" i="1" kern="0" dirty="0" smtClean="0">
                <a:solidFill>
                  <a:srgbClr val="A0A1A7"/>
                </a:solidFill>
                <a:latin typeface="Consolas" panose="020B0609020204030204" pitchFamily="49" charset="0"/>
              </a:rPr>
              <a:t>]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kern="0" dirty="0" err="1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radius =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fibonaciiArray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];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ctx.beginPath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();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ctx.strokeStyle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= </a:t>
            </a:r>
            <a:r>
              <a:rPr lang="en-US" altLang="zh-CN" sz="800" kern="0" dirty="0" smtClean="0">
                <a:solidFill>
                  <a:srgbClr val="50A14F"/>
                </a:solidFill>
                <a:latin typeface="Consolas" panose="020B0609020204030204" pitchFamily="49" charset="0"/>
              </a:rPr>
              <a:t>"black"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ctx.arc(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x,y,radius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,(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startDegree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180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)*</a:t>
            </a:r>
            <a:r>
              <a:rPr lang="en-US" altLang="zh-CN" sz="800" kern="0" dirty="0" err="1" smtClean="0">
                <a:solidFill>
                  <a:srgbClr val="C18401"/>
                </a:solidFill>
                <a:latin typeface="Consolas" panose="020B0609020204030204" pitchFamily="49" charset="0"/>
              </a:rPr>
              <a:t>Math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.PI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,(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endDegree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180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)*</a:t>
            </a:r>
            <a:r>
              <a:rPr lang="en-US" altLang="zh-CN" sz="800" kern="0" dirty="0" err="1" smtClean="0">
                <a:solidFill>
                  <a:srgbClr val="C18401"/>
                </a:solidFill>
                <a:latin typeface="Consolas" panose="020B0609020204030204" pitchFamily="49" charset="0"/>
              </a:rPr>
              <a:t>Math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.PI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);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ctx.stroke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();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i="1" kern="0" dirty="0" smtClean="0">
                <a:solidFill>
                  <a:srgbClr val="A0A1A7"/>
                </a:solidFill>
                <a:latin typeface="Consolas" panose="020B0609020204030204" pitchFamily="49" charset="0"/>
              </a:rPr>
              <a:t>// update the position of the center of next 1/4 circle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kern="0" dirty="0" err="1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direction =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startDegree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90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kern="0" dirty="0" smtClean="0">
                <a:solidFill>
                  <a:srgbClr val="A626A4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&lt;len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-1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){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sz="800" kern="0" dirty="0" err="1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inc_x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= (direction%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2-2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800" kern="0" dirty="0" err="1" smtClean="0">
                <a:solidFill>
                  <a:srgbClr val="C18401"/>
                </a:solidFill>
                <a:latin typeface="Consolas" panose="020B0609020204030204" pitchFamily="49" charset="0"/>
              </a:rPr>
              <a:t>Math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.floor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(direction/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))*(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fibonaciiArray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[i+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]-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fibonaciiArray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]);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sz="800" kern="0" dirty="0" err="1" smtClean="0">
                <a:solidFill>
                  <a:srgbClr val="A626A4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inc_y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= -(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-direction+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800" kern="0" dirty="0" err="1" smtClean="0">
                <a:solidFill>
                  <a:srgbClr val="C18401"/>
                </a:solidFill>
                <a:latin typeface="Consolas" panose="020B0609020204030204" pitchFamily="49" charset="0"/>
              </a:rPr>
              <a:t>Math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.floor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(direction/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))*(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fibonaciiArray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[i+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]-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fibonaciiArray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]);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    x +=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inc_x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; y +=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inc_y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}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i="1" kern="0" dirty="0" smtClean="0">
                <a:solidFill>
                  <a:srgbClr val="A0A1A7"/>
                </a:solidFill>
                <a:latin typeface="Consolas" panose="020B0609020204030204" pitchFamily="49" charset="0"/>
              </a:rPr>
              <a:t>// update the range of degrees of next 1/4 circle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startDegree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= (startDegree+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90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)%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360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800" kern="0" dirty="0" err="1" smtClean="0">
                <a:solidFill>
                  <a:srgbClr val="5C5C5C"/>
                </a:solidFill>
                <a:latin typeface="Consolas" panose="020B0609020204030204" pitchFamily="49" charset="0"/>
              </a:rPr>
              <a:t>endDegree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= (endDegree+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90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)%</a:t>
            </a:r>
            <a:r>
              <a:rPr lang="en-US" altLang="zh-CN" sz="800" kern="0" dirty="0" smtClean="0">
                <a:solidFill>
                  <a:srgbClr val="986801"/>
                </a:solidFill>
                <a:latin typeface="Consolas" panose="020B0609020204030204" pitchFamily="49" charset="0"/>
              </a:rPr>
              <a:t>360</a:t>
            </a: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    };</a:t>
            </a:r>
            <a:endParaRPr lang="en-US" altLang="zh-CN" sz="800" kern="0" dirty="0" smtClean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800" kern="0" dirty="0" smtClean="0">
                <a:solidFill>
                  <a:srgbClr val="5C5C5C"/>
                </a:solidFill>
                <a:latin typeface="Consolas" panose="020B0609020204030204" pitchFamily="49" charset="0"/>
              </a:rPr>
              <a:t>}</a:t>
            </a:r>
            <a:endParaRPr lang="en-US" altLang="zh-CN" sz="800" kern="0" dirty="0">
              <a:solidFill>
                <a:srgbClr val="5C5C5C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附录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GO</a:t>
            </a:r>
            <a:r>
              <a:rPr lang="zh-CN" altLang="en-US" dirty="0" smtClean="0"/>
              <a:t>和</a:t>
            </a:r>
            <a:r>
              <a:rPr lang="en-US" altLang="zh-CN" dirty="0" smtClean="0"/>
              <a:t>JS</a:t>
            </a:r>
            <a:r>
              <a:rPr lang="zh-CN" altLang="en-US" dirty="0" smtClean="0"/>
              <a:t>的快速排序代码对比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快速排序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 vs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 TODO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35570" y="3162467"/>
            <a:ext cx="6368719" cy="23083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&lt;script&gt;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err="1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1600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new Array</a:t>
            </a:r>
            <a:r>
              <a:rPr lang="en-US" altLang="zh-CN" sz="1600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sz="1600" dirty="0" smtClean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n = 1*1024*1024;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for(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=0; 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&lt;n;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++){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= 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Math.floor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Math.random</a:t>
            </a:r>
            <a:r>
              <a:rPr lang="en-US" altLang="zh-CN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()*(2^N));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quicksort(</a:t>
            </a:r>
            <a:r>
              <a:rPr lang="en-US" altLang="zh-CN" sz="1600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0, ar.length-1);</a:t>
            </a:r>
            <a:endParaRPr lang="en-US" altLang="zh-CN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pt-BR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 %d\n %d\n %d\n", ar[0], ar[1], ar[ar.length-1]);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……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336487" y="1473200"/>
            <a:ext cx="5244271" cy="15210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中创建切片、数组需要指定长度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可以传递切片，切片有长度，所以不需要传递待排数据的边界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Content Placeholder 2"/>
          <p:cNvSpPr txBox="1"/>
          <p:nvPr/>
        </p:nvSpPr>
        <p:spPr>
          <a:xfrm>
            <a:off x="5580758" y="1473200"/>
            <a:ext cx="5810427" cy="16892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里创建数组不需要指定长度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里生成随机数方式和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里没有切片，所以需要传递待排数据的边界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7402" y="3162467"/>
            <a:ext cx="5193356" cy="255454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func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main() {</a:t>
            </a:r>
            <a:endParaRPr lang="en-US" altLang="zh-CN" sz="1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600" dirty="0" smtClean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</a:t>
            </a:r>
            <a:r>
              <a:rPr lang="en-US" altLang="zh-CN" sz="1600" dirty="0" err="1" smtClean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rand.Seed</a:t>
            </a:r>
            <a:r>
              <a:rPr lang="en-US" altLang="zh-CN" sz="1600" dirty="0" smtClean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6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time.Now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().</a:t>
            </a:r>
            <a:r>
              <a:rPr lang="en-US" altLang="zh-CN" sz="16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UnixNano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()) </a:t>
            </a:r>
            <a:endParaRPr lang="en-US" altLang="zh-CN" sz="1600" dirty="0" smtClean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600" dirty="0" smtClean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n 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:= 1*1024*1024</a:t>
            </a:r>
            <a:endParaRPr lang="en-US" altLang="zh-CN" sz="1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600" dirty="0" smtClean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</a:t>
            </a:r>
            <a:r>
              <a:rPr lang="en-US" altLang="zh-CN" sz="1600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var</a:t>
            </a:r>
            <a:r>
              <a:rPr lang="en-US" altLang="zh-CN" sz="16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da = make([]</a:t>
            </a:r>
            <a:r>
              <a:rPr lang="en-US" altLang="zh-CN" sz="16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int,n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</a:t>
            </a:r>
            <a:endParaRPr lang="en-US" altLang="zh-CN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600" dirty="0" smtClean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for 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i:=0; </a:t>
            </a:r>
            <a:r>
              <a:rPr lang="en-US" altLang="zh-CN" sz="16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&lt;n; </a:t>
            </a:r>
            <a:r>
              <a:rPr lang="en-US" altLang="zh-CN" sz="16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++ {</a:t>
            </a:r>
            <a:endParaRPr lang="en-US" altLang="zh-CN" sz="1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600" dirty="0" smtClean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      da[</a:t>
            </a:r>
            <a:r>
              <a:rPr lang="en-US" altLang="zh-CN" sz="1600" dirty="0" err="1" smtClean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] = </a:t>
            </a:r>
            <a:r>
              <a:rPr lang="en-US" altLang="zh-CN" sz="16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rand.Int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() </a:t>
            </a:r>
            <a:endParaRPr lang="en-US" altLang="zh-CN" sz="16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600" dirty="0" smtClean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}</a:t>
            </a:r>
            <a:endParaRPr lang="en-US" altLang="zh-CN" sz="1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600" dirty="0" smtClean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</a:t>
            </a:r>
            <a:r>
              <a:rPr lang="en-US" altLang="zh-CN" sz="1600" dirty="0" smtClean="0">
                <a:solidFill>
                  <a:srgbClr val="00B05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quicksort 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(da[0:n]) </a:t>
            </a:r>
            <a:endParaRPr lang="en-US" altLang="zh-CN" sz="1600" dirty="0" smtClean="0">
              <a:solidFill>
                <a:srgbClr val="00B05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600" dirty="0" smtClean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</a:t>
            </a:r>
            <a:r>
              <a:rPr lang="en-US" altLang="zh-CN" sz="1600" dirty="0" err="1" smtClean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fmt.Printf</a:t>
            </a:r>
            <a:r>
              <a:rPr lang="en-US" altLang="zh-CN" sz="1600" dirty="0" smtClean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"</a:t>
            </a:r>
            <a:r>
              <a:rPr lang="en-US" altLang="zh-CN" sz="1600" dirty="0" smtClean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%d\n %d\n %d\</a:t>
            </a:r>
            <a:r>
              <a:rPr lang="en-US" altLang="zh-CN" sz="1600" dirty="0" err="1" smtClean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n",</a:t>
            </a:r>
            <a:r>
              <a:rPr lang="en-US" altLang="zh-CN" sz="16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da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[0],da[1],n-1,da[n-1])</a:t>
            </a:r>
            <a:endParaRPr lang="en-US" altLang="zh-CN" sz="1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}</a:t>
            </a:r>
            <a:endParaRPr lang="en-US" altLang="zh-CN" sz="1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8778240" y="4417996"/>
            <a:ext cx="28876" cy="1299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141946" y="5717012"/>
            <a:ext cx="378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Math.random</a:t>
            </a:r>
            <a:r>
              <a:rPr lang="zh-CN" altLang="en-US" dirty="0" smtClean="0"/>
              <a:t>返回</a:t>
            </a:r>
            <a:r>
              <a:rPr lang="en-US" altLang="zh-CN" dirty="0" smtClean="0"/>
              <a:t>[0,1)</a:t>
            </a:r>
            <a:r>
              <a:rPr lang="zh-CN" altLang="en-US" dirty="0" smtClean="0"/>
              <a:t>之间的随机数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快速排序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 vs JS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961246" y="3431046"/>
            <a:ext cx="6096000" cy="230832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 quicksort(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left, right){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if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right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left + 1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 2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return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pivotal_index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partition(</a:t>
            </a:r>
            <a:r>
              <a:rPr lang="en-US" altLang="zh-CN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left, right);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quicksort(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left, pivotal_index-1);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quicksort(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pivotal_index+1, right);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41868" y="1402081"/>
            <a:ext cx="5407621" cy="1859280"/>
          </a:xfrm>
        </p:spPr>
        <p:txBody>
          <a:bodyPr>
            <a:normAutofit/>
          </a:bodyPr>
          <a:lstStyle/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后面的条件不需要圆括号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array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是一个切片，代表了原始数组的一段，可以直接用</a:t>
            </a:r>
            <a:r>
              <a:rPr lang="en-US" altLang="zh-CN" sz="1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(array)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获取待排数据的长度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划分函数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partition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只需要当前数组作参数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5961246" y="1403371"/>
            <a:ext cx="6096000" cy="18579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后面的条件需要圆括号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由于传递了数组的边界，所以需要通过边界来计算出待排数据长度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划分函数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partition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还需要当前数组的边界作参数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9047" y="3422632"/>
            <a:ext cx="5053261" cy="2308324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quicksort(array []int)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if </a:t>
            </a:r>
            <a:r>
              <a:rPr lang="en-US" altLang="zh-CN" dirty="0" err="1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(array)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&lt; 2 {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return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left_array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right_array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:= </a:t>
            </a: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partition(array)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quicksort(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left_array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quicksort(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right_array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116" y="114364"/>
            <a:ext cx="10515600" cy="1325563"/>
          </a:xfrm>
        </p:spPr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快速排序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 vs JS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1116" y="2136816"/>
            <a:ext cx="5070644" cy="452431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partition(array []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([]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[]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{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pivotal_index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:= 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rand.Intn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(array))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pivotal_value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:= array[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pivotal_index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 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:= 0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array[</a:t>
            </a:r>
            <a:r>
              <a:rPr lang="en-US" altLang="zh-CN" sz="1600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pivotal_index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], array[</a:t>
            </a:r>
            <a:r>
              <a:rPr lang="en-US" altLang="zh-CN" sz="16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(array)-1] = </a:t>
            </a:r>
            <a:endParaRPr lang="en-US" altLang="zh-CN" sz="16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array[</a:t>
            </a:r>
            <a:r>
              <a:rPr lang="en-US" altLang="zh-CN" sz="1600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(array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)-1], array[</a:t>
            </a:r>
            <a:r>
              <a:rPr lang="en-US" altLang="zh-CN" sz="16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pivotal_index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endParaRPr lang="en-US" altLang="zh-CN" sz="16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for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i:= 0;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&lt;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(array);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++ {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if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(array[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&lt;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pivotal_value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{ 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array[next], 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array[</a:t>
            </a:r>
            <a:r>
              <a:rPr lang="en-US" altLang="zh-CN" sz="16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en-US" altLang="zh-CN" sz="16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array[</a:t>
            </a:r>
            <a:r>
              <a:rPr lang="en-US" altLang="zh-CN" sz="16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], 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array[next]</a:t>
            </a:r>
            <a:endParaRPr lang="en-US" altLang="zh-CN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next++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} 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}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array[next], 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array[</a:t>
            </a:r>
            <a:r>
              <a:rPr lang="en-US" altLang="zh-CN" sz="16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(array)-1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]=</a:t>
            </a:r>
            <a:endParaRPr lang="en-US" altLang="zh-CN" sz="16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array[</a:t>
            </a:r>
            <a:r>
              <a:rPr lang="en-US" altLang="zh-CN" sz="1600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(array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)-1], 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array[next]    </a:t>
            </a:r>
            <a:endParaRPr lang="en-US" altLang="zh-CN" sz="16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array[0: </a:t>
            </a:r>
            <a:r>
              <a:rPr lang="en-US" altLang="zh-CN" sz="16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next], array[next+1:len(array)]</a:t>
            </a:r>
            <a:endParaRPr lang="en-US" altLang="zh-CN" sz="160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72484" y="963989"/>
            <a:ext cx="6099208" cy="575542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 partition(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left, right){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right - left + 1;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pivotal_index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Math.floor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Math.random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()*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+ left;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pivotal_value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pivotal_index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next=left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标杆交换到最后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1600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pivotal_index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= </a:t>
            </a:r>
            <a:r>
              <a:rPr lang="en-US" altLang="zh-CN" sz="16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[right];</a:t>
            </a:r>
            <a:endParaRPr lang="en-US" altLang="zh-CN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[right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= </a:t>
            </a:r>
            <a:r>
              <a:rPr lang="en-US" altLang="zh-CN" sz="16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pivotal_value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从左到右遍历数组，比标杆小的放左边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for(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=left;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&lt;=right;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++){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if(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&lt;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pivotal_value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{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//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交换（需先保存一个值到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temp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 = </a:t>
            </a:r>
            <a:r>
              <a:rPr lang="en-US" altLang="zh-CN" sz="1600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[next];</a:t>
            </a:r>
            <a:endParaRPr lang="en-US" altLang="zh-CN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[next] 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16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16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];</a:t>
            </a:r>
            <a:endParaRPr lang="en-US" altLang="zh-CN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lang="en-US" altLang="zh-CN" sz="1600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1600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= temp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next++;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把标杆换回来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600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[right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= </a:t>
            </a:r>
            <a:r>
              <a:rPr lang="en-US" altLang="zh-CN" sz="1600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[next];</a:t>
            </a:r>
            <a:endParaRPr lang="en-US" altLang="zh-CN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600" dirty="0" err="1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[next] 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16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pivotal_value</a:t>
            </a:r>
            <a:r>
              <a:rPr lang="en-US" altLang="zh-CN" sz="1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6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next;</a:t>
            </a:r>
            <a:endParaRPr lang="en-US" altLang="zh-CN" sz="1600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21116" y="1546307"/>
            <a:ext cx="2501766" cy="484438"/>
          </a:xfrm>
        </p:spPr>
        <p:txBody>
          <a:bodyPr/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5772484" y="422786"/>
            <a:ext cx="2501766" cy="484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61434" y="1661413"/>
            <a:ext cx="391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生成随机数的范围是</a:t>
            </a:r>
            <a:r>
              <a:rPr lang="en-US" altLang="zh-CN" dirty="0" smtClean="0">
                <a:solidFill>
                  <a:srgbClr val="FF0000"/>
                </a:solidFill>
              </a:rPr>
              <a:t>[0, </a:t>
            </a:r>
            <a:r>
              <a:rPr lang="en-US" altLang="zh-CN" dirty="0" err="1" smtClean="0">
                <a:solidFill>
                  <a:srgbClr val="FF0000"/>
                </a:solidFill>
              </a:rPr>
              <a:t>len</a:t>
            </a:r>
            <a:r>
              <a:rPr lang="en-US" altLang="zh-CN" dirty="0" smtClean="0">
                <a:solidFill>
                  <a:srgbClr val="FF0000"/>
                </a:solidFill>
              </a:rPr>
              <a:t>(array)]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49914" y="537892"/>
            <a:ext cx="391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生成随机数的范围是</a:t>
            </a:r>
            <a:r>
              <a:rPr lang="en-US" altLang="zh-CN" dirty="0" smtClean="0">
                <a:solidFill>
                  <a:srgbClr val="FF0000"/>
                </a:solidFill>
              </a:rPr>
              <a:t>[left, right]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695562" y="3767572"/>
            <a:ext cx="1683354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B050"/>
                </a:solidFill>
              </a:rPr>
              <a:t>可以使用同时给两个数赋值的语句来达到交换两个值的目的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188338" y="3028908"/>
            <a:ext cx="1587102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B050"/>
                </a:solidFill>
              </a:rPr>
              <a:t>交换两个值的时候，需要先把一个值存到另一个变量里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64092" y="6339839"/>
            <a:ext cx="1568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返回两个切片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631764" y="6291799"/>
            <a:ext cx="1568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返回标杆下标</a:t>
            </a:r>
            <a:endParaRPr lang="zh-CN" altLang="en-US" dirty="0">
              <a:solidFill>
                <a:srgbClr val="7030A0"/>
              </a:solidFill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3972560" y="2030745"/>
            <a:ext cx="10160" cy="388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 flipV="1">
            <a:off x="9966960" y="907224"/>
            <a:ext cx="10160" cy="532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13540</Words>
  <Application>WPS 演示</Application>
  <PresentationFormat>宽屏</PresentationFormat>
  <Paragraphs>869</Paragraphs>
  <Slides>44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Calibri</vt:lpstr>
      <vt:lpstr>黑体</vt:lpstr>
      <vt:lpstr>楷体</vt:lpstr>
      <vt:lpstr>等线</vt:lpstr>
      <vt:lpstr>微软雅黑</vt:lpstr>
      <vt:lpstr>等线 Light</vt:lpstr>
      <vt:lpstr>Arial Unicode MS</vt:lpstr>
      <vt:lpstr>Consolas</vt:lpstr>
      <vt:lpstr>Times New Roman</vt:lpstr>
      <vt:lpstr>Calibri</vt:lpstr>
      <vt:lpstr>Office 主题​​</vt:lpstr>
      <vt:lpstr>Office Theme</vt:lpstr>
      <vt:lpstr>个人作品实验-3</vt:lpstr>
      <vt:lpstr> Week 3 Make a Dynamic Webpage  </vt:lpstr>
      <vt:lpstr>课程安排</vt:lpstr>
      <vt:lpstr>内容大纲</vt:lpstr>
      <vt:lpstr>内容大纲</vt:lpstr>
      <vt:lpstr>知识回顾</vt:lpstr>
      <vt:lpstr>内容大纲</vt:lpstr>
      <vt:lpstr>JavaScript编程知识 —Date对象的使用</vt:lpstr>
      <vt:lpstr>添加时钟</vt:lpstr>
      <vt:lpstr>内容大纲</vt:lpstr>
      <vt:lpstr>JavaScript控制流 —switch-case语句</vt:lpstr>
      <vt:lpstr>添加星期几</vt:lpstr>
      <vt:lpstr>JavaScript控制流 —for循环</vt:lpstr>
      <vt:lpstr>发现bug</vt:lpstr>
      <vt:lpstr>添加今天是今年第几天</vt:lpstr>
      <vt:lpstr>内容大纲</vt:lpstr>
      <vt:lpstr>网页动画</vt:lpstr>
      <vt:lpstr>PowerPoint 演示文稿</vt:lpstr>
      <vt:lpstr>网页动画</vt:lpstr>
      <vt:lpstr>网页动画</vt:lpstr>
      <vt:lpstr>网页动画</vt:lpstr>
      <vt:lpstr>网页动画</vt:lpstr>
      <vt:lpstr>内容大纲</vt:lpstr>
      <vt:lpstr>Debug专用函数：console.log</vt:lpstr>
      <vt:lpstr>console.log使用场景</vt:lpstr>
      <vt:lpstr>内容大纲</vt:lpstr>
      <vt:lpstr>PowerPoint 演示文稿</vt:lpstr>
      <vt:lpstr>Go vs JS</vt:lpstr>
      <vt:lpstr>Go vs JS</vt:lpstr>
      <vt:lpstr>内容大纲</vt:lpstr>
      <vt:lpstr>评分标准</vt:lpstr>
      <vt:lpstr>作品提交</vt:lpstr>
      <vt:lpstr>实验报告提交</vt:lpstr>
      <vt:lpstr>参考示例</vt:lpstr>
      <vt:lpstr>Take home message</vt:lpstr>
      <vt:lpstr>例子：结合你的专业</vt:lpstr>
      <vt:lpstr>PowerPoint 演示文稿</vt:lpstr>
      <vt:lpstr>PowerPoint 演示文稿</vt:lpstr>
      <vt:lpstr>PowerPoint 演示文稿</vt:lpstr>
      <vt:lpstr>Tips：Canvas元素</vt:lpstr>
      <vt:lpstr>附录</vt:lpstr>
      <vt:lpstr>快速排序 Go vs JS TODO</vt:lpstr>
      <vt:lpstr>快速排序 Go vs JS</vt:lpstr>
      <vt:lpstr>快速排序 Go vs JS</vt:lpstr>
    </vt:vector>
  </TitlesOfParts>
  <Company>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内容大纲</dc:title>
  <dc:creator>Horry Gou</dc:creator>
  <cp:lastModifiedBy>唐嘉良</cp:lastModifiedBy>
  <cp:revision>1072</cp:revision>
  <dcterms:created xsi:type="dcterms:W3CDTF">2020-02-25T08:07:00Z</dcterms:created>
  <dcterms:modified xsi:type="dcterms:W3CDTF">2021-06-30T11:21:19Z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67F5EC261C0744E3AC528818BA78F90B</vt:lpwstr>
  </property>
  <property fmtid="{D5CDD505-2E9C-101B-9397-08002B2CF9AE}" pid="3" name="KSOProductBuildVer">
    <vt:lpwstr>2052-11.1.0.10578</vt:lpwstr>
  </property>
</Properties>
</file>