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05" r:id="rId4"/>
    <p:sldId id="333" r:id="rId6"/>
    <p:sldId id="334" r:id="rId7"/>
    <p:sldId id="326" r:id="rId8"/>
    <p:sldId id="325" r:id="rId9"/>
    <p:sldId id="259" r:id="rId10"/>
    <p:sldId id="327" r:id="rId11"/>
    <p:sldId id="261" r:id="rId12"/>
    <p:sldId id="262" r:id="rId13"/>
    <p:sldId id="263" r:id="rId14"/>
    <p:sldId id="286" r:id="rId15"/>
    <p:sldId id="328" r:id="rId16"/>
    <p:sldId id="309" r:id="rId17"/>
    <p:sldId id="265" r:id="rId18"/>
    <p:sldId id="266" r:id="rId19"/>
    <p:sldId id="267" r:id="rId20"/>
    <p:sldId id="288" r:id="rId21"/>
    <p:sldId id="329" r:id="rId22"/>
    <p:sldId id="290" r:id="rId23"/>
    <p:sldId id="294" r:id="rId24"/>
    <p:sldId id="291" r:id="rId25"/>
    <p:sldId id="292" r:id="rId26"/>
    <p:sldId id="293" r:id="rId27"/>
    <p:sldId id="330" r:id="rId28"/>
    <p:sldId id="273" r:id="rId29"/>
    <p:sldId id="314" r:id="rId30"/>
    <p:sldId id="331" r:id="rId31"/>
    <p:sldId id="270" r:id="rId32"/>
    <p:sldId id="272" r:id="rId33"/>
    <p:sldId id="296" r:id="rId34"/>
    <p:sldId id="315" r:id="rId35"/>
    <p:sldId id="295" r:id="rId36"/>
    <p:sldId id="332" r:id="rId37"/>
    <p:sldId id="318" r:id="rId38"/>
    <p:sldId id="316" r:id="rId39"/>
    <p:sldId id="317" r:id="rId40"/>
    <p:sldId id="338" r:id="rId41"/>
    <p:sldId id="339" r:id="rId42"/>
    <p:sldId id="283" r:id="rId43"/>
    <p:sldId id="284" r:id="rId44"/>
    <p:sldId id="307" r:id="rId45"/>
    <p:sldId id="308" r:id="rId46"/>
    <p:sldId id="311" r:id="rId47"/>
    <p:sldId id="312" r:id="rId48"/>
    <p:sldId id="313" r:id="rId49"/>
    <p:sldId id="335" r:id="rId50"/>
    <p:sldId id="336" r:id="rId51"/>
    <p:sldId id="337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SHU YU" initials="ZY" lastIdx="2" clrIdx="0"/>
  <p:cmAuthor id="2" name="helen tian" initials="ht" lastIdx="2" clrIdx="1"/>
  <p:cmAuthor id="3" name="Yin Tang" initials="YT" lastIdx="3" clrIdx="2"/>
  <p:cmAuthor id="4" name="Horry Gou" initials="HG" lastIdx="1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94" autoAdjust="0"/>
    <p:restoredTop sz="94670" autoAdjust="0"/>
  </p:normalViewPr>
  <p:slideViewPr>
    <p:cSldViewPr snapToGrid="0">
      <p:cViewPr varScale="1">
        <p:scale>
          <a:sx n="65" d="100"/>
          <a:sy n="65" d="100"/>
        </p:scale>
        <p:origin x="7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07875-0F0B-4138-85AE-95828E846C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B4D858-9D6B-43A8-9E5A-AD6FB330B7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919110-6856-4A64-9A7D-D40C491B9A44}" type="slidenum">
              <a:rPr lang="en-US" altLang="zh-CN"/>
            </a:fld>
            <a:endParaRPr lang="en-US" altLang="zh-CN"/>
          </a:p>
        </p:txBody>
      </p:sp>
      <p:sp>
        <p:nvSpPr>
          <p:cNvPr id="4833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E1A39FF-2C30-45B6-8F91-645ED773424D}" type="slidenum">
              <a:rPr lang="en-US" altLang="zh-CN" sz="1200"/>
            </a:fld>
            <a:endParaRPr lang="en-US" altLang="zh-CN" sz="1200"/>
          </a:p>
        </p:txBody>
      </p:sp>
      <p:sp>
        <p:nvSpPr>
          <p:cNvPr id="483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483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本次课主要讲四个部分：首先会讲这次实验是怎样安排的</a:t>
            </a:r>
            <a:endParaRPr lang="en-US" altLang="zh-CN" dirty="0" smtClean="0"/>
          </a:p>
          <a:p>
            <a:r>
              <a:rPr lang="zh-CN" altLang="en-US" dirty="0" smtClean="0"/>
              <a:t>然后会推荐给大家一个实验环境</a:t>
            </a:r>
            <a:endParaRPr lang="en-US" altLang="zh-CN" dirty="0" smtClean="0"/>
          </a:p>
          <a:p>
            <a:r>
              <a:rPr lang="zh-CN" altLang="en-US" dirty="0" smtClean="0"/>
              <a:t>最后我们会讲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语言的入门知识</a:t>
            </a:r>
            <a:endParaRPr lang="en-US" altLang="zh-CN" dirty="0" smtClean="0"/>
          </a:p>
          <a:p>
            <a:r>
              <a:rPr lang="zh-CN" altLang="en-US" dirty="0" smtClean="0"/>
              <a:t>那什么是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语言呢？</a:t>
            </a:r>
            <a:endParaRPr lang="en-US" altLang="zh-CN" dirty="0" smtClean="0"/>
          </a:p>
          <a:p>
            <a:r>
              <a:rPr lang="en-US" altLang="zh-CN" dirty="0" smtClean="0"/>
              <a:t>HTML</a:t>
            </a:r>
            <a:r>
              <a:rPr lang="zh-CN" altLang="en-US" dirty="0" smtClean="0"/>
              <a:t>语言是一种浏览器能理解的语言，读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框里内容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简要回顾一下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基本结构就是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文档的模板）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带领大家回顾，不用现场写代码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首先我们来写第一个</a:t>
            </a:r>
            <a:r>
              <a:rPr lang="en-US" altLang="zh-CN" dirty="0" err="1" smtClean="0"/>
              <a:t>javaScipt</a:t>
            </a:r>
            <a:r>
              <a:rPr lang="zh-CN" altLang="en-US" dirty="0" smtClean="0"/>
              <a:t>程序，我们就把程序添加在上节课的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代码里面</a:t>
            </a:r>
            <a:endParaRPr lang="en-US" altLang="zh-CN" dirty="0" smtClean="0"/>
          </a:p>
          <a:p>
            <a:r>
              <a:rPr lang="zh-CN" altLang="en-US" dirty="0" smtClean="0"/>
              <a:t>红</a:t>
            </a:r>
            <a:r>
              <a:rPr lang="zh-CN" altLang="en-US" dirty="0"/>
              <a:t>框部分即</a:t>
            </a:r>
            <a:r>
              <a:rPr lang="en-US" altLang="zh-CN" dirty="0"/>
              <a:t>JS</a:t>
            </a:r>
            <a:r>
              <a:rPr lang="zh-CN" altLang="en-US" dirty="0" smtClean="0"/>
              <a:t>代码</a:t>
            </a:r>
            <a:endParaRPr lang="en-US" altLang="zh-CN" dirty="0" smtClean="0"/>
          </a:p>
          <a:p>
            <a:r>
              <a:rPr lang="zh-CN" altLang="en-US" dirty="0" smtClean="0"/>
              <a:t>改代码</a:t>
            </a:r>
            <a:endParaRPr lang="en-US" altLang="zh-CN" dirty="0" smtClean="0"/>
          </a:p>
          <a:p>
            <a:r>
              <a:rPr lang="zh-CN" altLang="en-US" dirty="0" smtClean="0"/>
              <a:t>演示控制台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变量的基本含义大家在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里应该已经知道了，</a:t>
            </a:r>
            <a:endParaRPr lang="en-US" altLang="zh-CN" dirty="0" smtClean="0"/>
          </a:p>
          <a:p>
            <a:r>
              <a:rPr lang="zh-CN" altLang="en-US" dirty="0" smtClean="0"/>
              <a:t>在讲变量之前我们先来看一看</a:t>
            </a:r>
            <a:r>
              <a:rPr lang="en-US" altLang="zh-CN" dirty="0" smtClean="0"/>
              <a:t>JS</a:t>
            </a:r>
            <a:r>
              <a:rPr lang="zh-CN" altLang="en-US" dirty="0" smtClean="0"/>
              <a:t>里有哪些数据类型</a:t>
            </a:r>
            <a:endParaRPr lang="en-US" altLang="zh-CN" dirty="0" smtClean="0"/>
          </a:p>
          <a:p>
            <a:r>
              <a:rPr lang="zh-CN" altLang="en-US" dirty="0" smtClean="0"/>
              <a:t>布尔类型：读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数字类型：跟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里不太一样，</a:t>
            </a:r>
            <a:r>
              <a:rPr lang="en-US" altLang="zh-CN" dirty="0" smtClean="0"/>
              <a:t>Go</a:t>
            </a:r>
            <a:r>
              <a:rPr lang="zh-CN" altLang="en-US" dirty="0" smtClean="0"/>
              <a:t>的数字分多种类型，比如整数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、浮点数</a:t>
            </a:r>
            <a:r>
              <a:rPr lang="en-US" altLang="zh-CN" dirty="0" smtClean="0"/>
              <a:t>float</a:t>
            </a:r>
            <a:r>
              <a:rPr lang="zh-CN" altLang="en-US" dirty="0" smtClean="0"/>
              <a:t>、还有</a:t>
            </a:r>
            <a:r>
              <a:rPr lang="en-US" altLang="zh-CN" dirty="0" smtClean="0"/>
              <a:t>long\short</a:t>
            </a:r>
            <a:r>
              <a:rPr lang="zh-CN" altLang="en-US" dirty="0" smtClean="0"/>
              <a:t>等等</a:t>
            </a:r>
            <a:endParaRPr lang="en-US" altLang="zh-CN" dirty="0" smtClean="0"/>
          </a:p>
          <a:p>
            <a:r>
              <a:rPr lang="zh-CN" altLang="en-US" dirty="0" smtClean="0"/>
              <a:t>但是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里只有数字类型一种笼统的类型，没有</a:t>
            </a:r>
            <a:r>
              <a:rPr lang="en-US" altLang="zh-CN" dirty="0" smtClean="0"/>
              <a:t>Go</a:t>
            </a:r>
            <a:r>
              <a:rPr lang="zh-CN" altLang="en-US" dirty="0" smtClean="0"/>
              <a:t>分那么细，读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字符串类型：这个类型和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里字符串类型差不多，读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en-US" altLang="zh-CN" dirty="0" smtClean="0"/>
              <a:t>null</a:t>
            </a:r>
            <a:r>
              <a:rPr lang="zh-CN" altLang="en-US" dirty="0" smtClean="0"/>
              <a:t>类型：先介绍一个值：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，这个值表示空，并且属于。。。（读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里说明部分）</a:t>
            </a:r>
            <a:endParaRPr lang="en-US" altLang="zh-CN" dirty="0" smtClean="0"/>
          </a:p>
          <a:p>
            <a:r>
              <a:rPr lang="en-US" altLang="zh-CN" dirty="0" smtClean="0"/>
              <a:t>undefined</a:t>
            </a:r>
            <a:r>
              <a:rPr lang="zh-CN" altLang="en-US" dirty="0" smtClean="0"/>
              <a:t>类型：要先介绍一个值：</a:t>
            </a:r>
            <a:r>
              <a:rPr lang="en-US" altLang="zh-CN" dirty="0" smtClean="0"/>
              <a:t>undefined</a:t>
            </a:r>
            <a:r>
              <a:rPr lang="zh-CN" altLang="en-US" dirty="0" smtClean="0"/>
              <a:t>，表示未定义，并且。。。（读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说明部分）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（一行代码一行文字地读）</a:t>
            </a:r>
            <a:endParaRPr lang="en-US" altLang="zh-CN" dirty="0" smtClean="0"/>
          </a:p>
          <a:p>
            <a:r>
              <a:rPr lang="zh-CN" altLang="en-US" dirty="0" smtClean="0"/>
              <a:t>修改代码</a:t>
            </a:r>
            <a:endParaRPr lang="en-US" altLang="zh-CN" dirty="0" smtClean="0"/>
          </a:p>
          <a:p>
            <a:r>
              <a:rPr lang="zh-CN" altLang="en-US" dirty="0" smtClean="0"/>
              <a:t>展示控制台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函数</a:t>
            </a:r>
            <a:r>
              <a:rPr lang="zh-CN" altLang="en-US" dirty="0"/>
              <a:t>的定义不需要类型，而</a:t>
            </a:r>
            <a:r>
              <a:rPr lang="en-US" altLang="zh-CN" dirty="0"/>
              <a:t>Go</a:t>
            </a:r>
            <a:r>
              <a:rPr lang="zh-CN" altLang="en-US" dirty="0"/>
              <a:t>中</a:t>
            </a:r>
            <a:r>
              <a:rPr lang="zh-CN" altLang="en-US" dirty="0" smtClean="0"/>
              <a:t>需要</a:t>
            </a:r>
            <a:endParaRPr lang="en-US" altLang="zh-CN" dirty="0" smtClean="0"/>
          </a:p>
          <a:p>
            <a:r>
              <a:rPr lang="zh-CN" altLang="en-US" dirty="0" smtClean="0"/>
              <a:t>在一个函数体中使这个函数返回的语法和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里一样使用</a:t>
            </a:r>
            <a:r>
              <a:rPr lang="en-US" altLang="zh-CN" dirty="0" smtClean="0"/>
              <a:t>return </a:t>
            </a:r>
            <a:r>
              <a:rPr lang="zh-CN" altLang="en-US" dirty="0" smtClean="0"/>
              <a:t>一个值的形式的</a:t>
            </a:r>
            <a:endParaRPr lang="en-US" altLang="zh-CN" dirty="0" smtClean="0"/>
          </a:p>
          <a:p>
            <a:r>
              <a:rPr lang="zh-CN" altLang="en-US" dirty="0" smtClean="0"/>
              <a:t>但是不同的是</a:t>
            </a:r>
            <a:r>
              <a:rPr lang="en-US" altLang="zh-CN" dirty="0" smtClean="0"/>
              <a:t>JS</a:t>
            </a:r>
            <a:r>
              <a:rPr lang="zh-CN" altLang="en-US" dirty="0" smtClean="0"/>
              <a:t>里函数至多只能返回一个值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不需要先定义后使用，只需要把定义的代码写在某个地方就可以了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添加代码</a:t>
            </a:r>
            <a:endParaRPr lang="en-US" altLang="zh-CN" dirty="0" smtClean="0"/>
          </a:p>
          <a:p>
            <a:r>
              <a:rPr lang="zh-CN" altLang="en-US" dirty="0" smtClean="0"/>
              <a:t>比如我们在这里添加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个函数，先不加函数体，先把函数定义写好，等我们学过表达式之后再添加函数体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读王小二部分</a:t>
            </a:r>
            <a:endParaRPr lang="en-US" altLang="zh-CN" dirty="0" smtClean="0"/>
          </a:p>
          <a:p>
            <a:r>
              <a:rPr lang="zh-CN" altLang="en-US" dirty="0" smtClean="0"/>
              <a:t>一</a:t>
            </a:r>
            <a:r>
              <a:rPr lang="zh-CN" altLang="en-US" dirty="0"/>
              <a:t>个运算符和它的俩操作数合起来构成一个表达式，表达式代表一个值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/>
          </a:p>
          <a:p>
            <a:r>
              <a:rPr lang="en-US" altLang="zh-CN" dirty="0"/>
              <a:t>JS</a:t>
            </a:r>
            <a:r>
              <a:rPr lang="zh-CN" altLang="en-US" dirty="0"/>
              <a:t>里运算符大多数和</a:t>
            </a:r>
            <a:r>
              <a:rPr lang="en-US" altLang="zh-CN" dirty="0"/>
              <a:t>Go</a:t>
            </a:r>
            <a:r>
              <a:rPr lang="zh-CN" altLang="en-US" dirty="0"/>
              <a:t>相同，只有</a:t>
            </a:r>
            <a:r>
              <a:rPr lang="en-US" altLang="zh-CN" dirty="0"/>
              <a:t>/</a:t>
            </a:r>
            <a:r>
              <a:rPr lang="zh-CN" altLang="en-US" dirty="0"/>
              <a:t>（除法）不同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/>
          </a:p>
          <a:p>
            <a:r>
              <a:rPr lang="zh-CN" altLang="en-US" dirty="0" smtClean="0"/>
              <a:t>为什么除法和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里不同呢？因为</a:t>
            </a:r>
            <a:r>
              <a:rPr lang="en-US" altLang="zh-CN" dirty="0" smtClean="0"/>
              <a:t>JS</a:t>
            </a:r>
            <a:r>
              <a:rPr lang="zh-CN" altLang="en-US" dirty="0"/>
              <a:t>里数字一律用</a:t>
            </a:r>
            <a:r>
              <a:rPr lang="en-US" altLang="zh-CN" dirty="0"/>
              <a:t>64</a:t>
            </a:r>
            <a:r>
              <a:rPr lang="zh-CN" altLang="en-US" dirty="0"/>
              <a:t>位浮点数表示（相当于</a:t>
            </a:r>
            <a:r>
              <a:rPr lang="en-US" altLang="zh-CN" dirty="0"/>
              <a:t>Go</a:t>
            </a:r>
            <a:r>
              <a:rPr lang="zh-CN" altLang="en-US" dirty="0"/>
              <a:t>中</a:t>
            </a:r>
            <a:r>
              <a:rPr lang="en-US" altLang="zh-CN" dirty="0"/>
              <a:t>float64</a:t>
            </a:r>
            <a:r>
              <a:rPr lang="zh-CN" altLang="en-US" dirty="0"/>
              <a:t>），因此</a:t>
            </a:r>
            <a:r>
              <a:rPr lang="en-US" altLang="zh-CN" dirty="0"/>
              <a:t>JS</a:t>
            </a:r>
            <a:r>
              <a:rPr lang="zh-CN" altLang="en-US" dirty="0"/>
              <a:t>中两整数做除法可能会出现</a:t>
            </a:r>
            <a:r>
              <a:rPr lang="zh-CN" altLang="en-US" dirty="0" smtClean="0"/>
              <a:t>小数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加代码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当</a:t>
            </a:r>
            <a:r>
              <a:rPr lang="en-US" altLang="zh-CN" dirty="0"/>
              <a:t>==</a:t>
            </a:r>
            <a:r>
              <a:rPr lang="zh-CN" altLang="en-US" dirty="0"/>
              <a:t>的两操作数类型不同时，会出现自动类型转换，导致比较结果可能为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(===</a:t>
            </a:r>
            <a:r>
              <a:rPr lang="zh-CN" altLang="en-US" dirty="0"/>
              <a:t>不会类型转换，为了学习简单，可以不提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因为</a:t>
            </a:r>
            <a:r>
              <a:rPr lang="en-US" altLang="zh-CN" dirty="0"/>
              <a:t>JS</a:t>
            </a:r>
            <a:r>
              <a:rPr lang="zh-CN" altLang="en-US" dirty="0"/>
              <a:t>中表示数字只用到一个类型，因此无法根据操作数的类型判断是有符号数还是无符号数；</a:t>
            </a:r>
            <a:endParaRPr lang="en-US" altLang="zh-CN" dirty="0"/>
          </a:p>
          <a:p>
            <a:r>
              <a:rPr lang="en-US" altLang="zh-CN" dirty="0"/>
              <a:t>Go</a:t>
            </a:r>
            <a:r>
              <a:rPr lang="zh-CN" altLang="en-US" dirty="0"/>
              <a:t>里只有</a:t>
            </a:r>
            <a:r>
              <a:rPr lang="en-US" altLang="zh-CN" dirty="0"/>
              <a:t>&gt;&gt;</a:t>
            </a:r>
            <a:r>
              <a:rPr lang="zh-CN" altLang="en-US" dirty="0"/>
              <a:t>，可以根据被移位的数的类型判断高位补</a:t>
            </a:r>
            <a:r>
              <a:rPr lang="en-US" altLang="zh-CN" dirty="0"/>
              <a:t>0</a:t>
            </a:r>
            <a:r>
              <a:rPr lang="zh-CN" altLang="en-US" dirty="0"/>
              <a:t>还是补符号位</a:t>
            </a:r>
            <a:endParaRPr lang="en-US" altLang="zh-CN" dirty="0"/>
          </a:p>
          <a:p>
            <a:r>
              <a:rPr lang="en-US" altLang="zh-CN" dirty="0"/>
              <a:t>JS</a:t>
            </a:r>
            <a:r>
              <a:rPr lang="zh-CN" altLang="en-US" dirty="0"/>
              <a:t>则需要两种右移运算来取反这两种情况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en-US" altLang="zh-CN" dirty="0" err="1" smtClean="0"/>
              <a:t>var</a:t>
            </a:r>
            <a:r>
              <a:rPr lang="en-US" altLang="zh-CN" baseline="0" dirty="0" smtClean="0"/>
              <a:t> x = “0” + 1</a:t>
            </a:r>
            <a:r>
              <a:rPr lang="zh-CN" altLang="en-US" baseline="0" dirty="0" smtClean="0"/>
              <a:t>里，结果</a:t>
            </a:r>
            <a:r>
              <a:rPr lang="en-US" altLang="zh-CN" baseline="0" dirty="0" smtClean="0"/>
              <a:t>x=“01”</a:t>
            </a:r>
            <a:r>
              <a:rPr lang="zh-CN" altLang="en-US" baseline="0" dirty="0" smtClean="0"/>
              <a:t>，在</a:t>
            </a:r>
            <a:r>
              <a:rPr lang="en-US" altLang="zh-CN" baseline="0" dirty="0" smtClean="0"/>
              <a:t>Go</a:t>
            </a:r>
            <a:r>
              <a:rPr lang="zh-CN" altLang="en-US" baseline="0" dirty="0" smtClean="0"/>
              <a:t>里这个运算会得到</a:t>
            </a:r>
            <a:r>
              <a:rPr lang="en-US" altLang="zh-CN" baseline="0" dirty="0" smtClean="0"/>
              <a:t>”1”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TODO</a:t>
            </a:r>
            <a:r>
              <a:rPr lang="zh-CN" altLang="en-US" dirty="0" smtClean="0"/>
              <a:t>：把其它事件加到教程里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那我们为王小二的计算器添加一些响应，让这个网页可以跟用户进行交互</a:t>
            </a:r>
            <a:endParaRPr lang="en-US" altLang="zh-CN" dirty="0" smtClean="0"/>
          </a:p>
          <a:p>
            <a:r>
              <a:rPr lang="zh-CN" altLang="en-US" dirty="0" smtClean="0"/>
              <a:t>讲代码和效果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我们先看一下对象的基本概念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我们先介绍一种常用的方法：通过</a:t>
            </a:r>
            <a:r>
              <a:rPr lang="en-US" altLang="zh-CN" dirty="0"/>
              <a:t>id</a:t>
            </a:r>
            <a:r>
              <a:rPr lang="zh-CN" altLang="en-US" dirty="0"/>
              <a:t>访问</a:t>
            </a:r>
            <a:r>
              <a:rPr lang="en-US" altLang="zh-CN" dirty="0"/>
              <a:t>HTML</a:t>
            </a:r>
            <a:r>
              <a:rPr lang="zh-CN" altLang="en-US" dirty="0" smtClean="0"/>
              <a:t>元素</a:t>
            </a:r>
            <a:endParaRPr lang="en-US" altLang="zh-CN" dirty="0" smtClean="0"/>
          </a:p>
          <a:p>
            <a:r>
              <a:rPr lang="zh-CN" altLang="en-US" dirty="0" smtClean="0"/>
              <a:t>解释代码（</a:t>
            </a:r>
            <a:r>
              <a:rPr lang="en-US" altLang="zh-CN" dirty="0" smtClean="0"/>
              <a:t>document</a:t>
            </a:r>
            <a:r>
              <a:rPr lang="zh-CN" altLang="en-US" dirty="0" smtClean="0"/>
              <a:t>对象有个</a:t>
            </a:r>
            <a:r>
              <a:rPr lang="en-US" altLang="zh-CN" dirty="0" err="1" smtClean="0"/>
              <a:t>getElementById</a:t>
            </a:r>
            <a:r>
              <a:rPr lang="zh-CN" altLang="en-US" dirty="0" smtClean="0"/>
              <a:t>方法；返回的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元素有一个</a:t>
            </a:r>
            <a:r>
              <a:rPr lang="en-US" altLang="zh-CN" dirty="0" err="1" smtClean="0"/>
              <a:t>innerHTML</a:t>
            </a:r>
            <a:r>
              <a:rPr lang="zh-CN" altLang="en-US" dirty="0" smtClean="0"/>
              <a:t>属性）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那我们为王小二的计算器添加一些响应，让这个网页可以跟用户进行交互</a:t>
            </a:r>
            <a:endParaRPr lang="en-US" altLang="zh-CN" dirty="0" smtClean="0"/>
          </a:p>
          <a:p>
            <a:r>
              <a:rPr lang="zh-CN" altLang="en-US" dirty="0" smtClean="0"/>
              <a:t>讲代码和效果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我们先介绍一种常用的方法：通过</a:t>
            </a:r>
            <a:r>
              <a:rPr lang="en-US" altLang="zh-CN" dirty="0"/>
              <a:t>id</a:t>
            </a:r>
            <a:r>
              <a:rPr lang="zh-CN" altLang="en-US" dirty="0"/>
              <a:t>访问</a:t>
            </a:r>
            <a:r>
              <a:rPr lang="en-US" altLang="zh-CN" dirty="0"/>
              <a:t>HTML</a:t>
            </a:r>
            <a:r>
              <a:rPr lang="zh-CN" altLang="en-US" dirty="0" smtClean="0"/>
              <a:t>元素</a:t>
            </a:r>
            <a:endParaRPr lang="en-US" altLang="zh-CN" dirty="0" smtClean="0"/>
          </a:p>
          <a:p>
            <a:r>
              <a:rPr lang="zh-CN" altLang="en-US" dirty="0" smtClean="0"/>
              <a:t>解释代码（</a:t>
            </a:r>
            <a:r>
              <a:rPr lang="en-US" altLang="zh-CN" dirty="0" smtClean="0"/>
              <a:t>document</a:t>
            </a:r>
            <a:r>
              <a:rPr lang="zh-CN" altLang="en-US" dirty="0" smtClean="0"/>
              <a:t>对象有个</a:t>
            </a:r>
            <a:r>
              <a:rPr lang="en-US" altLang="zh-CN" dirty="0" err="1" smtClean="0"/>
              <a:t>getElementById</a:t>
            </a:r>
            <a:r>
              <a:rPr lang="zh-CN" altLang="en-US" dirty="0" smtClean="0"/>
              <a:t>方法；返回的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元素有一个</a:t>
            </a:r>
            <a:r>
              <a:rPr lang="en-US" altLang="zh-CN" dirty="0" err="1" smtClean="0"/>
              <a:t>innerHTML</a:t>
            </a:r>
            <a:r>
              <a:rPr lang="zh-CN" altLang="en-US" dirty="0" smtClean="0"/>
              <a:t>属性）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添加代码，展示效果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接下来我们介绍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里的对象，大家可能听说过面先对象编程语言</a:t>
            </a:r>
            <a:endParaRPr lang="en-US" altLang="zh-CN" dirty="0" smtClean="0"/>
          </a:p>
          <a:p>
            <a:r>
              <a:rPr lang="zh-CN" altLang="en-US" dirty="0" smtClean="0"/>
              <a:t>其实</a:t>
            </a:r>
            <a:r>
              <a:rPr lang="en-US" altLang="zh-CN" dirty="0" smtClean="0"/>
              <a:t>JS</a:t>
            </a:r>
            <a:r>
              <a:rPr lang="zh-CN" altLang="en-US" dirty="0" smtClean="0"/>
              <a:t>也有面先对象的特点，我们会介绍几个常用的预定义好的对象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这一页回忆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怎么写的</a:t>
            </a:r>
            <a:endParaRPr lang="en-US" altLang="zh-CN" dirty="0" smtClean="0"/>
          </a:p>
          <a:p>
            <a:r>
              <a:rPr lang="zh-CN" altLang="en-US" dirty="0" smtClean="0"/>
              <a:t>强调</a:t>
            </a:r>
            <a:r>
              <a:rPr lang="en-US" altLang="zh-CN" dirty="0" smtClean="0"/>
              <a:t>name</a:t>
            </a:r>
            <a:r>
              <a:rPr lang="zh-CN" altLang="en-US" dirty="0" smtClean="0"/>
              <a:t>属性的作用即可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8C6D43-13C8-412D-B878-BCB5EB4447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我们先介绍一种常用的方法：通过</a:t>
            </a:r>
            <a:r>
              <a:rPr lang="en-US" altLang="zh-CN" dirty="0"/>
              <a:t>id</a:t>
            </a:r>
            <a:r>
              <a:rPr lang="zh-CN" altLang="en-US" dirty="0"/>
              <a:t>访问</a:t>
            </a:r>
            <a:r>
              <a:rPr lang="en-US" altLang="zh-CN" dirty="0"/>
              <a:t>HTML</a:t>
            </a:r>
            <a:r>
              <a:rPr lang="zh-CN" altLang="en-US" dirty="0" smtClean="0"/>
              <a:t>元素</a:t>
            </a:r>
            <a:endParaRPr lang="en-US" altLang="zh-CN" dirty="0" smtClean="0"/>
          </a:p>
          <a:p>
            <a:r>
              <a:rPr lang="zh-CN" altLang="en-US" dirty="0" smtClean="0"/>
              <a:t>解释代码（</a:t>
            </a:r>
            <a:r>
              <a:rPr lang="en-US" altLang="zh-CN" dirty="0" smtClean="0"/>
              <a:t>document</a:t>
            </a:r>
            <a:r>
              <a:rPr lang="zh-CN" altLang="en-US" dirty="0" smtClean="0"/>
              <a:t>对象有个</a:t>
            </a:r>
            <a:r>
              <a:rPr lang="en-US" altLang="zh-CN" dirty="0" err="1" smtClean="0"/>
              <a:t>getElementById</a:t>
            </a:r>
            <a:r>
              <a:rPr lang="zh-CN" altLang="en-US" dirty="0" smtClean="0"/>
              <a:t>方法；返回的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元素有一个</a:t>
            </a:r>
            <a:r>
              <a:rPr lang="en-US" altLang="zh-CN" dirty="0" err="1" smtClean="0"/>
              <a:t>innerHTML</a:t>
            </a:r>
            <a:r>
              <a:rPr lang="zh-CN" altLang="en-US" dirty="0" smtClean="0"/>
              <a:t>属性）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添加代码，展示效果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读王小二</a:t>
            </a:r>
            <a:endParaRPr lang="en-US" altLang="zh-CN" dirty="0" smtClean="0"/>
          </a:p>
          <a:p>
            <a:r>
              <a:rPr lang="en-US" altLang="zh-CN" dirty="0" smtClean="0"/>
              <a:t>(click)</a:t>
            </a:r>
            <a:endParaRPr lang="en-US" altLang="zh-CN" dirty="0" smtClean="0"/>
          </a:p>
          <a:p>
            <a:r>
              <a:rPr lang="zh-CN" altLang="en-US" dirty="0" smtClean="0"/>
              <a:t>用法与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里一样（简单讲一下），要提醒与</a:t>
            </a:r>
            <a:r>
              <a:rPr lang="en-US" altLang="zh-CN" dirty="0" smtClean="0"/>
              <a:t>Go</a:t>
            </a:r>
            <a:r>
              <a:rPr lang="zh-CN" altLang="en-US" dirty="0" smtClean="0"/>
              <a:t>语法上</a:t>
            </a:r>
            <a:r>
              <a:rPr lang="zh-CN" altLang="en-US" smtClean="0"/>
              <a:t>的不同（圆括号）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首先可以使用</a:t>
            </a:r>
            <a:r>
              <a:rPr lang="en-US" altLang="zh-CN" dirty="0"/>
              <a:t>if-else</a:t>
            </a:r>
            <a:r>
              <a:rPr lang="zh-CN" altLang="en-US" dirty="0"/>
              <a:t>语句判断平年、闰年（不过经过信息隐藏实验同学们可能已经很熟练了）</a:t>
            </a:r>
            <a:endParaRPr lang="en-US" altLang="zh-CN" dirty="0"/>
          </a:p>
          <a:p>
            <a:r>
              <a:rPr lang="zh-CN" altLang="en-US" dirty="0"/>
              <a:t>然后把相关的语句加到</a:t>
            </a:r>
            <a:r>
              <a:rPr lang="en-US" altLang="zh-CN" dirty="0"/>
              <a:t>&lt;p&gt;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r>
              <a:rPr lang="zh-CN" altLang="en-US" dirty="0" smtClean="0"/>
              <a:t>加代码，看效果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总结一下这节课讲的所有内容；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22910A-01DD-4D1E-AA16-0C11FAC0331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这个例子涉及了各个方面，可以敲一遍</a:t>
            </a:r>
            <a:r>
              <a:rPr lang="zh-CN" altLang="en-US" dirty="0" smtClean="0"/>
              <a:t>来</a:t>
            </a:r>
            <a:r>
              <a:rPr lang="zh-CN" altLang="en-US" smtClean="0"/>
              <a:t>加深印象（可选作业，不算分数）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22910A-01DD-4D1E-AA16-0C11FAC0331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这个例子涉及了各个方面，可以敲一遍</a:t>
            </a:r>
            <a:r>
              <a:rPr lang="zh-CN" altLang="en-US" dirty="0" smtClean="0"/>
              <a:t>来</a:t>
            </a:r>
            <a:r>
              <a:rPr lang="zh-CN" altLang="en-US" smtClean="0"/>
              <a:t>加深印象（可选作业，不算分数）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22910A-01DD-4D1E-AA16-0C11FAC0331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这个例子涉及了各个方面，可以敲一遍</a:t>
            </a:r>
            <a:r>
              <a:rPr lang="zh-CN" altLang="en-US" dirty="0" smtClean="0"/>
              <a:t>来</a:t>
            </a:r>
            <a:r>
              <a:rPr lang="zh-CN" altLang="en-US" smtClean="0"/>
              <a:t>加深印象（可选作业，不算分数）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22910A-01DD-4D1E-AA16-0C11FAC0331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这个例子涉及了各个方面，可以敲一遍</a:t>
            </a:r>
            <a:r>
              <a:rPr lang="zh-CN" altLang="en-US" dirty="0" smtClean="0"/>
              <a:t>来</a:t>
            </a:r>
            <a:r>
              <a:rPr lang="zh-CN" altLang="en-US" smtClean="0"/>
              <a:t>加深印象（可选作业，不算分数）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22910A-01DD-4D1E-AA16-0C11FAC0331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DD8EF-518A-42DF-BF2B-749477C22C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97F04-DB58-45D9-87F6-065F90236A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hyperlink" Target="mailto:guohongrui17@mails.ucas.ac.cn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teacher.solid.things.ac.cn:7243/public/materials/web_exp/blog2-8.html" TargetMode="Externa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runoob.com/js/js-tutorial.html" TargetMode="External"/><Relationship Id="rId3" Type="http://schemas.openxmlformats.org/officeDocument/2006/relationships/hyperlink" Target="https://www.javascript.com/" TargetMode="External"/><Relationship Id="rId2" Type="http://schemas.openxmlformats.org/officeDocument/2006/relationships/hyperlink" Target="https://developer.mozilla.org/en-US/docs/Web/JavaScript" TargetMode="External"/><Relationship Id="rId1" Type="http://schemas.openxmlformats.org/officeDocument/2006/relationships/hyperlink" Target="https://tc39.es/ecma262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w3school.com.cn/r.asp#dom" TargetMode="External"/><Relationship Id="rId1" Type="http://schemas.openxmlformats.org/officeDocument/2006/relationships/hyperlink" Target="https://www.runoob.com/jsref/jsref-tutorial.html" TargetMode="Externa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w3school.com.cn/r.asp#dom" TargetMode="External"/><Relationship Id="rId3" Type="http://schemas.openxmlformats.org/officeDocument/2006/relationships/hyperlink" Target="https://www.runoob.com/jsref/jsref-tutorial.html" TargetMode="Externa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w3school.com.cn/r.asp#dom" TargetMode="External"/><Relationship Id="rId3" Type="http://schemas.openxmlformats.org/officeDocument/2006/relationships/hyperlink" Target="https://www.runoob.com/jsref/jsref-tutorial.html" TargetMode="Externa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teacher.solid.things.ac.cn:7243/public/materials/web_exp_materials/%E4%B8%BA%E7%BD%91%E9%A1%B5%E5%87%86%E5%A4%87%E8%B5%84%E6%BA%90.pdf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teacher.solid.things.ac.cn:7243/public/materials/web_exp_materials/%E6%90%AD%E5%BB%BA%E6%9C%AC%E5%9C%B0%E6%9C%8D%E5%8A%A1%E5%99%A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92572"/>
            <a:ext cx="9144000" cy="1395063"/>
          </a:xfrm>
        </p:spPr>
        <p:txBody>
          <a:bodyPr/>
          <a:lstStyle/>
          <a:p>
            <a:r>
              <a:rPr lang="zh-CN" altLang="en-US" dirty="0" smtClean="0"/>
              <a:t>个人作品实验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1214349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计算机科学导论实验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24000" y="219903"/>
            <a:ext cx="9144000" cy="430445"/>
            <a:chOff x="1524000" y="219903"/>
            <a:chExt cx="9144000" cy="4304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224110"/>
              <a:ext cx="2032622" cy="42623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4311" y="219903"/>
              <a:ext cx="3143689" cy="428685"/>
            </a:xfrm>
            <a:prstGeom prst="rect">
              <a:avLst/>
            </a:prstGeom>
          </p:spPr>
        </p:pic>
      </p:grp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524000" y="3957851"/>
            <a:ext cx="9144000" cy="2829381"/>
          </a:xfrm>
        </p:spPr>
        <p:txBody>
          <a:bodyPr>
            <a:normAutofit/>
          </a:bodyPr>
          <a:lstStyle/>
          <a:p>
            <a:br>
              <a:rPr lang="en-US" altLang="zh-CN" dirty="0"/>
            </a:b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计算机科学导论实验课程助教组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中国科学院大学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郭泓锐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hlinkClick r:id="rId3"/>
              </a:rPr>
              <a:t>guohongrui17@mails.ucas.ac.cn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72BA7-A053-4C77-BE4A-2C9478A22D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484318"/>
            <a:ext cx="12192000" cy="5113337"/>
          </a:xfrm>
          <a:noFill/>
        </p:spPr>
        <p:txBody>
          <a:bodyPr anchor="ctr"/>
          <a:lstStyle/>
          <a:p>
            <a:pPr algn="ctr"/>
            <a:b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Week 2</a:t>
            </a:r>
            <a:b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an </a:t>
            </a:r>
            <a:r>
              <a:rPr lang="en-US" altLang="zh-CN" sz="6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Interactive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Webpage</a:t>
            </a:r>
            <a:b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2" descr="http://www.gucas.ac.cn/newStyle/images/lougou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15480" y="3"/>
            <a:ext cx="4381500" cy="10477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9154661" y="3"/>
            <a:ext cx="1756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CS101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030" y="522441"/>
            <a:ext cx="4875054" cy="57733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1432" y="6401403"/>
            <a:ext cx="8151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linkClick r:id="rId2"/>
              </a:rPr>
              <a:t>https://</a:t>
            </a:r>
            <a:r>
              <a:rPr lang="en-US" altLang="zh-CN" sz="1600" dirty="0" smtClean="0">
                <a:hlinkClick r:id="rId2"/>
              </a:rPr>
              <a:t>teacher.solid.things.ac.cn:7243/public/materials/web_exp/blog2-8.html</a:t>
            </a:r>
            <a:endParaRPr lang="en-US" altLang="zh-CN" sz="1600" dirty="0" smtClean="0"/>
          </a:p>
          <a:p>
            <a:endParaRPr lang="zh-CN" altLang="en-US" sz="1600" dirty="0"/>
          </a:p>
        </p:txBody>
      </p:sp>
      <p:sp>
        <p:nvSpPr>
          <p:cNvPr id="6" name="椭圆形标注 5"/>
          <p:cNvSpPr/>
          <p:nvPr/>
        </p:nvSpPr>
        <p:spPr>
          <a:xfrm>
            <a:off x="5939557" y="4028752"/>
            <a:ext cx="3164803" cy="1465006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实现网页版计算器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40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40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1609315"/>
            <a:ext cx="10515600" cy="483081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我们已经学过：如何制作一个静态网页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文档基本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结构、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标签、属性、元素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常用标签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t-BR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&lt;h1&gt;-&lt;h6</a:t>
            </a: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&gt;,&lt;hr/&gt;,&lt;br/&gt;,&lt;p&gt;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格式化标签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b&gt;,&lt;sup&gt;,&lt;sub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&lt;table&gt;,&lt;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&gt;,&lt;td&gt;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&lt;form&gt;,&lt;input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type=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（有序）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（无序）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,&lt;li&gt;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块级和内联元素，如：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&lt;div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&gt;,&lt;span&gt;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样式：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我们今天学习：如何制作一个交互式的网页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383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2577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回想初识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语言时写过的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hello.go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20315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段代码在终端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Hello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World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!"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35178" y="2389546"/>
            <a:ext cx="7456785" cy="32478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 main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"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main() {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fmt.Println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("Hello World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!")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824"/>
            <a:ext cx="10515600" cy="5224105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每个浏览器也有类似终端的东西，叫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控制台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。其打开方式为：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打开浏览器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按下</a:t>
            </a:r>
            <a:r>
              <a:rPr lang="en-US" altLang="zh-CN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Ctrl+Shift+I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option+command+C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中，对应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fmt.Println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console.log();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并不会打印在网页上，而是打印在控制台上，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该函数是专门用于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代码需写在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&gt;…&lt;body&gt;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的一对或多对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script&gt;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中没有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函数，因为网页本身可视为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函数，网页中的元素从上到下地执行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916" y="1680777"/>
            <a:ext cx="11169316" cy="4815807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blog.html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文档，写出第一个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&lt;html&gt;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&lt;head&gt;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&lt;meta charset="UTF-8"&gt;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&lt;title&gt;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美好的一天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&lt;/title&gt;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&lt;/head&gt;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&lt;body&gt;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……(HTML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&lt;script&gt;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console.log("Hello World!");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&lt;/script&gt;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&lt;/body&gt;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&lt;/html&gt;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91030" y="4520503"/>
            <a:ext cx="4407614" cy="1090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椭圆形 11"/>
          <p:cNvSpPr/>
          <p:nvPr/>
        </p:nvSpPr>
        <p:spPr>
          <a:xfrm>
            <a:off x="7479474" y="3777175"/>
            <a:ext cx="2213811" cy="1104275"/>
          </a:xfrm>
          <a:prstGeom prst="wedgeEllipseCallout">
            <a:avLst>
              <a:gd name="adj1" fmla="val -103327"/>
              <a:gd name="adj2" fmla="val 570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58558" y="6311918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/blog2-1.html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t="17982"/>
          <a:stretch>
            <a:fillRect/>
          </a:stretch>
        </p:blipFill>
        <p:spPr>
          <a:xfrm>
            <a:off x="1011566" y="2375160"/>
            <a:ext cx="5763377" cy="3001831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3789947" y="3777916"/>
            <a:ext cx="3368842" cy="9023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376737" y="4833060"/>
            <a:ext cx="5510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console.log("Hello World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!");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4752474" y="2105526"/>
            <a:ext cx="2767263" cy="5392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519736" y="1136030"/>
            <a:ext cx="43674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控制台的打开方式：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用户：同时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4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Shift+Ctrl+I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F12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打开；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用户：同时按</a:t>
            </a:r>
            <a:r>
              <a:rPr lang="en-US" altLang="zh-CN" sz="24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option+command+C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F12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1282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网站与教程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203112" cy="4351338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ECMAScript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https://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tc39.es/ecma262/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的参考文档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://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developer.mozilla.org/en-US/docs/Web/JavaScript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://www.javascript.com/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鸟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://www.runoob.com/js/js-tutorial.html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.pdf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基本数据类型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627"/>
                <a:gridCol w="5018773"/>
                <a:gridCol w="35052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举例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布尔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表示真、假，只有两个值：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true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false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true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false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数字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64bit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长，可以同时表示浮点数和整数，相当于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Go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语言中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float64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0.1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-0.1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字符串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表示一个字符串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abc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""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空串）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null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值属于一个只包含该值的特殊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en-US" altLang="zh-CN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null</a:t>
                      </a:r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表示此处不应该有值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null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undefined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undefined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值属于一个只包含该值的特殊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en-US" altLang="zh-CN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undefined</a:t>
                      </a:r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表示缺少值：</a:t>
                      </a:r>
                      <a:endParaRPr lang="en-US" altLang="zh-CN" sz="1800" kern="1200" dirty="0" smtClean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）变量声明后未赋值</a:t>
                      </a:r>
                      <a:endParaRPr lang="en-US" altLang="zh-CN" sz="1800" kern="1200" dirty="0" smtClean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）函数调用时没提供的参数</a:t>
                      </a:r>
                      <a:endParaRPr lang="en-US" altLang="zh-CN" sz="1800" kern="1200" dirty="0" smtClean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800" kern="12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）函数没有返回值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undefined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7568" y="1690688"/>
            <a:ext cx="10515600" cy="490161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王小二学习变量，并偶然发现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的一种用法：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只显示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x,y,z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 = 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"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 true;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 = 1.1;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x,y,z,s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16888"/>
          <a:stretch>
            <a:fillRect/>
          </a:stretch>
        </p:blipFill>
        <p:spPr>
          <a:xfrm>
            <a:off x="6521771" y="2494149"/>
            <a:ext cx="4905626" cy="2605131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V="1">
            <a:off x="3894220" y="5824823"/>
            <a:ext cx="2029327" cy="2316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071936" y="5548975"/>
            <a:ext cx="4908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同时打印多个变量值，用逗号隔开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14600" y="2803358"/>
            <a:ext cx="30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变量声明（</a:t>
            </a:r>
            <a:r>
              <a:rPr lang="zh-CN" altLang="en-US" dirty="0">
                <a:solidFill>
                  <a:srgbClr val="FF0000"/>
                </a:solidFill>
              </a:rPr>
              <a:t>不需要类型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242832" y="3226786"/>
            <a:ext cx="30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声明并</a:t>
            </a:r>
            <a:r>
              <a:rPr lang="zh-CN" altLang="en-US" dirty="0" smtClean="0"/>
              <a:t>赋值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96979" y="3796715"/>
            <a:ext cx="30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变量赋值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915652" y="4165243"/>
            <a:ext cx="3007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变量赋值（先后给</a:t>
            </a:r>
            <a:r>
              <a:rPr lang="zh-CN" altLang="en-US" dirty="0">
                <a:solidFill>
                  <a:srgbClr val="FF0000"/>
                </a:solidFill>
              </a:rPr>
              <a:t>同一个变量</a:t>
            </a:r>
            <a:r>
              <a:rPr lang="zh-CN" altLang="en-US" dirty="0"/>
              <a:t>赋</a:t>
            </a:r>
            <a:r>
              <a:rPr lang="zh-CN" altLang="en-US" dirty="0">
                <a:solidFill>
                  <a:srgbClr val="FF0000"/>
                </a:solidFill>
              </a:rPr>
              <a:t>不同类型</a:t>
            </a:r>
            <a:r>
              <a:rPr lang="zh-CN" altLang="en-US" dirty="0"/>
              <a:t>的值）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143625" y="4810769"/>
            <a:ext cx="30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变量赋值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065421" y="5346117"/>
            <a:ext cx="30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变量赋值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538571" y="6327016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/blog2-2.html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979" y="1550486"/>
            <a:ext cx="10515600" cy="491205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王小二学完变量，觉得可以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实现计算器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种运算，因此使用了下面关于函数的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函数定义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add(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x + y;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a=1,b=1;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z = add(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 // z=2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函数定义可以在调用之后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函数的含义和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中函数一样，只是语法稍有不同。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8484" y="3296654"/>
            <a:ext cx="2045369" cy="380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642678" y="3677266"/>
            <a:ext cx="631464" cy="329249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274142" y="3841890"/>
            <a:ext cx="3274595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函数体，只能返回至多一个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值（而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中可返回多个）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07950" y="2506956"/>
            <a:ext cx="330422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Go</a:t>
            </a:r>
            <a:r>
              <a:rPr lang="zh-CN" altLang="en-US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版本：</a:t>
            </a:r>
            <a:endParaRPr lang="en-US" altLang="zh-CN" sz="2400" dirty="0" smtClean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lvl="1"/>
            <a:r>
              <a:rPr lang="en-US" altLang="zh-CN" sz="2400" dirty="0" err="1" smtClean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func</a:t>
            </a:r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add(</a:t>
            </a:r>
            <a:r>
              <a:rPr lang="en-US" altLang="zh-CN" sz="2400" dirty="0" err="1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x,y</a:t>
            </a:r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int</a:t>
            </a:r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) </a:t>
            </a:r>
            <a:r>
              <a:rPr lang="en-US" altLang="zh-CN" sz="2400" dirty="0" err="1" smtClean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int</a:t>
            </a:r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{ </a:t>
            </a:r>
            <a:endParaRPr lang="en-US" altLang="zh-CN" sz="2400" dirty="0" smtClean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lvl="1"/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  return </a:t>
            </a:r>
            <a:r>
              <a:rPr lang="en-US" altLang="zh-CN" sz="24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 + </a:t>
            </a:r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y</a:t>
            </a:r>
            <a:endParaRPr lang="en-US" altLang="zh-CN" sz="24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lvl="1"/>
            <a:r>
              <a:rPr lang="en-US" altLang="zh-CN" sz="240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}</a:t>
            </a:r>
            <a:endParaRPr lang="en-US" altLang="zh-CN" sz="24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409724" y="2766289"/>
            <a:ext cx="592005" cy="173845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001729" y="2412346"/>
            <a:ext cx="2477729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，无需定义参数和返回值类型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添加函数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3926" y="2389547"/>
            <a:ext cx="72951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add(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){}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sub(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){}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){}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div(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{}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mod(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){} //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模（即数学中取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x/y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的余数）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3926" y="1690688"/>
            <a:ext cx="960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先写下函数定义，稍后介绍完表达式再添加函数体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42318" y="6175379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/blog2-3.html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9330" y="4709160"/>
            <a:ext cx="9553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在一对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&lt;script&gt;…&lt;/script&gt;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中间的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代码里的注释使用同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相同的“</a:t>
            </a:r>
            <a:r>
              <a:rPr lang="en-US" altLang="zh-CN" sz="2400" b="1" dirty="0">
                <a:solidFill>
                  <a:schemeClr val="accent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// xxx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或者 “</a:t>
            </a:r>
            <a:r>
              <a:rPr lang="en-US" altLang="zh-CN" sz="2400" b="1" dirty="0">
                <a:solidFill>
                  <a:schemeClr val="accent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zh-CN" alt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* </a:t>
            </a:r>
            <a:r>
              <a:rPr lang="en-US" altLang="zh-CN" sz="2400" b="1" dirty="0">
                <a:solidFill>
                  <a:schemeClr val="accent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xxx</a:t>
            </a:r>
            <a:r>
              <a:rPr lang="zh-CN" alt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*</a:t>
            </a:r>
            <a:r>
              <a:rPr lang="en-US" altLang="zh-CN" sz="2400" b="1" dirty="0">
                <a:solidFill>
                  <a:schemeClr val="accent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”，不再是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&lt;!--xxx--&gt;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9137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运算符和表达式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26443" y="1463040"/>
            <a:ext cx="11241505" cy="513686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王小二写完函数定义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了下面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有关运算符和表达式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，并发现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这些表达式和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里差不多，于是立即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完善了对应计算器的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的函数的函数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相同的算术运算符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+,-,*,++,--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不同的算术运算符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（除法）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3/2=1.5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3/2=1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（向下取整）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中要实现向下取整，需要使用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Math.floor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(3/2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（取余）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的两操作数可以有小数，而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不允许这样做。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3.2 % 0.7 ≈ 0.4(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有精度损失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中：不允许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3.2%0.7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添加函数体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6699" y="1969978"/>
            <a:ext cx="74282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function add(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sub(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x-y;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x*y;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div(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x/y;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mod(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x%y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94981" y="6127252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/blog2-4.html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运算符和表达式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199" y="1690688"/>
            <a:ext cx="11164503" cy="4832029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运算符不只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有算术运算符，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里有的几乎都能在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里找到对应的：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%=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op= 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相当于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x=x op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x+=y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相当于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、*、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比较运算的结果是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相同：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&gt;,&gt;=,&lt;,&lt;=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==,!=,===,!==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!=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比较时，若两被比较数类型不同，先自动转换成相同类型再比较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===(!==)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比较时，若两被比较数类型不同，则比较结果为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false(true)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7555" y="3699644"/>
            <a:ext cx="3003640" cy="1652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运算符和表达式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8477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中相同：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（与），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（或），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（非）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经常在</a:t>
            </a:r>
            <a:r>
              <a:rPr lang="zh-CN" altLang="en-US" b="1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条件表达式</a:t>
            </a:r>
            <a:r>
              <a:rPr lang="zh-CN" altLang="en-US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里使用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Eg</a:t>
            </a:r>
            <a:r>
              <a:rPr lang="en-US" altLang="zh-CN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if( x&lt;10 &amp;&amp; x&gt;0 )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{ … </a:t>
            </a:r>
            <a:r>
              <a:rPr lang="en-US" altLang="zh-CN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（按位与），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（按位或），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（按位异或），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（按位取反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&lt;&lt;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（左移）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（右移，左边补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符号位，负数补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，非负数补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（右移，左边补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当进行位运算时，参与运算的整数被当作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位整数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59742" y="3087329"/>
            <a:ext cx="1622323" cy="33429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175819" y="3421626"/>
            <a:ext cx="235975" cy="216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018503" y="3602900"/>
            <a:ext cx="207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条件表达式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运算符和表达式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603832" cy="483202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运算符（一种三元运算符）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？条件为真时表达式的值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条件为假时表达式的值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y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x&gt;0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x:-x; //y=x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的绝对值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字符串连接运算符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（加号，和加法用同一个）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当两个操作数至少有一个是字符串时，将不是字符串的操作数转化成字符串，然后连接：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= 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+ 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Script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"; //x="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"0" +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//x=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"01"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被转换成字符串）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8801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事件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1565559"/>
            <a:ext cx="10515600" cy="516017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王小二把计算器的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种运算用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个函数写好后，还需要实现：每当用户按下“计算”按钮后，就执行一个函数来做计算，于是学习了下面关于事件的知识：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常见的事件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用户按下某个按钮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(&lt;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type=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button"  </a:t>
            </a:r>
            <a:r>
              <a:rPr lang="en-US" altLang="zh-CN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onclick</a:t>
            </a:r>
            <a:r>
              <a:rPr lang="en-US" altLang="zh-CN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i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i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 </a:t>
            </a:r>
            <a:r>
              <a:rPr lang="en-US" altLang="zh-CN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用户的输入内容改变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(&lt;input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type=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oninput</a:t>
            </a:r>
            <a:r>
              <a:rPr lang="en-US" altLang="zh-CN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i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i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 </a:t>
            </a:r>
            <a:r>
              <a:rPr lang="en-US" altLang="zh-CN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浏览器加载完某个网页（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window.onload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一个函数定义</a:t>
            </a:r>
            <a:r>
              <a:rPr lang="en-US" altLang="zh-CN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一个事件发生时，可以执行一段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代码来处理该事件。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21375" y="6450756"/>
            <a:ext cx="4387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更多事件用法见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.pdf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947" y="205969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添加响应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8196" y="2155251"/>
            <a:ext cx="8105886" cy="369331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 type="text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"&gt;&lt;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 type="text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&lt;input type="button" value="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onclick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();"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&lt;/form&gt;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 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console.log("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is running.");  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69475" y="1662022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</a:rPr>
              <a:t>效果：</a:t>
            </a:r>
            <a:endParaRPr lang="en-US" sz="2800" b="1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26105" y="6472290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/blog2-5.html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8196" y="1581781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</a:rPr>
              <a:t>代码</a:t>
            </a:r>
            <a:r>
              <a:rPr lang="zh-CN" altLang="en-US" sz="2800" b="1" dirty="0" smtClean="0">
                <a:solidFill>
                  <a:prstClr val="black"/>
                </a:solidFill>
              </a:rPr>
              <a:t>：</a:t>
            </a:r>
            <a:endParaRPr lang="en-US" sz="2800" b="1" dirty="0">
              <a:solidFill>
                <a:prstClr val="black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6400800" y="1843391"/>
            <a:ext cx="9625" cy="1409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226518" y="1442220"/>
            <a:ext cx="2396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建议写函数调用语句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/>
          <a:srcRect l="49068" t="9167" r="29429" b="70472"/>
          <a:stretch>
            <a:fillRect/>
          </a:stretch>
        </p:blipFill>
        <p:spPr>
          <a:xfrm>
            <a:off x="8412182" y="4292699"/>
            <a:ext cx="3108369" cy="16555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2949" r="16716" b="3472"/>
          <a:stretch>
            <a:fillRect/>
          </a:stretch>
        </p:blipFill>
        <p:spPr>
          <a:xfrm>
            <a:off x="8373089" y="2221059"/>
            <a:ext cx="3147462" cy="169899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254082" y="3931415"/>
            <a:ext cx="42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点击上图中“计算”按钮后，控制台显示：</a:t>
            </a:r>
            <a:endParaRPr lang="zh-CN" altLang="en-US" sz="1600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3436219" y="5245768"/>
            <a:ext cx="0" cy="818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80673" y="6063916"/>
            <a:ext cx="4013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可以用</a:t>
            </a:r>
            <a:r>
              <a:rPr lang="en-US" altLang="zh-CN" dirty="0" smtClean="0"/>
              <a:t>console.log</a:t>
            </a:r>
            <a:r>
              <a:rPr lang="zh-CN" altLang="en-US" dirty="0" smtClean="0"/>
              <a:t>检查有没有正确地响应</a:t>
            </a:r>
            <a:r>
              <a:rPr lang="en-US" altLang="zh-CN" dirty="0" err="1" smtClean="0"/>
              <a:t>onclick</a:t>
            </a:r>
            <a:r>
              <a:rPr lang="zh-CN" altLang="en-US" dirty="0" smtClean="0"/>
              <a:t>事件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981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对象的使用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007" y="1496851"/>
            <a:ext cx="10298987" cy="5032375"/>
          </a:xfrm>
        </p:spPr>
        <p:txBody>
          <a:bodyPr>
            <a:normAutofit lnSpcReduction="10000"/>
          </a:bodyPr>
          <a:lstStyle/>
          <a:p>
            <a:pPr>
              <a:lnSpc>
                <a:spcPts val="336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可以认为是一种“复合”的数据类型，它是一些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和一些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的集合，比如：将一个人看成一个对象，它有身高、体重、年龄、性别等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，以及走路、跑步、说话、抬手等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“. 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（英文句点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）来访问对象的属性和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方法，如下：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的属性：类似于对象包含的变量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obj.property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对象的方法：类似于对象包含的函数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obj.method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24828" y="12467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924828" y="1248107"/>
            <a:ext cx="10991248" cy="548957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王小二实现了用一个函数来响应点击“计算”按钮这一事件后，还需要先把用户在计算器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输入文本框中的两个操作数读出来，才能对他们进行运算，于是需要学习用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元素的知识：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把已定义的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当作对象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来访问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，需要两步：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属性获取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"p1"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  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的返回值是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属性为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"p1"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属性为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"p1"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通过获取到的对象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的属性来访问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x.id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newID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  <a:endParaRPr lang="en-US" altLang="zh-CN" sz="1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代表的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属性为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newID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上述两步可以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成一句：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("p1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").id = "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newID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  <a:endParaRPr lang="en-US" altLang="zh-CN" sz="1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22670" y="5996226"/>
            <a:ext cx="4469330" cy="86177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元素的属性参考：</a:t>
            </a:r>
            <a:endParaRPr lang="en-US" altLang="zh-CN" sz="1600" dirty="0" smtClean="0"/>
          </a:p>
          <a:p>
            <a:r>
              <a:rPr lang="en-US" altLang="zh-CN" sz="1600" dirty="0" smtClean="0">
                <a:hlinkClick r:id="rId1"/>
              </a:rPr>
              <a:t>https</a:t>
            </a:r>
            <a:r>
              <a:rPr lang="en-US" altLang="zh-CN" sz="1600" dirty="0">
                <a:hlinkClick r:id="rId1"/>
              </a:rPr>
              <a:t>://</a:t>
            </a:r>
            <a:r>
              <a:rPr lang="en-US" altLang="zh-CN" sz="1600" dirty="0" smtClean="0">
                <a:hlinkClick r:id="rId1"/>
              </a:rPr>
              <a:t>www.runoob.com/jsref/jsref-tutorial.html</a:t>
            </a:r>
            <a:endParaRPr lang="en-US" altLang="zh-CN" sz="1600" dirty="0" smtClean="0"/>
          </a:p>
          <a:p>
            <a:r>
              <a:rPr lang="en-US" altLang="zh-CN" sz="1600" dirty="0">
                <a:hlinkClick r:id="rId2"/>
              </a:rPr>
              <a:t>https://</a:t>
            </a:r>
            <a:r>
              <a:rPr lang="en-US" altLang="zh-CN" sz="1600" dirty="0" smtClean="0">
                <a:hlinkClick r:id="rId2"/>
              </a:rPr>
              <a:t>www.w3school.com.cn/r.asp#dom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74" y="-77059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获取文本框内容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87343" y="1531473"/>
            <a:ext cx="8077011" cy="477053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 type="text"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id="operand1"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 type="text"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id="operand2"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&lt;input type="button" value="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onclick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();"/&gt;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&lt;/form&gt;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operand1 =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("operand1");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x = 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operand1.value - 0;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operand2 =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("operand2");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y = 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operand2.value - 0;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64354" y="940713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</a:rPr>
              <a:t>效果：</a:t>
            </a:r>
            <a:endParaRPr lang="en-US" sz="2800" b="1" dirty="0">
              <a:solidFill>
                <a:prstClr val="black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1833" r="14486"/>
          <a:stretch>
            <a:fillRect/>
          </a:stretch>
        </p:blipFill>
        <p:spPr>
          <a:xfrm>
            <a:off x="8504196" y="1542787"/>
            <a:ext cx="3200123" cy="17438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96" y="3844968"/>
            <a:ext cx="3105150" cy="17907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672573" y="6416282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/blog2-6.html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89596" y="802048"/>
            <a:ext cx="2613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添加</a:t>
            </a:r>
            <a:r>
              <a:rPr lang="en-US" altLang="zh-CN" dirty="0" smtClean="0"/>
              <a:t>id</a:t>
            </a:r>
            <a:r>
              <a:rPr lang="zh-CN" altLang="en-US" dirty="0" smtClean="0"/>
              <a:t>属性，使得这个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元素可以被</a:t>
            </a:r>
            <a:r>
              <a:rPr lang="en-US" altLang="zh-CN" dirty="0" smtClean="0"/>
              <a:t>JS</a:t>
            </a:r>
            <a:r>
              <a:rPr lang="zh-CN" altLang="en-US" dirty="0" smtClean="0"/>
              <a:t>获取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5197642" y="1349180"/>
            <a:ext cx="2" cy="54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83158" y="978036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</a:rPr>
              <a:t>代码</a:t>
            </a:r>
            <a:r>
              <a:rPr lang="zh-CN" altLang="en-US" sz="2800" b="1" dirty="0" smtClean="0">
                <a:solidFill>
                  <a:prstClr val="black"/>
                </a:solidFill>
              </a:rPr>
              <a:t>：</a:t>
            </a:r>
            <a:endParaRPr lang="en-US" sz="2800" b="1" dirty="0">
              <a:solidFill>
                <a:prstClr val="black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5794408" y="3811604"/>
            <a:ext cx="683394" cy="47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442075" y="3420898"/>
            <a:ext cx="1922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获取拥有指定</a:t>
            </a:r>
            <a:r>
              <a:rPr lang="en-US" altLang="zh-CN" dirty="0" smtClean="0"/>
              <a:t>id</a:t>
            </a:r>
            <a:r>
              <a:rPr lang="zh-CN" altLang="en-US" dirty="0" smtClean="0"/>
              <a:t>属性的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</a:t>
            </a:r>
            <a:endParaRPr lang="zh-CN" altLang="en-US" dirty="0"/>
          </a:p>
        </p:txBody>
      </p:sp>
      <p:cxnSp>
        <p:nvCxnSpPr>
          <p:cNvPr id="22" name="直接箭头连接符 21"/>
          <p:cNvCxnSpPr/>
          <p:nvPr/>
        </p:nvCxnSpPr>
        <p:spPr>
          <a:xfrm flipV="1">
            <a:off x="3224462" y="4067229"/>
            <a:ext cx="683394" cy="551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657631" y="3387128"/>
            <a:ext cx="2812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访问</a:t>
            </a:r>
            <a:r>
              <a:rPr lang="zh-CN" altLang="en-US" smtClean="0"/>
              <a:t>所获取的</a:t>
            </a:r>
            <a:r>
              <a:rPr lang="en-US" altLang="zh-CN" smtClean="0"/>
              <a:t>HTML</a:t>
            </a:r>
            <a:r>
              <a:rPr lang="zh-CN" altLang="en-US" dirty="0" smtClean="0"/>
              <a:t>元素的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属性（字符串类型）</a:t>
            </a:r>
            <a:endParaRPr lang="zh-CN" altLang="en-US" dirty="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3811604" y="5370897"/>
            <a:ext cx="1001028" cy="288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99259" y="5441441"/>
            <a:ext cx="2773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数字字符串减</a:t>
            </a:r>
            <a:r>
              <a:rPr lang="en-US" altLang="zh-CN" dirty="0" smtClean="0"/>
              <a:t>0</a:t>
            </a:r>
            <a:r>
              <a:rPr lang="zh-CN" altLang="en-US" dirty="0" smtClean="0"/>
              <a:t>可把数字字符串转换成数字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8364354" y="3406566"/>
            <a:ext cx="42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点击上图中“计算”按钮后，控制台显示：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—Array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1440613"/>
            <a:ext cx="10991248" cy="5229695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王小二成功读取了计算器的两个操作数后，还需要根据用户选择的运算种类进行运算，于是学习了下面的知识，将进行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种运算的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个函数放在一个数组中：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对象（数组）的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new Array();  		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中存一个数组对象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不需要指定长             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，使用时直接赋值，长度自动确定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["Java", "Script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"];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//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可以使用方括号创建数组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[0, "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ABC", [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false]];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//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数组对象里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各元素类型可以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不同，下标从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数组元素的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[0]=1;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=[0,1,2];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ar.length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//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（数组的长度）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405062" y="1531532"/>
            <a:ext cx="6631006" cy="495520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 id=“after”&gt;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结果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&lt;span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id="result"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&lt;/span&gt;&lt;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 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 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function_array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[add, sub,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div, mod];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 =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function_array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](x, y);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 =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("result");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result.innerHTML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z;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script&gt;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403030" y="868750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58886" y="6363624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/blog2-7.html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2117558" y="4009133"/>
            <a:ext cx="524445" cy="12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42003" y="3670486"/>
            <a:ext cx="4317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用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表示所选函数在</a:t>
            </a:r>
            <a:r>
              <a:rPr lang="en-US" altLang="zh-CN" dirty="0" err="1" smtClean="0"/>
              <a:t>function_array</a:t>
            </a:r>
            <a:r>
              <a:rPr lang="zh-CN" altLang="en-US" dirty="0" smtClean="0"/>
              <a:t>中的下标，暂设为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，后面再添加相关代码确定</a:t>
            </a:r>
            <a:r>
              <a:rPr lang="en-US" altLang="zh-CN" dirty="0" err="1" smtClean="0"/>
              <a:t>i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endCxn id="13" idx="1"/>
          </p:cNvCxnSpPr>
          <p:nvPr/>
        </p:nvCxnSpPr>
        <p:spPr>
          <a:xfrm>
            <a:off x="2733575" y="5519362"/>
            <a:ext cx="1626669" cy="382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360244" y="5440294"/>
            <a:ext cx="2512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innerHTML</a:t>
            </a:r>
            <a:r>
              <a:rPr lang="zh-CN" altLang="en-US" dirty="0" smtClean="0"/>
              <a:t>属性代表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元素起始标签和结束标签中间的内容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7403030" y="3573401"/>
            <a:ext cx="42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点击上图中“计算”按钮后，网页显示：</a:t>
            </a:r>
            <a:endParaRPr lang="zh-CN" altLang="en-US" sz="16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030" y="1535827"/>
            <a:ext cx="4448175" cy="1905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030" y="4009133"/>
            <a:ext cx="4419600" cy="1924050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H="1">
            <a:off x="11463688" y="3108960"/>
            <a:ext cx="9626" cy="21079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60901" y="205969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使用函数数组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646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27354" y="777627"/>
            <a:ext cx="4628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计算器的</a:t>
            </a:r>
            <a:r>
              <a:rPr lang="en-US" altLang="zh-CN" sz="2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代码：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26820" y="1907882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效果：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63764" y="1500902"/>
            <a:ext cx="1150232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计算器：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type="text" id="operand1"&gt;&lt;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type="text" id="operand2"&gt;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name="op"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name="op"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name="op"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name="op"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name="op"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type="password" id="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&lt;span id="result"&gt;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&lt;/span&gt;&lt;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&lt;input type="button" value="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name="submit"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onclick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="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();"/&gt;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&lt;/form&gt;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611" y="2624817"/>
            <a:ext cx="4724400" cy="20002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22959" y="3022100"/>
            <a:ext cx="4872445" cy="16257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1440613"/>
            <a:ext cx="10991248" cy="5229695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在王小二之前的代码里，无论用户所选运算是什么，都会执行加法。因此，还需要遍历一遍网页中的五个选项，以确定用户选择了哪种运算，于是学习了下面关于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循环的知识：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循环，若表达式为真，则执行循环体；否则跳过循环体，停止循环。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01633" y="3269551"/>
            <a:ext cx="3535681" cy="136191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8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en-US" altLang="zh-CN" sz="2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800" kern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800" kern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){</a:t>
            </a:r>
            <a:r>
              <a:rPr lang="en-US" altLang="zh-CN" sz="2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8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800" kern="0" dirty="0" smtClean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一系列代码</a:t>
            </a:r>
            <a:r>
              <a:rPr lang="en-US" altLang="zh-CN" sz="2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  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194509" y="979468"/>
            <a:ext cx="7208521" cy="53553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operand1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("operand1");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operand1.value - 0;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operand2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("operand2");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operand2.value - 0;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y);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 = </a:t>
            </a:r>
            <a:r>
              <a:rPr lang="en-US" altLang="zh-CN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document.getElementsByName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("op");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 = false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while(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options.length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 found==false){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if(options[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].</a:t>
            </a:r>
            <a:r>
              <a:rPr lang="en-US" altLang="zh-CN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checked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==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true)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{found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true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;}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{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++;}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function_array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[add, sub,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div, mod];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function_array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](x, y);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result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("result");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result.innerHTML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z;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33972" y="1194228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49261" y="5675333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/blog2-8.html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78021" y="-111665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循环遍历数组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4870383" y="2781701"/>
            <a:ext cx="112615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012667" y="2291508"/>
            <a:ext cx="2021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返回值是</a:t>
            </a:r>
            <a:r>
              <a:rPr lang="en-US" altLang="zh-CN" dirty="0" smtClean="0"/>
              <a:t>name</a:t>
            </a:r>
            <a:r>
              <a:rPr lang="zh-CN" altLang="en-US" dirty="0" smtClean="0"/>
              <a:t>属性为</a:t>
            </a:r>
            <a:r>
              <a:rPr lang="en-US" altLang="zh-CN" dirty="0" smtClean="0"/>
              <a:t>”op”</a:t>
            </a:r>
            <a:r>
              <a:rPr lang="zh-CN" altLang="en-US" dirty="0" smtClean="0"/>
              <a:t>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元素组成的数组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2887579" y="4312118"/>
            <a:ext cx="3205213" cy="317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036844" y="4029587"/>
            <a:ext cx="1622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若选中，</a:t>
            </a:r>
            <a:r>
              <a:rPr lang="en-US" altLang="zh-CN" dirty="0"/>
              <a:t>checked</a:t>
            </a:r>
            <a:r>
              <a:rPr lang="zh-CN" altLang="en-US" dirty="0"/>
              <a:t>属性为</a:t>
            </a:r>
            <a:r>
              <a:rPr lang="en-US" altLang="zh-CN" dirty="0"/>
              <a:t>true</a:t>
            </a:r>
            <a:r>
              <a:rPr lang="zh-CN" altLang="en-US" dirty="0"/>
              <a:t>，否则为</a:t>
            </a:r>
            <a:r>
              <a:rPr lang="en-US" altLang="zh-CN" dirty="0"/>
              <a:t>false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0793" y="1720894"/>
            <a:ext cx="3755657" cy="1609567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033972" y="3498903"/>
            <a:ext cx="42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点击上图中“计算”按钮后，网页显示：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793" y="3866333"/>
            <a:ext cx="3844992" cy="1613744"/>
          </a:xfrm>
          <a:prstGeom prst="rect">
            <a:avLst/>
          </a:prstGeom>
        </p:spPr>
      </p:pic>
      <p:cxnSp>
        <p:nvCxnSpPr>
          <p:cNvPr id="25" name="直接箭头连接符 24"/>
          <p:cNvCxnSpPr/>
          <p:nvPr/>
        </p:nvCxnSpPr>
        <p:spPr>
          <a:xfrm>
            <a:off x="11627319" y="3005395"/>
            <a:ext cx="14075" cy="18124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734472" y="5996226"/>
            <a:ext cx="4469330" cy="86177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元素的属性参考：</a:t>
            </a:r>
            <a:endParaRPr lang="en-US" altLang="zh-CN" sz="1600" dirty="0" smtClean="0"/>
          </a:p>
          <a:p>
            <a:r>
              <a:rPr lang="en-US" altLang="zh-CN" sz="1600" dirty="0" smtClean="0">
                <a:hlinkClick r:id="rId3"/>
              </a:rPr>
              <a:t>https</a:t>
            </a:r>
            <a:r>
              <a:rPr lang="en-US" altLang="zh-CN" sz="1600" dirty="0">
                <a:hlinkClick r:id="rId3"/>
              </a:rPr>
              <a:t>://</a:t>
            </a:r>
            <a:r>
              <a:rPr lang="en-US" altLang="zh-CN" sz="1600" dirty="0" smtClean="0">
                <a:hlinkClick r:id="rId3"/>
              </a:rPr>
              <a:t>www.runoob.com/jsref/jsref-tutorial.html</a:t>
            </a:r>
            <a:endParaRPr lang="en-US" altLang="zh-CN" sz="1600" dirty="0" smtClean="0"/>
          </a:p>
          <a:p>
            <a:r>
              <a:rPr lang="en-US" altLang="zh-CN" sz="1600" dirty="0">
                <a:hlinkClick r:id="rId4"/>
              </a:rPr>
              <a:t>https://</a:t>
            </a:r>
            <a:r>
              <a:rPr lang="en-US" altLang="zh-CN" sz="1600" dirty="0" smtClean="0">
                <a:hlinkClick r:id="rId4"/>
              </a:rPr>
              <a:t>www.w3school.com.cn/r.asp#dom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—if-else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1476676"/>
            <a:ext cx="9768840" cy="2106295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王小二想实现：只有知道密码的人才能使用计算器，因而学习了下面的语法以判断用户输入的密码是否正确：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6315" y="2993118"/>
            <a:ext cx="3145970" cy="305468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2000" kern="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kern="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0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0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一系列语句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20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else if</a:t>
            </a:r>
            <a:r>
              <a:rPr lang="en-US" altLang="zh-CN" sz="2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0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0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一系列语句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20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0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0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一系列语句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  </a:t>
            </a:r>
            <a:endParaRPr lang="zh-CN" altLang="zh-CN" sz="28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4680400" y="2993118"/>
            <a:ext cx="7410994" cy="904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类似，但注意表达式需要加圆括号。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对话气泡: 椭圆形 11"/>
          <p:cNvSpPr/>
          <p:nvPr/>
        </p:nvSpPr>
        <p:spPr>
          <a:xfrm>
            <a:off x="5325292" y="3706752"/>
            <a:ext cx="2771134" cy="1175712"/>
          </a:xfrm>
          <a:prstGeom prst="wedgeEllipseCallout">
            <a:avLst>
              <a:gd name="adj1" fmla="val -103327"/>
              <a:gd name="adj2" fmla="val 570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可以有零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个或多个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else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分支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4062" y="368647"/>
            <a:ext cx="10515600" cy="875846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添加密码验证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9271" y="1171828"/>
            <a:ext cx="7312858" cy="482439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type="password"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id="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run_calculator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password =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pwd.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if(password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!= "123456"){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alert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密码错误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");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……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03566" y="1020190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4908" y="560563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/blog3-1.html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521" y="1496136"/>
            <a:ext cx="3814946" cy="16479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03566" y="3144061"/>
            <a:ext cx="3741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输入错误的密码，点击“计算”按钮：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r="44031"/>
          <a:stretch>
            <a:fillRect/>
          </a:stretch>
        </p:blipFill>
        <p:spPr>
          <a:xfrm>
            <a:off x="7972108" y="3463582"/>
            <a:ext cx="3735494" cy="200720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3305412" y="4023361"/>
            <a:ext cx="1857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163088" y="3824847"/>
            <a:ext cx="2002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弹框提示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016715" y="2932295"/>
            <a:ext cx="2002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value</a:t>
            </a:r>
            <a:r>
              <a:rPr lang="zh-CN" altLang="en-US" dirty="0" smtClean="0"/>
              <a:t>属性的值是文本框里的内容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076625" y="3215571"/>
            <a:ext cx="861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748336" y="5974969"/>
            <a:ext cx="4443663" cy="8309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元素的属性参考：</a:t>
            </a:r>
            <a:endParaRPr lang="en-US" altLang="zh-CN" sz="1600" dirty="0" smtClean="0"/>
          </a:p>
          <a:p>
            <a:r>
              <a:rPr lang="en-US" altLang="zh-CN" sz="1600" dirty="0" smtClean="0">
                <a:hlinkClick r:id="rId3"/>
              </a:rPr>
              <a:t>https</a:t>
            </a:r>
            <a:r>
              <a:rPr lang="en-US" altLang="zh-CN" sz="1600" dirty="0">
                <a:hlinkClick r:id="rId3"/>
              </a:rPr>
              <a:t>://</a:t>
            </a:r>
            <a:r>
              <a:rPr lang="en-US" altLang="zh-CN" sz="1600" dirty="0" smtClean="0">
                <a:hlinkClick r:id="rId3"/>
              </a:rPr>
              <a:t>www.runoob.com/jsref/jsref-tutorial.html</a:t>
            </a:r>
            <a:endParaRPr lang="en-US" altLang="zh-CN" sz="1600" dirty="0" smtClean="0"/>
          </a:p>
          <a:p>
            <a:r>
              <a:rPr lang="en-US" altLang="zh-CN" sz="1600" dirty="0">
                <a:hlinkClick r:id="rId4"/>
              </a:rPr>
              <a:t>https://</a:t>
            </a:r>
            <a:r>
              <a:rPr lang="en-US" altLang="zh-CN" sz="1600" dirty="0" smtClean="0">
                <a:hlinkClick r:id="rId4"/>
              </a:rPr>
              <a:t>www.w3school.com.cn/r.asp#dom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Take home message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怎样把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代码嵌入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怎样制作一个交互式的网页：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编程练习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将本节课和上节课的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例子自己写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成一个完整的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继续完善自己的个人作品。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在浏览器的地址栏中输入一个网址，为什么能跳转到那个网页？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完成实验报告“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143892" y="3650071"/>
            <a:ext cx="801384" cy="802757"/>
            <a:chOff x="2075381" y="3760342"/>
            <a:chExt cx="801384" cy="802757"/>
          </a:xfrm>
        </p:grpSpPr>
        <p:sp>
          <p:nvSpPr>
            <p:cNvPr id="5" name="圆角矩形 4"/>
            <p:cNvSpPr/>
            <p:nvPr/>
          </p:nvSpPr>
          <p:spPr>
            <a:xfrm>
              <a:off x="2116477" y="3760342"/>
              <a:ext cx="729466" cy="46233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075381" y="4357616"/>
              <a:ext cx="801384" cy="2054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425237" y="3412394"/>
            <a:ext cx="708917" cy="1273995"/>
            <a:chOff x="6873840" y="3893906"/>
            <a:chExt cx="708917" cy="1273995"/>
          </a:xfrm>
        </p:grpSpPr>
        <p:sp>
          <p:nvSpPr>
            <p:cNvPr id="8" name="圆角矩形 7"/>
            <p:cNvSpPr/>
            <p:nvPr/>
          </p:nvSpPr>
          <p:spPr>
            <a:xfrm>
              <a:off x="6873840" y="3893906"/>
              <a:ext cx="708917" cy="127399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6986427" y="4028843"/>
              <a:ext cx="482885" cy="10274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6986427" y="4182955"/>
              <a:ext cx="482885" cy="10274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986426" y="4337067"/>
              <a:ext cx="482885" cy="10274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128479" y="4480560"/>
            <a:ext cx="873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客户端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342612" y="4727409"/>
            <a:ext cx="873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服务器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284322" y="3804184"/>
            <a:ext cx="392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347697" y="3412394"/>
            <a:ext cx="1797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HTTP Request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4284322" y="4247345"/>
            <a:ext cx="3894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347697" y="4263848"/>
            <a:ext cx="1797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HTTP Response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996698" y="4592113"/>
            <a:ext cx="4294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GET</a:t>
            </a:r>
            <a:r>
              <a:rPr lang="en-US" altLang="zh-CN" dirty="0"/>
              <a:t> https://teacher.solid.things.ac.cn:7243/public/materials/web_exp/blog1-11.html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9554964" y="3749680"/>
            <a:ext cx="1674690" cy="6988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blog1-11.html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394037" y="4612967"/>
            <a:ext cx="1674690" cy="6988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blog1-11.html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2913" y="-36776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2913" y="1087669"/>
            <a:ext cx="10792146" cy="46672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打开控制台，点击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Ctrl+R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取消勾选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 blocked cookies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图示部分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点击鼠标右键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header options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里选中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Method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在地址栏输入网址，按下回车，观察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图示部分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的变化，你发现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操作了吗？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13" y="3119960"/>
            <a:ext cx="11314835" cy="33944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96000" y="3716087"/>
            <a:ext cx="674670" cy="30822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52498" y="4024313"/>
            <a:ext cx="182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556678" y="4161034"/>
            <a:ext cx="1303106" cy="32390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648289" y="3774175"/>
            <a:ext cx="111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取消勾选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37060" y="3421294"/>
            <a:ext cx="7843245" cy="29479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84157" y="3051962"/>
            <a:ext cx="215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输入网址并按回车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41550" y="5163547"/>
            <a:ext cx="8399762" cy="157629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257800" y="2894524"/>
            <a:ext cx="261136" cy="2417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943529" y="2310581"/>
            <a:ext cx="3049712" cy="2713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0688"/>
            <a:ext cx="9390824" cy="47003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59218" y="3378467"/>
            <a:ext cx="6959064" cy="35613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526779"/>
            <a:ext cx="2723147" cy="530253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除此之外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900" y="2057032"/>
            <a:ext cx="8973575" cy="455552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931287" y="4844932"/>
            <a:ext cx="217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 Response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包的包头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73136" y="1558836"/>
            <a:ext cx="3253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的包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包头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68177" y="3975234"/>
            <a:ext cx="3458298" cy="263732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48088" y="2308460"/>
            <a:ext cx="2391878" cy="440997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375954" y="4844931"/>
            <a:ext cx="217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 Response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包的包体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948088" y="2966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网页中的图片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26146"/>
          <a:stretch>
            <a:fillRect/>
          </a:stretch>
        </p:blipFill>
        <p:spPr>
          <a:xfrm>
            <a:off x="956352" y="2404668"/>
            <a:ext cx="10397448" cy="37441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69279" y="4908884"/>
            <a:ext cx="4918509" cy="23100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48088" y="2966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作品展示</a:t>
            </a:r>
            <a:endParaRPr lang="zh-CN" altLang="en-US" dirty="0" smtClean="0"/>
          </a:p>
          <a:p>
            <a:r>
              <a:rPr lang="zh-CN" altLang="en-US" dirty="0" smtClean="0"/>
              <a:t>本地服务器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作品展示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需要提交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作品代码（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文件）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封面图片（</a:t>
            </a:r>
            <a:r>
              <a:rPr lang="zh-CN" altLang="en-US" dirty="0"/>
              <a:t>一张</a:t>
            </a:r>
            <a:r>
              <a:rPr lang="zh-CN" altLang="en-US" dirty="0" smtClean="0"/>
              <a:t>图片，推荐宽</a:t>
            </a:r>
            <a:r>
              <a:rPr lang="en-US" altLang="zh-CN" dirty="0"/>
              <a:t>:</a:t>
            </a:r>
            <a:r>
              <a:rPr lang="zh-CN" altLang="en-US" dirty="0" smtClean="0"/>
              <a:t>高</a:t>
            </a:r>
            <a:r>
              <a:rPr lang="en-US" altLang="zh-CN" dirty="0" smtClean="0"/>
              <a:t>=3:2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作品名称</a:t>
            </a:r>
            <a:endParaRPr lang="en-US" altLang="zh-CN" dirty="0" smtClean="0"/>
          </a:p>
          <a:p>
            <a:r>
              <a:rPr lang="zh-CN" altLang="en-US" dirty="0" smtClean="0"/>
              <a:t>代码中所需资源（图片、音</a:t>
            </a:r>
            <a:r>
              <a:rPr lang="en-US" altLang="zh-CN" dirty="0" smtClean="0"/>
              <a:t>/</a:t>
            </a:r>
            <a:r>
              <a:rPr lang="zh-CN" altLang="en-US" dirty="0" smtClean="0"/>
              <a:t>视频、其它代码文件等）</a:t>
            </a:r>
            <a:endParaRPr lang="en-US" altLang="zh-CN" dirty="0" smtClean="0"/>
          </a:p>
          <a:p>
            <a:pPr lvl="1"/>
            <a:r>
              <a:rPr lang="zh-CN" altLang="en-US" dirty="0"/>
              <a:t>上传</a:t>
            </a:r>
            <a:r>
              <a:rPr lang="zh-CN" altLang="en-US" dirty="0" smtClean="0"/>
              <a:t>到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https</a:t>
            </a:r>
            <a:r>
              <a:rPr lang="en-US" altLang="zh-CN" dirty="0"/>
              <a:t>://teacher.solid.things.ac.cn:7243/private/exp/web/</a:t>
            </a:r>
            <a:r>
              <a:rPr lang="zh-CN" altLang="en-US" dirty="0"/>
              <a:t>你的学号</a:t>
            </a:r>
            <a:r>
              <a:rPr lang="en-US" altLang="zh-CN" dirty="0"/>
              <a:t>(k</a:t>
            </a:r>
            <a:r>
              <a:rPr lang="zh-CN" altLang="en-US" dirty="0"/>
              <a:t>小写</a:t>
            </a:r>
            <a:r>
              <a:rPr lang="en-US" altLang="zh-CN" dirty="0"/>
              <a:t>)/code/</a:t>
            </a:r>
            <a:endParaRPr lang="en-US" altLang="zh-CN" dirty="0"/>
          </a:p>
          <a:p>
            <a:pPr lvl="1"/>
            <a:r>
              <a:rPr lang="zh-CN" altLang="en-US" dirty="0" smtClean="0"/>
              <a:t>详细操作参考“为网页准备资源</a:t>
            </a:r>
            <a:r>
              <a:rPr lang="en-US" altLang="zh-CN" dirty="0" smtClean="0"/>
              <a:t>.pdf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lvl="2"/>
            <a:r>
              <a:rPr lang="en-US" altLang="zh-CN" dirty="0">
                <a:hlinkClick r:id="rId1"/>
              </a:rPr>
              <a:t>https://teacher.solid.things.ac.cn:7243/public/materials/web_exp_materials/%</a:t>
            </a:r>
            <a:r>
              <a:rPr lang="en-US" altLang="zh-CN" dirty="0" smtClean="0">
                <a:hlinkClick r:id="rId1"/>
              </a:rPr>
              <a:t>E4%B8%BA%E7%BD%91%E9%A1%B5%E5%87%86%E5%A4%87%E8%B5%84%E6%BA%90.pdf</a:t>
            </a:r>
            <a:endParaRPr lang="en-US" altLang="zh-CN" dirty="0" smtClean="0"/>
          </a:p>
          <a:p>
            <a:pPr lvl="2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本地服务器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浏览器的安全设置可能导致无法显示本地图片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网页显示不出本地图片，但能显示来自网络的图片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需要搭建本地服务器解决该问题</a:t>
            </a:r>
            <a:endParaRPr lang="en-US" altLang="zh-CN" dirty="0" smtClean="0"/>
          </a:p>
          <a:p>
            <a:r>
              <a:rPr lang="zh-CN" altLang="en-US" dirty="0" smtClean="0"/>
              <a:t>参考</a:t>
            </a:r>
            <a:r>
              <a:rPr lang="en-US" altLang="zh-CN" dirty="0">
                <a:hlinkClick r:id="rId1"/>
              </a:rPr>
              <a:t>https://teacher.solid.things.ac.cn:7243/public/materials/web_exp_materials/%</a:t>
            </a:r>
            <a:r>
              <a:rPr lang="en-US" altLang="zh-CN" dirty="0" smtClean="0">
                <a:hlinkClick r:id="rId1"/>
              </a:rPr>
              <a:t>E6%90%AD%E5%BB%BA%E6%9C%AC%E5%9C%B0%E6%9C%8D%E5%8A%A1%E5%99%A8.pdf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nginx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vscode</a:t>
            </a:r>
            <a:r>
              <a:rPr lang="zh-CN" altLang="en-US" dirty="0" smtClean="0"/>
              <a:t>插件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3bd54f4a-f20b-439a-9aa7-48922c8fd3fa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10889</Words>
  <Application>WPS 演示</Application>
  <PresentationFormat>宽屏</PresentationFormat>
  <Paragraphs>779</Paragraphs>
  <Slides>48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3" baseType="lpstr">
      <vt:lpstr>Arial</vt:lpstr>
      <vt:lpstr>宋体</vt:lpstr>
      <vt:lpstr>Wingdings</vt:lpstr>
      <vt:lpstr>Calibri</vt:lpstr>
      <vt:lpstr>黑体</vt:lpstr>
      <vt:lpstr>楷体</vt:lpstr>
      <vt:lpstr>微软雅黑</vt:lpstr>
      <vt:lpstr>Arial Unicode MS</vt:lpstr>
      <vt:lpstr>等线</vt:lpstr>
      <vt:lpstr>Calibri</vt:lpstr>
      <vt:lpstr>Consolas</vt:lpstr>
      <vt:lpstr>Times New Roman</vt:lpstr>
      <vt:lpstr>等线 Light</vt:lpstr>
      <vt:lpstr>Office 主题​​</vt:lpstr>
      <vt:lpstr>Office Theme</vt:lpstr>
      <vt:lpstr>个人作品实验-2</vt:lpstr>
      <vt:lpstr> Week 2 Make an Interactive Webpage  </vt:lpstr>
      <vt:lpstr>课程安排</vt:lpstr>
      <vt:lpstr>内容大纲</vt:lpstr>
      <vt:lpstr>内容大纲</vt:lpstr>
      <vt:lpstr>知识回顾</vt:lpstr>
      <vt:lpstr>内容大纲</vt:lpstr>
      <vt:lpstr>JavaScript编程示例</vt:lpstr>
      <vt:lpstr>JavaScript编程示例</vt:lpstr>
      <vt:lpstr>JavaScript编程示例</vt:lpstr>
      <vt:lpstr>JavaScript编程示例</vt:lpstr>
      <vt:lpstr>内容大纲</vt:lpstr>
      <vt:lpstr>JavaScript网站与教程</vt:lpstr>
      <vt:lpstr>JavaScript编程知识 —基本数据类型</vt:lpstr>
      <vt:lpstr>JavaScript编程知识 —变量</vt:lpstr>
      <vt:lpstr>JavaScript编程知识 —函数</vt:lpstr>
      <vt:lpstr>添加函数</vt:lpstr>
      <vt:lpstr>内容大纲</vt:lpstr>
      <vt:lpstr>JavaScript运算符和表达式</vt:lpstr>
      <vt:lpstr>添加函数体</vt:lpstr>
      <vt:lpstr>JavaScript运算符和表达式</vt:lpstr>
      <vt:lpstr>JavaScript运算符和表达式</vt:lpstr>
      <vt:lpstr>JavaScript运算符和表达式</vt:lpstr>
      <vt:lpstr>内容大纲</vt:lpstr>
      <vt:lpstr>JavaScript响应事件 —事件</vt:lpstr>
      <vt:lpstr>添加响应</vt:lpstr>
      <vt:lpstr>内容大纲</vt:lpstr>
      <vt:lpstr>JavaScript编程知识 —对象的使用</vt:lpstr>
      <vt:lpstr>JavaScript编程知识 —代表HTML元素的对象</vt:lpstr>
      <vt:lpstr>获取文本框内容</vt:lpstr>
      <vt:lpstr>JavaScript编程知识 —Array对象</vt:lpstr>
      <vt:lpstr>使用函数数组</vt:lpstr>
      <vt:lpstr>内容大纲</vt:lpstr>
      <vt:lpstr>PowerPoint 演示文稿</vt:lpstr>
      <vt:lpstr>JavaScript编程知识 —控制流</vt:lpstr>
      <vt:lpstr>使用while循环遍历数组</vt:lpstr>
      <vt:lpstr>JavaScript控制流 —if-else语句</vt:lpstr>
      <vt:lpstr>添加密码验证</vt:lpstr>
      <vt:lpstr>Take home message</vt:lpstr>
      <vt:lpstr>编程练习</vt:lpstr>
      <vt:lpstr>尝试HTTP</vt:lpstr>
      <vt:lpstr>尝试HTTP</vt:lpstr>
      <vt:lpstr>PowerPoint 演示文稿</vt:lpstr>
      <vt:lpstr>PowerPoint 演示文稿</vt:lpstr>
      <vt:lpstr>PowerPoint 演示文稿</vt:lpstr>
      <vt:lpstr>附录</vt:lpstr>
      <vt:lpstr>作品展示</vt:lpstr>
      <vt:lpstr>本地服务器</vt:lpstr>
    </vt:vector>
  </TitlesOfParts>
  <Company>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内容大纲</dc:title>
  <dc:creator>Horry Gou</dc:creator>
  <cp:lastModifiedBy>唐嘉良</cp:lastModifiedBy>
  <cp:revision>1025</cp:revision>
  <dcterms:created xsi:type="dcterms:W3CDTF">2020-02-25T02:37:00Z</dcterms:created>
  <dcterms:modified xsi:type="dcterms:W3CDTF">2021-06-30T11:21:17Z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3D9FA8C0129F41C1B768EC2A84F10205</vt:lpwstr>
  </property>
  <property fmtid="{D5CDD505-2E9C-101B-9397-08002B2CF9AE}" pid="3" name="KSOProductBuildVer">
    <vt:lpwstr>2052-11.1.0.10578</vt:lpwstr>
  </property>
</Properties>
</file>