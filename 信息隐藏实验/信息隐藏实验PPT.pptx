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302" r:id="rId3"/>
    <p:sldId id="1266" r:id="rId5"/>
    <p:sldId id="1265" r:id="rId6"/>
    <p:sldId id="301" r:id="rId7"/>
    <p:sldId id="535" r:id="rId8"/>
    <p:sldId id="310" r:id="rId9"/>
    <p:sldId id="444" r:id="rId10"/>
    <p:sldId id="465" r:id="rId11"/>
    <p:sldId id="445" r:id="rId12"/>
    <p:sldId id="1317" r:id="rId13"/>
    <p:sldId id="446" r:id="rId14"/>
    <p:sldId id="452" r:id="rId15"/>
    <p:sldId id="453" r:id="rId16"/>
    <p:sldId id="454" r:id="rId17"/>
    <p:sldId id="450" r:id="rId18"/>
    <p:sldId id="457" r:id="rId19"/>
    <p:sldId id="459" r:id="rId20"/>
    <p:sldId id="262" r:id="rId21"/>
    <p:sldId id="582" r:id="rId22"/>
    <p:sldId id="519" r:id="rId23"/>
    <p:sldId id="538" r:id="rId24"/>
    <p:sldId id="520" r:id="rId25"/>
    <p:sldId id="540" r:id="rId26"/>
    <p:sldId id="1269" r:id="rId27"/>
    <p:sldId id="1319" r:id="rId28"/>
    <p:sldId id="541" r:id="rId29"/>
    <p:sldId id="543" r:id="rId30"/>
    <p:sldId id="544" r:id="rId31"/>
    <p:sldId id="583" r:id="rId32"/>
    <p:sldId id="546" r:id="rId33"/>
    <p:sldId id="1307" r:id="rId34"/>
    <p:sldId id="1310" r:id="rId35"/>
    <p:sldId id="1326" r:id="rId36"/>
    <p:sldId id="547" r:id="rId37"/>
    <p:sldId id="1306" r:id="rId38"/>
    <p:sldId id="1271" r:id="rId39"/>
    <p:sldId id="1272" r:id="rId40"/>
    <p:sldId id="1273" r:id="rId41"/>
    <p:sldId id="1274" r:id="rId42"/>
    <p:sldId id="1296" r:id="rId43"/>
    <p:sldId id="1297" r:id="rId44"/>
    <p:sldId id="1275" r:id="rId45"/>
    <p:sldId id="1311" r:id="rId46"/>
    <p:sldId id="1277" r:id="rId47"/>
    <p:sldId id="560" r:id="rId48"/>
    <p:sldId id="1280" r:id="rId49"/>
    <p:sldId id="1281" r:id="rId50"/>
    <p:sldId id="1282" r:id="rId51"/>
    <p:sldId id="1283" r:id="rId52"/>
    <p:sldId id="1284" r:id="rId53"/>
    <p:sldId id="1285" r:id="rId54"/>
    <p:sldId id="1286" r:id="rId55"/>
    <p:sldId id="1287" r:id="rId56"/>
    <p:sldId id="1289" r:id="rId57"/>
    <p:sldId id="1291" r:id="rId58"/>
    <p:sldId id="1290" r:id="rId59"/>
    <p:sldId id="1321" r:id="rId60"/>
    <p:sldId id="1322" r:id="rId61"/>
    <p:sldId id="1323" r:id="rId62"/>
    <p:sldId id="1324" r:id="rId63"/>
    <p:sldId id="1316" r:id="rId64"/>
    <p:sldId id="1292" r:id="rId65"/>
    <p:sldId id="1320" r:id="rId66"/>
    <p:sldId id="1318" r:id="rId67"/>
    <p:sldId id="1304" r:id="rId68"/>
    <p:sldId id="1293" r:id="rId69"/>
    <p:sldId id="1267" r:id="rId70"/>
    <p:sldId id="1299" r:id="rId71"/>
    <p:sldId id="1301" r:id="rId72"/>
    <p:sldId id="1300" r:id="rId73"/>
    <p:sldId id="1305" r:id="rId7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o Yuhao" initials="YY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FF00"/>
    <a:srgbClr val="0066FF"/>
    <a:srgbClr val="FF6CC5"/>
    <a:srgbClr val="33CCFF"/>
    <a:srgbClr val="4AA3DA"/>
    <a:srgbClr val="33CC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0" autoAdjust="0"/>
    <p:restoredTop sz="94414" autoAdjust="0"/>
  </p:normalViewPr>
  <p:slideViewPr>
    <p:cSldViewPr snapToGrid="0">
      <p:cViewPr varScale="1">
        <p:scale>
          <a:sx n="61" d="100"/>
          <a:sy n="61" d="100"/>
        </p:scale>
        <p:origin x="1536" y="56"/>
      </p:cViewPr>
      <p:guideLst/>
    </p:cSldViewPr>
  </p:slid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00" d="100"/>
        <a:sy n="100" d="100"/>
      </p:scale>
      <p:origin x="0" y="-11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8" Type="http://schemas.openxmlformats.org/officeDocument/2006/relationships/commentAuthors" Target="commentAuthors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9447B6-7209-4B4B-8305-F2F5A0BD6E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163.com/w_fox/blog/static/6233953620091115113529198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B919110-6856-4A64-9A7D-D40C491B9A44}" type="slidenum">
              <a:rPr lang="en-US" altLang="zh-CN"/>
            </a:fld>
            <a:endParaRPr lang="en-US" altLang="zh-CN"/>
          </a:p>
        </p:txBody>
      </p:sp>
      <p:sp>
        <p:nvSpPr>
          <p:cNvPr id="4833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4E1A39FF-2C30-45B6-8F91-645ED773424D}" type="slidenum">
              <a:rPr lang="en-US" altLang="zh-CN" sz="1200"/>
            </a:fld>
            <a:endParaRPr lang="en-US" altLang="zh-CN" sz="1200"/>
          </a:p>
        </p:txBody>
      </p:sp>
      <p:sp>
        <p:nvSpPr>
          <p:cNvPr id="483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483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三周的安排如下：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第一周讲解</a:t>
            </a:r>
            <a:r>
              <a:rPr lang="en-US" altLang="zh-CN" dirty="0" err="1"/>
              <a:t>golang</a:t>
            </a:r>
            <a:r>
              <a:rPr lang="zh-CN" altLang="en-US" dirty="0"/>
              <a:t>基本编程知识，并使用三个示例介绍信息隐藏需要用到的基础知识。并讲解一下提供的</a:t>
            </a:r>
            <a:r>
              <a:rPr lang="en-US" altLang="zh-CN" dirty="0" err="1"/>
              <a:t>hide.go</a:t>
            </a:r>
            <a:r>
              <a:rPr lang="zh-CN" altLang="en-US" dirty="0"/>
              <a:t>示例程序。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小组讨论，老师答疑。小组内形成</a:t>
            </a:r>
            <a:r>
              <a:rPr lang="en-US" altLang="zh-CN" dirty="0"/>
              <a:t>ppt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小组报告。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信息隐藏实验的目标：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开发</a:t>
            </a:r>
            <a:r>
              <a:rPr lang="en-US" altLang="zh-CN" dirty="0"/>
              <a:t>hide</a:t>
            </a:r>
            <a:r>
              <a:rPr lang="zh-CN" altLang="en-US" dirty="0"/>
              <a:t>和</a:t>
            </a:r>
            <a:r>
              <a:rPr lang="en-US" altLang="zh-CN" dirty="0"/>
              <a:t>show</a:t>
            </a:r>
            <a:r>
              <a:rPr lang="zh-CN" altLang="en-US" dirty="0"/>
              <a:t>程序，</a:t>
            </a:r>
            <a:r>
              <a:rPr lang="en-US" altLang="zh-CN" dirty="0"/>
              <a:t>hide</a:t>
            </a:r>
            <a:r>
              <a:rPr lang="zh-CN" altLang="en-US" dirty="0"/>
              <a:t>程序能够把文本隐藏到图像中，</a:t>
            </a:r>
            <a:r>
              <a:rPr lang="en-US" altLang="zh-CN" dirty="0"/>
              <a:t>show</a:t>
            </a:r>
            <a:r>
              <a:rPr lang="zh-CN" altLang="en-US" dirty="0"/>
              <a:t>程序能够从图像中恢复文本。其中恢复的文本要和原文本完全一致，隐藏的图片不能有明显视觉差异。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Hide</a:t>
            </a:r>
            <a:r>
              <a:rPr lang="zh-CN" altLang="en-US" dirty="0"/>
              <a:t>和</a:t>
            </a:r>
            <a:r>
              <a:rPr lang="en-US" altLang="zh-CN" dirty="0"/>
              <a:t>show</a:t>
            </a:r>
            <a:r>
              <a:rPr lang="zh-CN" altLang="en-US" dirty="0"/>
              <a:t>程序需要有良好代码风格；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需要独立完成。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-2^{7} -&gt; 2^{7}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int16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-2^{15}  -&gt; 2^{15}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int32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-2^{31}  -&gt; 2^{31}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int64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-2^{63}  -&gt; 2^{63}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浮点数能够表示的范围可以从很小到很巨大，这个极限值范围可以在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包中获取，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math.MaxFloat32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float32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的最大值，大约是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3.4e38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math.MaxFloat64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大约是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1.8e308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，两个类型最小的非负值大约是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1.4e-45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4.9e-324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浮点数和整数的底层解释方式完全不同，具体见</a:t>
            </a:r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IEEE754</a:t>
            </a:r>
            <a:r>
              <a:rPr lang="zh-CN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详解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书上的例子，可以讲一下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函数的声明包括四部分：函数名，输入参数，输出参数，代码块。</a:t>
            </a:r>
            <a:endParaRPr lang="en-US" altLang="zh-CN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函数名</a:t>
            </a:r>
            <a:r>
              <a:rPr lang="zh-CN" altLang="en-US" dirty="0"/>
              <a:t>：由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字母、数字、下划线</a:t>
            </a:r>
            <a:r>
              <a:rPr lang="zh-CN" altLang="en-US" dirty="0"/>
              <a:t>组成。其中，函数名的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第一个字母不能为数字</a:t>
            </a:r>
            <a:r>
              <a:rPr lang="zh-CN" altLang="en-US" dirty="0"/>
              <a:t>。在同一个包内，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函数名称不能重名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在参数列表中，如有多个参数变量，则以逗号分隔；如果相邻变量是同类型，则可以将类型省略。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下面是一个</a:t>
            </a:r>
            <a:r>
              <a:rPr lang="en-US" altLang="zh-CN" dirty="0" err="1"/>
              <a:t>golang</a:t>
            </a:r>
            <a:r>
              <a:rPr lang="zh-CN" altLang="en-US" dirty="0"/>
              <a:t>程序的示例，可以把</a:t>
            </a:r>
            <a:r>
              <a:rPr lang="en-US" altLang="zh-CN" dirty="0"/>
              <a:t>bmp</a:t>
            </a:r>
            <a:r>
              <a:rPr lang="zh-CN" altLang="en-US" dirty="0"/>
              <a:t>文件颜色反转。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</a:t>
            </a:r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ioutil</a:t>
            </a:r>
            <a:r>
              <a:rPr lang="en-US" altLang="zh-CN" dirty="0"/>
              <a:t>.</a:t>
            </a:r>
            <a:r>
              <a:rPr lang="en-US" altLang="zh-CN" dirty="0" err="1"/>
              <a:t>ReadFile</a:t>
            </a:r>
            <a:r>
              <a:rPr lang="zh-CN" altLang="en-US" dirty="0"/>
              <a:t>函数读取文件，有</a:t>
            </a:r>
            <a:r>
              <a:rPr lang="en-US" altLang="zh-CN" dirty="0"/>
              <a:t>2</a:t>
            </a:r>
            <a:r>
              <a:rPr lang="zh-CN" altLang="en-US" dirty="0"/>
              <a:t>个返回值。第</a:t>
            </a:r>
            <a:r>
              <a:rPr lang="en-US" altLang="zh-CN" dirty="0"/>
              <a:t>1</a:t>
            </a:r>
            <a:r>
              <a:rPr lang="zh-CN" altLang="en-US" dirty="0"/>
              <a:t>个返回值是字节切片类型，保存了文件内容，第</a:t>
            </a:r>
            <a:r>
              <a:rPr lang="en-US" altLang="zh-CN" dirty="0"/>
              <a:t>2</a:t>
            </a:r>
            <a:r>
              <a:rPr lang="zh-CN" altLang="en-US" dirty="0"/>
              <a:t>个返回值是</a:t>
            </a:r>
            <a:r>
              <a:rPr lang="en-US" altLang="zh-CN" dirty="0"/>
              <a:t>error</a:t>
            </a:r>
            <a:r>
              <a:rPr lang="zh-CN" altLang="en-US" dirty="0"/>
              <a:t>类型，指明是否调用过程中发生了错误。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在此处调用中，表示文件内容保存到了</a:t>
            </a:r>
            <a:r>
              <a:rPr lang="en-US" altLang="zh-CN" dirty="0"/>
              <a:t>p</a:t>
            </a:r>
            <a:r>
              <a:rPr lang="zh-CN" altLang="en-US" dirty="0"/>
              <a:t>中，忽略第</a:t>
            </a:r>
            <a:r>
              <a:rPr lang="en-US" altLang="zh-CN" dirty="0"/>
              <a:t>2</a:t>
            </a:r>
            <a:r>
              <a:rPr lang="zh-CN" altLang="en-US" dirty="0"/>
              <a:t>个返回值（即错误）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前面提到</a:t>
            </a:r>
            <a:r>
              <a:rPr lang="en-US" altLang="zh-CN" dirty="0"/>
              <a:t>BMP</a:t>
            </a:r>
            <a:r>
              <a:rPr lang="zh-CN" altLang="en-US" dirty="0"/>
              <a:t>文件的像素起始地址是</a:t>
            </a:r>
            <a:r>
              <a:rPr lang="en-US" altLang="zh-CN" dirty="0"/>
              <a:t>54</a:t>
            </a:r>
            <a:r>
              <a:rPr lang="zh-CN" altLang="en-US" dirty="0"/>
              <a:t>，因此，需要从</a:t>
            </a:r>
            <a:r>
              <a:rPr lang="en-US" altLang="zh-CN" dirty="0"/>
              <a:t>54</a:t>
            </a:r>
            <a:r>
              <a:rPr lang="zh-CN" altLang="en-US" dirty="0"/>
              <a:t>开始处理像素字节。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for</a:t>
            </a:r>
            <a:r>
              <a:rPr lang="zh-CN" altLang="en-US" dirty="0"/>
              <a:t>循环，对每个像素字节，用</a:t>
            </a:r>
            <a:r>
              <a:rPr lang="en-US" altLang="zh-CN" dirty="0"/>
              <a:t>255</a:t>
            </a:r>
            <a:r>
              <a:rPr lang="zh-CN" altLang="en-US" dirty="0"/>
              <a:t>减去旧值。</a:t>
            </a:r>
            <a:endParaRPr lang="en-US" altLang="zh-CN" dirty="0"/>
          </a:p>
          <a:p>
            <a:r>
              <a:rPr lang="zh-CN" altLang="en-US" dirty="0"/>
              <a:t>假设某像素是</a:t>
            </a:r>
            <a:r>
              <a:rPr lang="en-US" altLang="zh-CN" dirty="0"/>
              <a:t>255</a:t>
            </a:r>
            <a:r>
              <a:rPr lang="zh-CN" altLang="en-US" dirty="0"/>
              <a:t>， </a:t>
            </a:r>
            <a:r>
              <a:rPr lang="en-US" altLang="zh-CN" dirty="0"/>
              <a:t>255</a:t>
            </a:r>
            <a:r>
              <a:rPr lang="zh-CN" altLang="en-US" dirty="0"/>
              <a:t>， </a:t>
            </a:r>
            <a:r>
              <a:rPr lang="en-US" altLang="zh-CN" dirty="0"/>
              <a:t>255</a:t>
            </a:r>
            <a:r>
              <a:rPr lang="zh-CN" altLang="en-US" dirty="0"/>
              <a:t>，即白色，处理完后是</a:t>
            </a:r>
            <a:r>
              <a:rPr lang="en-US" altLang="zh-CN" dirty="0"/>
              <a:t>0</a:t>
            </a:r>
            <a:r>
              <a:rPr lang="zh-CN" altLang="en-US" dirty="0"/>
              <a:t>， </a:t>
            </a:r>
            <a:r>
              <a:rPr lang="en-US" altLang="zh-CN" dirty="0"/>
              <a:t>0 </a:t>
            </a:r>
            <a:r>
              <a:rPr lang="zh-CN" altLang="en-US" dirty="0"/>
              <a:t>， </a:t>
            </a:r>
            <a:r>
              <a:rPr lang="en-US" altLang="zh-CN" dirty="0"/>
              <a:t>0</a:t>
            </a:r>
            <a:r>
              <a:rPr lang="zh-CN" altLang="en-US" dirty="0"/>
              <a:t>就是黑色。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反色等与图像相关的知识在这里不是重点。重点是借助这个示例讲解：</a:t>
            </a:r>
            <a:r>
              <a:rPr lang="en-US" altLang="zh-CN" dirty="0"/>
              <a:t>1. </a:t>
            </a:r>
            <a:r>
              <a:rPr lang="en-US" altLang="zh-CN" dirty="0" err="1"/>
              <a:t>golang</a:t>
            </a:r>
            <a:r>
              <a:rPr lang="zh-CN" altLang="en-US" dirty="0"/>
              <a:t>程序的基本构成；</a:t>
            </a:r>
            <a:r>
              <a:rPr lang="en-US" altLang="zh-CN" dirty="0"/>
              <a:t>2. </a:t>
            </a:r>
            <a:r>
              <a:rPr lang="zh-CN" altLang="en-US" dirty="0"/>
              <a:t>如何读文件，如何写文件；</a:t>
            </a:r>
            <a:r>
              <a:rPr lang="en-US" altLang="zh-CN" dirty="0"/>
              <a:t>3. for</a:t>
            </a:r>
            <a:r>
              <a:rPr lang="zh-CN" altLang="en-US" dirty="0"/>
              <a:t>循环的示例。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需要从命令行中获取图像名称、文本名称，及修改后的文本名称。</a:t>
            </a:r>
            <a:endParaRPr lang="en-US" altLang="zh-CN" dirty="0"/>
          </a:p>
          <a:p>
            <a:r>
              <a:rPr lang="zh-CN" altLang="en-US" dirty="0"/>
              <a:t>会提供代码框架</a:t>
            </a:r>
            <a:r>
              <a:rPr lang="en-US" altLang="zh-CN" dirty="0"/>
              <a:t>hide-2.go</a:t>
            </a:r>
            <a:r>
              <a:rPr lang="zh-CN" altLang="en-US" dirty="0"/>
              <a:t>和</a:t>
            </a:r>
            <a:r>
              <a:rPr lang="en-US" altLang="zh-CN" dirty="0"/>
              <a:t>show-2.go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框中是提供的代码，可以命令行中获取输入原始图片路径，文本路径和修改后图片路径。</a:t>
            </a:r>
            <a:endParaRPr lang="zh-CN" altLang="en-US" dirty="0"/>
          </a:p>
          <a:p>
            <a:r>
              <a:rPr lang="zh-CN" altLang="en-US" dirty="0"/>
              <a:t>这部分代码会提供给同学们了，大家只需要不改动这部分代码，然后知道怎么用就可以了。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使用方式就是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go run </a:t>
            </a:r>
            <a:r>
              <a:rPr lang="en-US" altLang="zh-CN" sz="12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hide.go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</a:t>
            </a:r>
            <a:r>
              <a:rPr lang="en-US" altLang="zh-CN" sz="12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12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Autumn.bmp</a:t>
            </a:r>
            <a:r>
              <a:rPr lang="en-US" altLang="zh-CN" sz="12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-t </a:t>
            </a:r>
            <a:r>
              <a:rPr lang="en-US" altLang="zh-CN" sz="12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HungLouMeng.txt -o doctoredAutumn.bmp</a:t>
            </a:r>
            <a:endParaRPr lang="en-US" altLang="zh-CN" sz="1200" b="1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表示输入的原始图片路径，</a:t>
            </a:r>
            <a:r>
              <a:rPr lang="en-US" altLang="zh-CN" dirty="0"/>
              <a:t>-t</a:t>
            </a:r>
            <a:r>
              <a:rPr lang="zh-CN" altLang="en-US" dirty="0"/>
              <a:t>表示输入文本路径；</a:t>
            </a:r>
            <a:r>
              <a:rPr lang="en-US" altLang="zh-CN" dirty="0"/>
              <a:t>-o</a:t>
            </a:r>
            <a:r>
              <a:rPr lang="zh-CN" altLang="en-US" dirty="0"/>
              <a:t>修改后图片路径。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modify</a:t>
            </a:r>
            <a:r>
              <a:rPr lang="zh-CN" altLang="en-US" dirty="0"/>
              <a:t>函数可以把一个整数隐藏到字节切片中，该函数需要学生自己完成。</a:t>
            </a:r>
            <a:endParaRPr lang="en-US" altLang="zh-CN" dirty="0"/>
          </a:p>
          <a:p>
            <a:r>
              <a:rPr lang="zh-CN" altLang="en-US" dirty="0"/>
              <a:t>有三个参数</a:t>
            </a:r>
            <a:r>
              <a:rPr lang="en-US" altLang="zh-CN" dirty="0" err="1"/>
              <a:t>txt,pix</a:t>
            </a:r>
            <a:r>
              <a:rPr lang="zh-CN" altLang="en-US" dirty="0"/>
              <a:t>和</a:t>
            </a:r>
            <a:r>
              <a:rPr lang="en-US" altLang="zh-CN" dirty="0"/>
              <a:t>size</a:t>
            </a:r>
            <a:r>
              <a:rPr lang="zh-CN" altLang="en-US" dirty="0"/>
              <a:t>。就是把</a:t>
            </a:r>
            <a:r>
              <a:rPr lang="en-US" altLang="zh-CN" dirty="0"/>
              <a:t>txt</a:t>
            </a:r>
            <a:r>
              <a:rPr lang="zh-CN" altLang="en-US" dirty="0"/>
              <a:t>隐藏到</a:t>
            </a:r>
            <a:r>
              <a:rPr lang="en-US" altLang="zh-CN" dirty="0"/>
              <a:t>pix</a:t>
            </a:r>
            <a:r>
              <a:rPr lang="zh-CN" altLang="en-US" dirty="0"/>
              <a:t>的前</a:t>
            </a:r>
            <a:r>
              <a:rPr lang="en-US" altLang="zh-CN" dirty="0"/>
              <a:t>size</a:t>
            </a:r>
            <a:r>
              <a:rPr lang="zh-CN" altLang="en-US" dirty="0"/>
              <a:t>个元素中。</a:t>
            </a:r>
            <a:endParaRPr lang="en-US" altLang="zh-CN" dirty="0"/>
          </a:p>
          <a:p>
            <a:r>
              <a:rPr lang="en-US" altLang="zh-CN" dirty="0"/>
              <a:t>modify(</a:t>
            </a:r>
            <a:r>
              <a:rPr lang="en-US" altLang="zh-CN" dirty="0" err="1"/>
              <a:t>len</a:t>
            </a:r>
            <a:r>
              <a:rPr lang="en-US" altLang="zh-CN" dirty="0"/>
              <a:t>(t), p[S:S+T], T) </a:t>
            </a:r>
            <a:r>
              <a:rPr lang="zh-CN" altLang="en-US" dirty="0"/>
              <a:t>就是把文本的长度隐藏到</a:t>
            </a:r>
            <a:r>
              <a:rPr lang="en-US" altLang="zh-CN" dirty="0"/>
              <a:t>p</a:t>
            </a:r>
            <a:r>
              <a:rPr lang="zh-CN" altLang="en-US" dirty="0"/>
              <a:t>中。其中</a:t>
            </a:r>
            <a:r>
              <a:rPr lang="en-US" altLang="zh-CN" dirty="0"/>
              <a:t>S=54</a:t>
            </a:r>
            <a:r>
              <a:rPr lang="zh-CN" altLang="en-US" dirty="0"/>
              <a:t>， </a:t>
            </a:r>
            <a:r>
              <a:rPr lang="en-US" altLang="zh-CN" dirty="0"/>
              <a:t>T=64/2=32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把文本内容逐字节隐藏到图片中。</a:t>
            </a:r>
            <a:endParaRPr lang="en-US" altLang="zh-CN" dirty="0"/>
          </a:p>
          <a:p>
            <a:r>
              <a:rPr lang="en-US" altLang="zh-CN" dirty="0"/>
              <a:t>S = 54</a:t>
            </a:r>
            <a:endParaRPr lang="en-US" altLang="zh-CN" dirty="0"/>
          </a:p>
          <a:p>
            <a:r>
              <a:rPr lang="en-US" altLang="zh-CN" dirty="0"/>
              <a:t>T = 64 /</a:t>
            </a:r>
            <a:r>
              <a:rPr lang="zh-CN" altLang="en-US" dirty="0"/>
              <a:t> </a:t>
            </a:r>
            <a:r>
              <a:rPr lang="en-US" altLang="zh-CN" dirty="0"/>
              <a:t>2 = 32</a:t>
            </a:r>
            <a:endParaRPr lang="en-US" altLang="zh-CN" dirty="0"/>
          </a:p>
          <a:p>
            <a:r>
              <a:rPr lang="en-US" altLang="zh-CN" dirty="0"/>
              <a:t>C = 8 / 2 = 4  </a:t>
            </a:r>
            <a:r>
              <a:rPr lang="zh-CN" altLang="en-US" dirty="0"/>
              <a:t>每个字节</a:t>
            </a:r>
            <a:r>
              <a:rPr lang="en-US" altLang="zh-CN" dirty="0"/>
              <a:t>8 bits</a:t>
            </a:r>
            <a:r>
              <a:rPr lang="zh-CN" altLang="en-US" dirty="0"/>
              <a:t>，隐藏到后</a:t>
            </a:r>
            <a:r>
              <a:rPr lang="en-US" altLang="zh-CN" dirty="0"/>
              <a:t>2bits</a:t>
            </a:r>
            <a:r>
              <a:rPr lang="zh-CN" altLang="en-US" dirty="0"/>
              <a:t>，因此每个字节需要</a:t>
            </a:r>
            <a:r>
              <a:rPr lang="en-US" altLang="zh-CN" dirty="0"/>
              <a:t>4</a:t>
            </a:r>
            <a:r>
              <a:rPr lang="zh-CN" altLang="en-US" dirty="0"/>
              <a:t>个元素。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有两次代码提交机会。</a:t>
            </a:r>
            <a:endParaRPr lang="en-US" altLang="zh-CN" dirty="0"/>
          </a:p>
          <a:p>
            <a:r>
              <a:rPr lang="zh-CN" altLang="en-US" dirty="0"/>
              <a:t>第一次提交</a:t>
            </a:r>
            <a:r>
              <a:rPr lang="en-US" altLang="zh-CN" dirty="0"/>
              <a:t>hide-2.go</a:t>
            </a:r>
            <a:r>
              <a:rPr lang="zh-CN" altLang="en-US" dirty="0"/>
              <a:t>和</a:t>
            </a:r>
            <a:r>
              <a:rPr lang="en-US" altLang="zh-CN" dirty="0"/>
              <a:t>show-2.go</a:t>
            </a:r>
            <a:r>
              <a:rPr lang="zh-CN" altLang="en-US" dirty="0"/>
              <a:t>。把文本隐藏到像素字节的低</a:t>
            </a:r>
            <a:r>
              <a:rPr lang="en-US" altLang="zh-CN" dirty="0"/>
              <a:t>2bit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第一次提交</a:t>
            </a:r>
            <a:r>
              <a:rPr lang="en-US" altLang="zh-CN" dirty="0"/>
              <a:t>hide-1.go</a:t>
            </a:r>
            <a:r>
              <a:rPr lang="zh-CN" altLang="en-US" dirty="0"/>
              <a:t>和</a:t>
            </a:r>
            <a:r>
              <a:rPr lang="en-US" altLang="zh-CN" dirty="0"/>
              <a:t>show-1.go, hide-2.go</a:t>
            </a:r>
            <a:r>
              <a:rPr lang="zh-CN" altLang="en-US" dirty="0"/>
              <a:t>和</a:t>
            </a:r>
            <a:r>
              <a:rPr lang="en-US" altLang="zh-CN" dirty="0"/>
              <a:t>show-2.go, hide-4.go</a:t>
            </a:r>
            <a:r>
              <a:rPr lang="zh-CN" altLang="en-US" dirty="0"/>
              <a:t>和</a:t>
            </a:r>
            <a:r>
              <a:rPr lang="en-US" altLang="zh-CN" dirty="0"/>
              <a:t>show-4.go</a:t>
            </a:r>
            <a:r>
              <a:rPr lang="zh-CN" altLang="en-US" dirty="0"/>
              <a:t>。分别把文本隐藏到像素字节的低</a:t>
            </a:r>
            <a:r>
              <a:rPr lang="en-US" altLang="zh-CN" dirty="0"/>
              <a:t>1bit</a:t>
            </a:r>
            <a:r>
              <a:rPr lang="zh-CN" altLang="en-US" dirty="0"/>
              <a:t>，低</a:t>
            </a:r>
            <a:r>
              <a:rPr lang="en-US" altLang="zh-CN" dirty="0"/>
              <a:t>2bit</a:t>
            </a:r>
            <a:r>
              <a:rPr lang="zh-CN" altLang="en-US" dirty="0"/>
              <a:t>和低</a:t>
            </a:r>
            <a:r>
              <a:rPr lang="en-US" altLang="zh-CN" dirty="0"/>
              <a:t>4bit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最终代码得分，取两次提交的最高分。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评分标准如下：</a:t>
            </a:r>
            <a:endParaRPr lang="en-US" altLang="zh-CN" dirty="0"/>
          </a:p>
          <a:p>
            <a:r>
              <a:rPr lang="zh-CN" altLang="en-US" dirty="0"/>
              <a:t>最终代码得分，取两次提交的最高分。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3" name="Rectangle 45"/>
          <p:cNvSpPr>
            <a:spLocks noChangeArrowheads="1"/>
          </p:cNvSpPr>
          <p:nvPr/>
        </p:nvSpPr>
        <p:spPr bwMode="auto">
          <a:xfrm rot="5400000" flipH="1">
            <a:off x="4982369" y="3479006"/>
            <a:ext cx="4724400" cy="71438"/>
          </a:xfrm>
          <a:prstGeom prst="rect">
            <a:avLst/>
          </a:prstGeom>
          <a:gradFill rotWithShape="1">
            <a:gsLst>
              <a:gs pos="0">
                <a:srgbClr val="A603AB"/>
              </a:gs>
              <a:gs pos="12000">
                <a:srgbClr val="E81766"/>
              </a:gs>
              <a:gs pos="27000">
                <a:srgbClr val="EE3F17"/>
              </a:gs>
              <a:gs pos="48000">
                <a:srgbClr val="FFFF00"/>
              </a:gs>
              <a:gs pos="64999">
                <a:srgbClr val="1A8D48"/>
              </a:gs>
              <a:gs pos="78999">
                <a:srgbClr val="0819FB"/>
              </a:gs>
              <a:gs pos="100000">
                <a:srgbClr val="A603AB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50825" y="549275"/>
            <a:ext cx="7058025" cy="2133600"/>
          </a:xfrm>
        </p:spPr>
        <p:txBody>
          <a:bodyPr/>
          <a:lstStyle>
            <a:lvl1pPr algn="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71550" y="2924175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  <p:pic>
        <p:nvPicPr>
          <p:cNvPr id="32809" name="Picture 41" descr="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0" y="2924175"/>
            <a:ext cx="936625" cy="779463"/>
          </a:xfrm>
          <a:prstGeom prst="rect">
            <a:avLst/>
          </a:prstGeom>
          <a:noFill/>
        </p:spPr>
      </p:pic>
      <p:pic>
        <p:nvPicPr>
          <p:cNvPr id="32810" name="Picture 42" descr="logo－zi-sh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53375" y="3848100"/>
            <a:ext cx="292100" cy="2016125"/>
          </a:xfrm>
          <a:prstGeom prst="rect">
            <a:avLst/>
          </a:prstGeom>
          <a:noFill/>
        </p:spPr>
      </p:pic>
      <p:sp>
        <p:nvSpPr>
          <p:cNvPr id="32811" name="Text Box 43"/>
          <p:cNvSpPr txBox="1">
            <a:spLocks noChangeArrowheads="1"/>
          </p:cNvSpPr>
          <p:nvPr/>
        </p:nvSpPr>
        <p:spPr bwMode="auto">
          <a:xfrm>
            <a:off x="7669213" y="3848100"/>
            <a:ext cx="320675" cy="2159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>
            <a:spAutoFit/>
          </a:bodyPr>
          <a:lstStyle/>
          <a:p>
            <a:r>
              <a:rPr lang="en-US" altLang="zh-CN" sz="900" b="1">
                <a:latin typeface="Franklin Gothic Medium" panose="020B0603020102020204" pitchFamily="34" charset="0"/>
              </a:rPr>
              <a:t>INSTITUTE OF COMPUTING TECHNOLOGY</a:t>
            </a:r>
            <a:endParaRPr lang="en-US" altLang="zh-CN" sz="900" b="1">
              <a:latin typeface="Franklin Gothic Medium" panose="020B0603020102020204" pitchFamily="34" charset="0"/>
            </a:endParaRPr>
          </a:p>
        </p:txBody>
      </p:sp>
      <p:sp>
        <p:nvSpPr>
          <p:cNvPr id="32812" name="Rectangle 44"/>
          <p:cNvSpPr>
            <a:spLocks noChangeArrowheads="1"/>
          </p:cNvSpPr>
          <p:nvPr/>
        </p:nvSpPr>
        <p:spPr bwMode="auto">
          <a:xfrm>
            <a:off x="250825" y="2708275"/>
            <a:ext cx="8281988" cy="71438"/>
          </a:xfrm>
          <a:prstGeom prst="rect">
            <a:avLst/>
          </a:prstGeom>
          <a:gradFill rotWithShape="1">
            <a:gsLst>
              <a:gs pos="0">
                <a:srgbClr val="A603AB"/>
              </a:gs>
              <a:gs pos="12000">
                <a:srgbClr val="E81766"/>
              </a:gs>
              <a:gs pos="27000">
                <a:srgbClr val="EE3F17"/>
              </a:gs>
              <a:gs pos="48000">
                <a:srgbClr val="FFFF00"/>
              </a:gs>
              <a:gs pos="64999">
                <a:srgbClr val="1A8D48"/>
              </a:gs>
              <a:gs pos="78999">
                <a:srgbClr val="0819FB"/>
              </a:gs>
              <a:gs pos="100000">
                <a:srgbClr val="A603AB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22238"/>
            <a:ext cx="8712968" cy="85849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5472608"/>
          </a:xfrm>
        </p:spPr>
        <p:txBody>
          <a:bodyPr/>
          <a:lstStyle>
            <a:lvl3pPr>
              <a:buClr>
                <a:srgbClr val="9900CC"/>
              </a:buClr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3232" y="6605736"/>
            <a:ext cx="730424" cy="252264"/>
          </a:xfrm>
        </p:spPr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 hasCustomPrompt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r>
              <a:rPr lang="zh-CN" altLang="en-US"/>
              <a:t>单击图标添加表格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/>
            </a:lvl1pPr>
          </a:lstStyle>
          <a:p>
            <a:fld id="{72E05E3A-ACD3-4DE5-8775-CFC1297DE4D8}" type="datetimeFigureOut">
              <a:rPr lang="en-US" smtClean="0"/>
            </a:fld>
            <a:endParaRPr lang="en-US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fld id="{3164EB57-63C2-43D8-BD35-B1988EDB52C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2pPr>
      <a:lvl3pPr marL="987425" indent="-29400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3pPr>
      <a:lvl4pPr marL="1281430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</a:defRPr>
      </a:lvl4pPr>
      <a:lvl5pPr marL="15989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</a:defRPr>
      </a:lvl5pPr>
      <a:lvl6pPr marL="20561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tour.go-zh.org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5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72BA7-A053-4C77-BE4A-2C9478A22DA6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823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-1524000" y="1484315"/>
            <a:ext cx="12192000" cy="5113337"/>
          </a:xfrm>
          <a:noFill/>
        </p:spPr>
        <p:txBody>
          <a:bodyPr anchor="ctr"/>
          <a:lstStyle/>
          <a:p>
            <a:pPr algn="ctr"/>
            <a:br>
              <a:rPr lang="zh-CN" altLang="en-US" dirty="0"/>
            </a:br>
            <a:r>
              <a:rPr lang="en-US" altLang="zh-CN" sz="4800" dirty="0"/>
              <a:t>Lab Slides</a:t>
            </a:r>
            <a:br>
              <a:rPr lang="en-US" altLang="zh-CN" sz="4800" dirty="0"/>
            </a:br>
            <a:r>
              <a:rPr lang="en-US" altLang="zh-CN" sz="4800" dirty="0"/>
              <a:t>Text hider</a:t>
            </a:r>
            <a:br>
              <a:rPr lang="en-US" altLang="zh-CN" sz="4800" dirty="0"/>
            </a:br>
            <a:br>
              <a:rPr lang="zh-CN" altLang="en-US" sz="6600" dirty="0"/>
            </a:br>
            <a:r>
              <a:rPr lang="zh-CN" altLang="en-US" sz="1800" dirty="0" smtClean="0"/>
              <a:t>郭泓锐 实验课助教</a:t>
            </a:r>
            <a:br>
              <a:rPr lang="en-US" altLang="zh-CN" sz="1800" dirty="0"/>
            </a:br>
            <a:r>
              <a:rPr lang="en-US" altLang="zh-CN" sz="1800" dirty="0" smtClean="0"/>
              <a:t>guohongrui17</a:t>
            </a:r>
            <a:r>
              <a:rPr lang="en-US" altLang="zh-CN" sz="1800" dirty="0" smtClean="0"/>
              <a:t>@mails.ucas.ac.cn</a:t>
            </a:r>
            <a:endParaRPr lang="en-US" altLang="zh-CN" sz="1800" dirty="0"/>
          </a:p>
        </p:txBody>
      </p:sp>
      <p:pic>
        <p:nvPicPr>
          <p:cNvPr id="9" name="Picture 2" descr="http://www.gucas.ac.cn/newStyle/images/lougou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108520" y="0"/>
            <a:ext cx="4381500" cy="1047751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7630658" y="0"/>
            <a:ext cx="17561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CS101</a:t>
            </a:r>
            <a:endParaRPr lang="zh-CN" altLang="en-US" sz="36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Outline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17528"/>
            <a:ext cx="8590851" cy="479138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Week 1: Golang Programming, Lab highlights, Three examples, Text hide program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/>
              <a:t>Week 2: Team discussion, Prepare representation slides, Q&amp;A</a:t>
            </a:r>
            <a:endParaRPr lang="en-US" altLang="zh-CN" dirty="0"/>
          </a:p>
          <a:p>
            <a:pPr lvl="1"/>
            <a:r>
              <a:rPr lang="en-US" altLang="zh-CN" dirty="0"/>
              <a:t>Same team as Turing Adder Lab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r>
              <a:rPr lang="en-US" altLang="zh-CN" dirty="0"/>
              <a:t>Week 3: Team presentation to the class</a:t>
            </a:r>
            <a:endParaRPr lang="en-US" altLang="zh-CN" dirty="0"/>
          </a:p>
          <a:p>
            <a:pPr lvl="1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5646" y="2942946"/>
            <a:ext cx="6534726" cy="643868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First week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First Week </a:t>
            </a:r>
            <a:r>
              <a:rPr lang="en-US" altLang="zh-CN" dirty="0">
                <a:latin typeface="Arial" panose="020B0604020202020204" pitchFamily="34" charset="0"/>
              </a:rPr>
              <a:t>Outline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150865"/>
            <a:ext cx="8892480" cy="51213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Golang Programming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How to represent an image in a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computer?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Color encoding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BMP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file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format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Example 1: Invert the color of panda.bmp to get darkPanda.bmp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How to hide and restore a character in a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byte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array?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Example 2: Hide 'z' to a byte array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Example 3: Restore 'z' from a byte array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Text hide program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Grading criteria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108" y="141668"/>
            <a:ext cx="7886700" cy="81814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textbook 7.2 and Example 49</a:t>
            </a:r>
            <a:endParaRPr lang="zh-CN" altLang="en-US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59815"/>
            <a:ext cx="9224963" cy="3263504"/>
          </a:xfrm>
        </p:spPr>
        <p:txBody>
          <a:bodyPr>
            <a:normAutofit/>
          </a:bodyPr>
          <a:lstStyle/>
          <a:p>
            <a:r>
              <a:rPr lang="en-US" altLang="zh-CN" sz="19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Develop hide program: </a:t>
            </a:r>
            <a:r>
              <a:rPr lang="en-US" altLang="zh-CN" sz="19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Hides the content of a text file in a 24-bit BMP image file. </a:t>
            </a:r>
            <a:endParaRPr lang="en-US" altLang="zh-CN" sz="19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z="19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Develop show program: Recover the content of the text file from the doctored  BMP image file.</a:t>
            </a:r>
            <a:endParaRPr lang="en-US" altLang="zh-CN" sz="19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9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The doctored image file must show no visible difference from the original image.</a:t>
            </a:r>
            <a:endParaRPr lang="en-US" altLang="zh-CN" sz="19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9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The two programs should work for other text and 24-bit BMP image.</a:t>
            </a:r>
            <a:endParaRPr lang="en-US" altLang="zh-CN" sz="19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z="1900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Good programming practice and Independent work.</a:t>
            </a:r>
            <a:endParaRPr lang="en-US" altLang="zh-CN" sz="19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38"/>
          <a:stretch>
            <a:fillRect/>
          </a:stretch>
        </p:blipFill>
        <p:spPr>
          <a:xfrm>
            <a:off x="216808" y="3009900"/>
            <a:ext cx="8504237" cy="34843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网站与教程：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  <a:hlinkClick r:id="rId1"/>
              </a:rPr>
              <a:t>https://tour.go-zh.org/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 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endParaRPr lang="zh-CN" altLang="en-US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 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存储</a:t>
            </a:r>
            <a:endParaRPr lang="zh-CN" altLang="en-US" sz="27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比特（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bit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），存储值为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0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或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1</a:t>
                </a: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字节（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Byte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），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8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个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bit</a:t>
                </a: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KB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 B</a:t>
                </a: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MB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 KB</a:t>
                </a: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GB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 MB</a:t>
                </a: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TB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 GB</a:t>
                </a: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PB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 TB</a:t>
                </a: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endParaRPr lang="zh-CN" altLang="en-US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5" t="-3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995160" y="3575010"/>
          <a:ext cx="339969" cy="283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69"/>
              </a:tblGrid>
              <a:tr h="283211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043267" y="4249280"/>
          <a:ext cx="3262528" cy="283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816"/>
                <a:gridCol w="407816"/>
                <a:gridCol w="407816"/>
                <a:gridCol w="407816"/>
                <a:gridCol w="407816"/>
                <a:gridCol w="407816"/>
                <a:gridCol w="407816"/>
                <a:gridCol w="407816"/>
              </a:tblGrid>
              <a:tr h="283211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264460" y="3520407"/>
            <a:ext cx="6401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dirty="0"/>
              <a:t>bit</a:t>
            </a:r>
            <a:endParaRPr lang="zh-CN" altLang="en-US" sz="2100" dirty="0"/>
          </a:p>
        </p:txBody>
      </p:sp>
      <p:sp>
        <p:nvSpPr>
          <p:cNvPr id="7" name="文本框 6"/>
          <p:cNvSpPr txBox="1"/>
          <p:nvPr/>
        </p:nvSpPr>
        <p:spPr>
          <a:xfrm>
            <a:off x="4190116" y="4140076"/>
            <a:ext cx="7625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dirty="0"/>
              <a:t>Byte</a:t>
            </a:r>
            <a:endParaRPr lang="zh-CN" altLang="en-US" sz="21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516" y="71904"/>
            <a:ext cx="8712968" cy="858490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数据类型和操作</a:t>
            </a:r>
            <a:endParaRPr lang="zh-CN" altLang="en-US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2"/>
              <p:cNvGraphicFramePr/>
              <p:nvPr/>
            </p:nvGraphicFramePr>
            <p:xfrm>
              <a:off x="809624" y="2181224"/>
              <a:ext cx="7496175" cy="34194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6370"/>
                    <a:gridCol w="1026370"/>
                    <a:gridCol w="1204085"/>
                    <a:gridCol w="2895657"/>
                    <a:gridCol w="1343693"/>
                  </a:tblGrid>
                  <a:tr h="569913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类型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大小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/B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取值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zero value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69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布尔值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bool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N/A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true/false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false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69913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整数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byte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[</m:t>
                                </m:r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0</m:t>
                                </m:r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,</m:t>
                                </m:r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255</m:t>
                                </m:r>
                                <m:r>
                                  <a:rPr lang="en-US" altLang="zh-CN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69913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int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[−</m:t>
                                </m:r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63</m:t>
                                    </m:r>
                                  </m:sup>
                                </m:sSup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63</m:t>
                                    </m:r>
                                  </m:sup>
                                </m:sSup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−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69913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uint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[</m:t>
                                </m:r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0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,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64</m:t>
                                    </m:r>
                                  </m:sup>
                                </m:sSup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−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1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69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浮点数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float64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使用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IEEE-754 64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位标准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0.0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2"/>
              <p:cNvGraphicFramePr/>
              <p:nvPr/>
            </p:nvGraphicFramePr>
            <p:xfrm>
              <a:off x="809624" y="2181224"/>
              <a:ext cx="7496175" cy="34194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6370"/>
                    <a:gridCol w="1026370"/>
                    <a:gridCol w="1204085"/>
                    <a:gridCol w="2895657"/>
                    <a:gridCol w="1343693"/>
                  </a:tblGrid>
                  <a:tr h="569913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类型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 h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大小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/B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取值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zero value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69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布尔值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bool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N/A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true/false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false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7023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整数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byte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 anchor="ctr" anchorCtr="1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69595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int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 anchor="ctr" anchorCtr="1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70230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uint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 anchor="ctr" anchorCtr="1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  <a:tr h="569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浮点数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float64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使用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IEEE-754 64</a:t>
                          </a:r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位标准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2"/>
                              <a:ea typeface="黑体" panose="02010609060101010101" pitchFamily="49" charset="-122"/>
                            </a:rPr>
                            <a:t>0.0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Arial Unicode MS" panose="020B0604020202020204" pitchFamily="34" charset="-122"/>
                            <a:ea typeface="黑体" panose="02010609060101010101" pitchFamily="49" charset="-122"/>
                          </a:endParaRPr>
                        </a:p>
                      </a:txBody>
                      <a:tcPr marL="68580" marR="68580" marT="34290" marB="34290" anchor="ctr" anchorCtr="1"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070" y="-305601"/>
            <a:ext cx="8712968" cy="858490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 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变量</a:t>
            </a:r>
            <a:endParaRPr lang="zh-CN" altLang="en-US" sz="27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0852" y="552889"/>
            <a:ext cx="8825368" cy="6305111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变量声明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</a:t>
            </a:r>
            <a:r>
              <a:rPr lang="en-US" altLang="zh-CN" sz="2400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i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 int               // zero value: 0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</a:t>
            </a:r>
            <a:r>
              <a:rPr lang="en-US" altLang="zh-CN" sz="2400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i,j,k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 int          // zero value: 0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x float64      // zero value: 0.0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i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 := 10            	   // </a:t>
            </a:r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短变量声明 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i: int 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a , b := true , false    // </a:t>
            </a:r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短变量声明 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a , b : bool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anose="020B0604020202020204" pitchFamily="34" charset="-122"/>
                <a:ea typeface="黑体" panose="02010609060101010101" pitchFamily="49" charset="-122"/>
                <a:cs typeface="+mn-cs"/>
              </a:rPr>
              <a:t>变量初始化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Unicode MS" panose="020B0604020202020204" pitchFamily="34" charset="-122"/>
              <a:ea typeface="黑体" panose="02010609060101010101" pitchFamily="49" charset="-122"/>
              <a:cs typeface="+mn-cs"/>
            </a:endParaRPr>
          </a:p>
          <a:p>
            <a:pPr marL="81026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anose="020B0604020202020204" pitchFamily="34" charset="-122"/>
                <a:ea typeface="黑体" panose="02010609060101010101" pitchFamily="49" charset="-122"/>
                <a:cs typeface="+mn-cs"/>
              </a:rPr>
              <a:t>var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anose="020B0604020202020204" pitchFamily="34" charset="-122"/>
                <a:ea typeface="黑体" panose="02010609060101010101" pitchFamily="49" charset="-122"/>
                <a:cs typeface="+mn-cs"/>
              </a:rPr>
              <a:t>i,j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anose="020B0604020202020204" pitchFamily="34" charset="-122"/>
                <a:ea typeface="黑体" panose="02010609060101010101" pitchFamily="49" charset="-122"/>
                <a:cs typeface="+mn-cs"/>
              </a:rPr>
              <a:t> int = 1,2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Unicode MS" panose="020B0604020202020204" pitchFamily="34" charset="-122"/>
              <a:ea typeface="黑体" panose="02010609060101010101" pitchFamily="49" charset="-122"/>
              <a:cs typeface="+mn-cs"/>
            </a:endParaRPr>
          </a:p>
          <a:p>
            <a:pPr marL="81026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anose="020B0604020202020204" pitchFamily="34" charset="-122"/>
                <a:ea typeface="黑体" panose="02010609060101010101" pitchFamily="49" charset="-122"/>
                <a:cs typeface="+mn-cs"/>
              </a:rPr>
              <a:t>var y byte = ‘a’   // one-byte integer: 97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Unicode MS" panose="020B0604020202020204" pitchFamily="34" charset="-122"/>
              <a:ea typeface="黑体" panose="02010609060101010101" pitchFamily="49" charset="-122"/>
              <a:cs typeface="+mn-cs"/>
            </a:endParaRPr>
          </a:p>
          <a:p>
            <a:pPr marL="81026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anose="020B0604020202020204" pitchFamily="34" charset="-122"/>
                <a:ea typeface="黑体" panose="02010609060101010101" pitchFamily="49" charset="-122"/>
                <a:cs typeface="+mn-cs"/>
              </a:rPr>
              <a:t>var z byte = 97   // one-byte integer: 97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sz="2000" dirty="0">
              <a:solidFill>
                <a:srgbClr val="FF0000"/>
              </a:solidFill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070" y="-230100"/>
            <a:ext cx="8712968" cy="858490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 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变量</a:t>
            </a:r>
            <a:endParaRPr lang="zh-CN" altLang="en-US" sz="27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463" y="628390"/>
            <a:ext cx="8825368" cy="6305111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变量赋值与类型转换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</a:t>
            </a:r>
            <a:r>
              <a:rPr lang="en-US" altLang="zh-CN" sz="2400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i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 int = 1                        // </a:t>
            </a:r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变量的初始化 </a:t>
            </a:r>
            <a:endParaRPr lang="zh-CN" altLang="en-US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j int </a:t>
            </a:r>
            <a:b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j = </a:t>
            </a:r>
            <a:r>
              <a:rPr lang="en-US" altLang="zh-CN" sz="2400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i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                                    // </a:t>
            </a:r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变量的赋值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var f float64 =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                  // error</a:t>
            </a:r>
            <a:endParaRPr lang="en-US" altLang="zh-CN" sz="2400" dirty="0">
              <a:solidFill>
                <a:srgbClr val="FF0000"/>
              </a:solidFill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f float64 = float64(</a:t>
            </a:r>
            <a:r>
              <a:rPr lang="en-US" altLang="zh-CN" sz="2400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i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)    // </a:t>
            </a:r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类型转换</a:t>
            </a:r>
            <a:endParaRPr lang="zh-CN" altLang="en-US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u </a:t>
            </a:r>
            <a:r>
              <a:rPr lang="en-US" altLang="zh-CN" sz="2400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uint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 = </a:t>
            </a:r>
            <a:r>
              <a:rPr lang="en-US" altLang="zh-CN" sz="2400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uint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(f)             // </a:t>
            </a:r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类型转换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810260" indent="0">
              <a:buNone/>
            </a:pP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常量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1080135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const Pi float64 = 3.14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1080135" indent="0">
              <a:buNone/>
            </a:pP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const Pi = 3.14                       </a:t>
            </a: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const Pi         // error</a:t>
            </a:r>
            <a:b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</a:b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                                               Pi = 3.1415   // error</a:t>
            </a:r>
            <a:endParaRPr lang="en-US" altLang="zh-CN" sz="2000" dirty="0">
              <a:solidFill>
                <a:srgbClr val="FF0000"/>
              </a:solidFill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 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数组的声明和初始化</a:t>
            </a:r>
            <a:endParaRPr lang="zh-CN" altLang="en-US" sz="27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077177"/>
            <a:ext cx="8892480" cy="3263504"/>
          </a:xfrm>
        </p:spPr>
        <p:txBody>
          <a:bodyPr/>
          <a:lstStyle/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数组也是一种数据类型</a:t>
            </a:r>
            <a:endParaRPr lang="zh-CN" altLang="en-US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“名字 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[n]T </a:t>
            </a:r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”表示拥有 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n </a:t>
            </a:r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个 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T </a:t>
            </a:r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类型变量的数组，如</a:t>
            </a:r>
            <a:endParaRPr lang="zh-CN" altLang="en-US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539750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a [10]int 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539750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primes [6]int = [6]int {2,3,5,7,11,13}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53975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var n int = 6</a:t>
            </a:r>
            <a:b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var a [n]int      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// error</a:t>
            </a:r>
            <a:endParaRPr lang="en-US" altLang="zh-CN" sz="1800" dirty="0">
              <a:solidFill>
                <a:srgbClr val="FF0000"/>
              </a:solidFill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注：数组的长度 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n </a:t>
            </a:r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是其类型的一部分，因此数组不能改变大小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 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数组的访问</a:t>
            </a:r>
            <a:endParaRPr lang="zh-CN" altLang="en-US" sz="27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数组的下标从 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0 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开始。</a:t>
                </a: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   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假设数组的长度为 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n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，则合法的下标为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记 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a 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为某个数组的名称，则用 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a[</a:t>
                </a:r>
                <a:r>
                  <a:rPr lang="en-US" altLang="zh-CN" dirty="0" err="1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i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] 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表示数组的第 </a:t>
                </a:r>
                <a:r>
                  <a:rPr lang="en-US" altLang="zh-CN" dirty="0" err="1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i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个元素，如 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a[0] 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表示数组的第 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0 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个元素，</a:t>
                </a:r>
                <a:r>
                  <a:rPr lang="en-US" altLang="zh-CN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a[n] </a:t>
                </a:r>
                <a:r>
                  <a:rPr lang="zh-CN" altLang="en-US" dirty="0">
                    <a:latin typeface="Arial Unicode MS" panose="020B0604020202020204" pitchFamily="34" charset="-122"/>
                    <a:ea typeface="黑体" panose="02010609060101010101" pitchFamily="49" charset="-122"/>
                  </a:rPr>
                  <a:t>是一个非法的表示</a:t>
                </a:r>
                <a:endParaRPr lang="en-US" altLang="zh-CN" dirty="0">
                  <a:latin typeface="Arial Unicode MS" panose="020B0604020202020204" pitchFamily="34" charset="-122"/>
                  <a:ea typeface="黑体" panose="02010609060101010101" pitchFamily="49" charset="-122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5" t="-3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 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切片</a:t>
            </a:r>
            <a:endParaRPr lang="zh-CN" altLang="en-US" sz="27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0202" y="1203011"/>
            <a:ext cx="7886700" cy="5172621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“名字 </a:t>
            </a:r>
            <a:r>
              <a:rPr lang="en-US" altLang="zh-CN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[ ]T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” 表示一个元素类型为</a:t>
            </a:r>
            <a:r>
              <a:rPr lang="en-US" altLang="zh-CN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T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的切片</a:t>
            </a:r>
            <a:endParaRPr lang="en-US" altLang="zh-CN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       var 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primes</a:t>
            </a:r>
            <a:r>
              <a:rPr lang="en-US" altLang="zh-CN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 [6]int = [6]int {2,3,5,7,11,13}      // 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数组</a:t>
            </a:r>
            <a:endParaRPr lang="en-US" altLang="zh-CN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       var </a:t>
            </a:r>
            <a:r>
              <a:rPr lang="en-US" altLang="zh-CN" sz="2000" dirty="0">
                <a:solidFill>
                  <a:srgbClr val="00B05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s</a:t>
            </a:r>
            <a:r>
              <a:rPr lang="en-US" altLang="zh-CN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 [ ]int = primes[1:4]                               // 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切片</a:t>
            </a:r>
            <a:endParaRPr lang="en-US" altLang="zh-CN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在令</a:t>
            </a:r>
            <a:r>
              <a:rPr lang="en-US" altLang="zh-CN" sz="2000" dirty="0">
                <a:solidFill>
                  <a:srgbClr val="00B05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s[1]=17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后，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primes[2]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的值会修改为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17</a:t>
            </a:r>
            <a:endParaRPr lang="en-US" altLang="zh-CN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切片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并不存储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任何数据，它只是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描述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了底层数组中的一段</a:t>
            </a:r>
            <a:endParaRPr lang="zh-CN" altLang="en-US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切片底层存储是数组，修改切片的某下标对应元素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可以改变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数组相应元素</a:t>
            </a:r>
            <a:endParaRPr lang="en-US" altLang="zh-CN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[start: end]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，从 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start (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包含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) 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到 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end (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不包含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)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；若省去 </a:t>
            </a:r>
            <a:r>
              <a:rPr lang="en-US" altLang="zh-CN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end</a:t>
            </a:r>
            <a:r>
              <a:rPr lang="zh-CN" altLang="en-US" sz="2000" dirty="0">
                <a:latin typeface="Arial Unicode MS" panose="020B0604020202020204" pitchFamily="34" charset="-122"/>
                <a:ea typeface="黑体" panose="02010609060101010101" pitchFamily="49" charset="-122"/>
              </a:rPr>
              <a:t>，则表示到最后</a:t>
            </a:r>
            <a:endParaRPr lang="en-US" altLang="zh-CN" sz="20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919203" y="2453145"/>
          <a:ext cx="3146478" cy="1308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413"/>
                <a:gridCol w="524413"/>
                <a:gridCol w="524413"/>
                <a:gridCol w="524413"/>
                <a:gridCol w="524413"/>
                <a:gridCol w="524413"/>
              </a:tblGrid>
              <a:tr h="436304">
                <a:tc>
                  <a:txBody>
                    <a:bodyPr/>
                    <a:lstStyle/>
                    <a:p>
                      <a:pPr algn="ctr"/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CN" alt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11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818010" y="359064"/>
          <a:ext cx="3146478" cy="1308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413"/>
                <a:gridCol w="524413"/>
                <a:gridCol w="524413"/>
                <a:gridCol w="524413"/>
                <a:gridCol w="524413"/>
                <a:gridCol w="524413"/>
              </a:tblGrid>
              <a:tr h="436304">
                <a:tc>
                  <a:txBody>
                    <a:bodyPr/>
                    <a:lstStyle/>
                    <a:p>
                      <a:pPr algn="ctr"/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CN" alt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11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对话气泡: 椭圆形 3"/>
          <p:cNvSpPr/>
          <p:nvPr/>
        </p:nvSpPr>
        <p:spPr>
          <a:xfrm>
            <a:off x="2401072" y="2950851"/>
            <a:ext cx="3146478" cy="624955"/>
          </a:xfrm>
          <a:prstGeom prst="wedgeEllipseCallout">
            <a:avLst>
              <a:gd name="adj1" fmla="val -52191"/>
              <a:gd name="adj2" fmla="val -120473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、通过数组来创建切片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 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切片与数组</a:t>
            </a:r>
            <a:endParaRPr lang="zh-CN" altLang="en-US" sz="27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387265"/>
            <a:ext cx="9031373" cy="4510195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a [3]bool = [3]bool {true, true, false}   // a</a:t>
            </a:r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是一个数组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s [ ]bool = [ ]bool {true, true, false}     // s </a:t>
            </a:r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是一个切片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注：回顾一下，切片并不存储任何数据。因此，第二个声明首先会创建一个值为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[true, true, false]</a:t>
            </a:r>
            <a:r>
              <a:rPr lang="zh-CN" altLang="en-US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的底层数组（没有名字），而后在其上创建切片</a:t>
            </a:r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s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黑体" panose="02010609060101010101" pitchFamily="49" charset="-122"/>
              </a:rPr>
              <a:t>var s [ ]int = make([ ]int, 5)</a:t>
            </a:r>
            <a:endParaRPr lang="en-US" altLang="zh-CN" sz="2400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dirty="0"/>
          </a:p>
        </p:txBody>
      </p:sp>
      <p:sp>
        <p:nvSpPr>
          <p:cNvPr id="4" name="对话气泡: 椭圆形 3"/>
          <p:cNvSpPr/>
          <p:nvPr/>
        </p:nvSpPr>
        <p:spPr>
          <a:xfrm>
            <a:off x="4992499" y="2337716"/>
            <a:ext cx="3069845" cy="709012"/>
          </a:xfrm>
          <a:prstGeom prst="wedgeEllipseCallout">
            <a:avLst>
              <a:gd name="adj1" fmla="val -107556"/>
              <a:gd name="adj2" fmla="val -63910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、直接初始化切片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" name="对话气泡: 椭圆形 4"/>
          <p:cNvSpPr/>
          <p:nvPr/>
        </p:nvSpPr>
        <p:spPr>
          <a:xfrm>
            <a:off x="6702567" y="5663239"/>
            <a:ext cx="3698524" cy="733532"/>
          </a:xfrm>
          <a:prstGeom prst="wedgeEllipseCallout">
            <a:avLst>
              <a:gd name="adj1" fmla="val -63086"/>
              <a:gd name="adj2" fmla="val -10514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、通过 </a:t>
            </a:r>
            <a:r>
              <a:rPr lang="en-US" altLang="zh-CN" dirty="0">
                <a:solidFill>
                  <a:schemeClr val="tx1"/>
                </a:solidFill>
              </a:rPr>
              <a:t>make </a:t>
            </a:r>
            <a:r>
              <a:rPr lang="zh-CN" altLang="en-US" dirty="0">
                <a:solidFill>
                  <a:schemeClr val="tx1"/>
                </a:solidFill>
              </a:rPr>
              <a:t>函数来产生切片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编程知识 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字符串</a:t>
            </a:r>
            <a:endParaRPr lang="zh-CN" altLang="en-US" sz="27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065" y="1203012"/>
            <a:ext cx="8331869" cy="3774281"/>
          </a:xfrm>
        </p:spPr>
        <p:txBody>
          <a:bodyPr>
            <a:normAutofit fontScale="92500"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rPr>
              <a:t>var str1 string = “directly declaration”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rPr>
              <a:t>var </a:t>
            </a:r>
            <a:r>
              <a:rPr lang="en-US" altLang="zh-CN" dirty="0" err="1"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rPr>
              <a:t>byte_array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rPr>
              <a:t> [5]byte = [5]byte {72,101,108,108,111}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rPr>
              <a:t>var str2 string = string(</a:t>
            </a:r>
            <a:r>
              <a:rPr lang="en-US" altLang="zh-CN" dirty="0" err="1"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rPr>
              <a:t>byte_array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rPr>
              <a:t>[0: ])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注：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数组、切片、字符串都有长度，可用 </a:t>
            </a:r>
            <a:r>
              <a:rPr lang="en-US" altLang="zh-CN" dirty="0" err="1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len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() </a:t>
            </a:r>
            <a:r>
              <a:rPr lang="zh-CN" altLang="en-US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函数</a:t>
            </a:r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获取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下标都是从 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0 </a:t>
            </a:r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开始，故最后一个元素的下标是 “长度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-1</a:t>
            </a:r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”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控制流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顺序流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按照代码的编写顺序执行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选择流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根据条件，选择某一部分代码块执行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if……else……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8650" y="3506005"/>
            <a:ext cx="4361184" cy="204750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139" y="-39637"/>
            <a:ext cx="7886700" cy="994172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控制流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9868" y="1115713"/>
            <a:ext cx="7886700" cy="3263504"/>
          </a:xfrm>
        </p:spPr>
        <p:txBody>
          <a:bodyPr/>
          <a:lstStyle/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循环流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根据条件，判断是否重复执行某个代码块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58779" y="2337614"/>
            <a:ext cx="7772157" cy="3404673"/>
            <a:chOff x="1090841" y="2454786"/>
            <a:chExt cx="10050385" cy="422710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0841" y="2520286"/>
              <a:ext cx="10014170" cy="416160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41664" y="2454786"/>
              <a:ext cx="4199562" cy="422710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4" y="2444"/>
            <a:ext cx="8712968" cy="858490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48" y="950248"/>
            <a:ext cx="9183389" cy="532153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具体形式：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4170" lvl="1" indent="0">
              <a:buNone/>
            </a:pPr>
            <a:r>
              <a:rPr lang="en-US" altLang="zh-CN" sz="1900" b="1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func</a:t>
            </a: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 &lt;</a:t>
            </a:r>
            <a: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函数名</a:t>
            </a: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&gt;(&lt;</a:t>
            </a:r>
            <a: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参数</a:t>
            </a: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1</a:t>
            </a:r>
            <a: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名称，类型</a:t>
            </a: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&gt;, &lt;</a:t>
            </a:r>
            <a: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参数</a:t>
            </a: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2</a:t>
            </a:r>
            <a: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名称，类型</a:t>
            </a: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&gt;, …)(</a:t>
            </a:r>
            <a: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返回参数</a:t>
            </a: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1</a:t>
            </a:r>
            <a: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类型，参数</a:t>
            </a: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2</a:t>
            </a:r>
            <a: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类型，</a:t>
            </a: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…) {</a:t>
            </a:r>
            <a:b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</a:br>
            <a: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    函数体</a:t>
            </a:r>
            <a:br>
              <a:rPr lang="zh-CN" altLang="en-US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</a:br>
            <a:r>
              <a:rPr lang="en-US" altLang="zh-CN" sz="1900" b="1" dirty="0">
                <a:latin typeface="Arial Unicode MS" panose="020B0604020202020204" pitchFamily="34" charset="-122"/>
                <a:ea typeface="黑体" panose="02010609060101010101" pitchFamily="49" charset="-122"/>
              </a:rPr>
              <a:t>}</a:t>
            </a:r>
            <a:endParaRPr lang="zh-CN" altLang="en-US" sz="1900" b="1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lvl="1"/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 Unicode MS" panose="020B0604020202020204" pitchFamily="34" charset="-122"/>
                <a:ea typeface="黑体" panose="02010609060101010101" pitchFamily="49" charset="-122"/>
              </a:rPr>
              <a:t>例如：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   </a:t>
            </a:r>
            <a:r>
              <a:rPr lang="en-US" altLang="zh-CN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func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 Decrease(a int, b int)( int, int){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   	   if a &gt; b {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	       return a, b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	   } else {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	       return b, a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	   }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   }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   </a:t>
            </a:r>
            <a:r>
              <a:rPr lang="en-US" altLang="zh-CN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func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 main() {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	   </a:t>
            </a:r>
            <a:r>
              <a:rPr lang="en-US" altLang="zh-CN" dirty="0" err="1">
                <a:latin typeface="Arial Unicode MS" panose="020B0604020202020204" pitchFamily="34" charset="-122"/>
                <a:ea typeface="黑体" panose="02010609060101010101" pitchFamily="49" charset="-122"/>
              </a:rPr>
              <a:t>fmt.Println</a:t>
            </a: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(Decrease(-1,3))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r>
              <a:rPr lang="en-US" altLang="zh-CN" dirty="0">
                <a:latin typeface="Arial Unicode MS" panose="020B0604020202020204" pitchFamily="34" charset="-122"/>
                <a:ea typeface="黑体" panose="02010609060101010101" pitchFamily="49" charset="-122"/>
              </a:rPr>
              <a:t>   }</a:t>
            </a: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endParaRPr lang="en-US" altLang="zh-CN" dirty="0"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  <p:cxnSp>
        <p:nvCxnSpPr>
          <p:cNvPr id="31" name="直接箭头连接符 30"/>
          <p:cNvCxnSpPr>
            <a:stCxn id="32" idx="0"/>
          </p:cNvCxnSpPr>
          <p:nvPr/>
        </p:nvCxnSpPr>
        <p:spPr>
          <a:xfrm flipV="1">
            <a:off x="1776610" y="1908916"/>
            <a:ext cx="664667" cy="6895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219834" y="2598420"/>
            <a:ext cx="1113551" cy="300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rgbClr val="FF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018138" y="1592889"/>
            <a:ext cx="1630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函数名</a:t>
            </a:r>
            <a:endParaRPr lang="zh-CN" altLang="en-US" sz="15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8" name="直接箭头连接符 37"/>
          <p:cNvCxnSpPr>
            <a:stCxn id="39" idx="0"/>
          </p:cNvCxnSpPr>
          <p:nvPr/>
        </p:nvCxnSpPr>
        <p:spPr>
          <a:xfrm flipV="1">
            <a:off x="2972435" y="1908916"/>
            <a:ext cx="2035235" cy="6895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2404110" y="2598420"/>
            <a:ext cx="1136650" cy="300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007670" y="1754580"/>
            <a:ext cx="1630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输入参数</a:t>
            </a:r>
            <a:endParaRPr lang="zh-CN" altLang="en-US" sz="15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648652" y="2598420"/>
            <a:ext cx="816668" cy="300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>
            <a:stCxn id="47" idx="3"/>
          </p:cNvCxnSpPr>
          <p:nvPr/>
        </p:nvCxnSpPr>
        <p:spPr>
          <a:xfrm flipV="1">
            <a:off x="4465320" y="2698762"/>
            <a:ext cx="1964252" cy="498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429572" y="2544426"/>
            <a:ext cx="1630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返回值类型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88274" y="2947785"/>
            <a:ext cx="2680362" cy="18228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rgbClr val="FF0000"/>
              </a:solidFill>
            </a:endParaRPr>
          </a:p>
        </p:txBody>
      </p:sp>
      <p:cxnSp>
        <p:nvCxnSpPr>
          <p:cNvPr id="56" name="直接箭头连接符 55"/>
          <p:cNvCxnSpPr>
            <a:stCxn id="55" idx="3"/>
            <a:endCxn id="57" idx="1"/>
          </p:cNvCxnSpPr>
          <p:nvPr/>
        </p:nvCxnSpPr>
        <p:spPr>
          <a:xfrm flipV="1">
            <a:off x="3268636" y="3698086"/>
            <a:ext cx="1403577" cy="1611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4672213" y="3498031"/>
            <a:ext cx="33958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函数体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451968" y="5348815"/>
            <a:ext cx="1746652" cy="37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rgbClr val="FF0000"/>
              </a:solidFill>
            </a:endParaRPr>
          </a:p>
        </p:txBody>
      </p:sp>
      <p:cxnSp>
        <p:nvCxnSpPr>
          <p:cNvPr id="64" name="直接箭头连接符 63"/>
          <p:cNvCxnSpPr>
            <a:stCxn id="63" idx="3"/>
          </p:cNvCxnSpPr>
          <p:nvPr/>
        </p:nvCxnSpPr>
        <p:spPr>
          <a:xfrm flipV="1">
            <a:off x="4198620" y="5449157"/>
            <a:ext cx="1034268" cy="853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5232888" y="5294820"/>
            <a:ext cx="34872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函数调用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8380" y="2661558"/>
            <a:ext cx="7886700" cy="76744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How to represent an image in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computer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?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 rotWithShape="1">
          <a:blip r:embed="rId1"/>
          <a:srcRect l="8885"/>
          <a:stretch>
            <a:fillRect/>
          </a:stretch>
        </p:blipFill>
        <p:spPr>
          <a:xfrm>
            <a:off x="4755165" y="2120291"/>
            <a:ext cx="4094148" cy="3314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904" y="65305"/>
            <a:ext cx="7886700" cy="994172"/>
          </a:xfrm>
        </p:spPr>
        <p:txBody>
          <a:bodyPr>
            <a:normAutofit/>
          </a:bodyPr>
          <a:lstStyle/>
          <a:p>
            <a:pPr algn="l"/>
            <a:r>
              <a:rPr lang="en-US" altLang="zh-CN" i="0" dirty="0">
                <a:effectLst/>
                <a:latin typeface="Arial" panose="020B0604020202020204" pitchFamily="34" charset="0"/>
              </a:rPr>
              <a:t>Images are made up of pixels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5904" y="2128095"/>
            <a:ext cx="4092912" cy="3307556"/>
            <a:chOff x="522515" y="2287409"/>
            <a:chExt cx="4092912" cy="3307556"/>
          </a:xfrm>
        </p:grpSpPr>
        <p:pic>
          <p:nvPicPr>
            <p:cNvPr id="38" name="图片 37"/>
            <p:cNvPicPr>
              <a:picLocks noChangeAspect="1"/>
            </p:cNvPicPr>
            <p:nvPr/>
          </p:nvPicPr>
          <p:blipFill rotWithShape="1">
            <a:blip r:embed="rId2"/>
            <a:srcRect l="8913"/>
            <a:stretch>
              <a:fillRect/>
            </a:stretch>
          </p:blipFill>
          <p:spPr>
            <a:xfrm>
              <a:off x="522515" y="2287409"/>
              <a:ext cx="4092912" cy="330755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2312126" y="4220937"/>
              <a:ext cx="176349" cy="1110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/>
            </a:p>
          </p:txBody>
        </p:sp>
      </p:grpSp>
      <p:cxnSp>
        <p:nvCxnSpPr>
          <p:cNvPr id="23" name="直接箭头连接符 22"/>
          <p:cNvCxnSpPr>
            <a:stCxn id="22" idx="3"/>
          </p:cNvCxnSpPr>
          <p:nvPr/>
        </p:nvCxnSpPr>
        <p:spPr>
          <a:xfrm flipV="1">
            <a:off x="2451864" y="4061623"/>
            <a:ext cx="3916563" cy="555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977938" y="3258653"/>
            <a:ext cx="4670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cs typeface="Arial" panose="020B0604020202020204" pitchFamily="34" charset="0"/>
              </a:rPr>
              <a:t>Zoom out 20 times</a:t>
            </a:r>
            <a:endParaRPr lang="zh-CN" altLang="en-US" sz="28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784583" y="5718973"/>
            <a:ext cx="163051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solidFill>
                  <a:srgbClr val="FF0000"/>
                </a:solidFill>
                <a:cs typeface="Arial" panose="020B0604020202020204" pitchFamily="34" charset="0"/>
              </a:rPr>
              <a:t>335 x 251 pixels</a:t>
            </a:r>
            <a:endParaRPr lang="zh-CN" altLang="en-US" sz="15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965265" y="5215820"/>
            <a:ext cx="2760595" cy="698292"/>
            <a:chOff x="3658132" y="5666653"/>
            <a:chExt cx="3680795" cy="931053"/>
          </a:xfrm>
        </p:grpSpPr>
        <p:cxnSp>
          <p:nvCxnSpPr>
            <p:cNvPr id="25" name="直接箭头连接符 24"/>
            <p:cNvCxnSpPr>
              <a:stCxn id="24" idx="3"/>
              <a:endCxn id="36" idx="1"/>
            </p:cNvCxnSpPr>
            <p:nvPr/>
          </p:nvCxnSpPr>
          <p:spPr>
            <a:xfrm>
              <a:off x="4397432" y="5823770"/>
              <a:ext cx="2941495" cy="77393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3658132" y="5666653"/>
              <a:ext cx="739301" cy="3142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/>
            </a:p>
          </p:txBody>
        </p:sp>
      </p:grp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393519" y="1092469"/>
            <a:ext cx="8232865" cy="850704"/>
          </a:xfrm>
        </p:spPr>
        <p:txBody>
          <a:bodyPr>
            <a:normAutofit/>
          </a:bodyPr>
          <a:lstStyle/>
          <a:p>
            <a:r>
              <a:rPr lang="zh-CN" altLang="zh-CN" sz="2000" b="1" dirty="0">
                <a:ea typeface="Times" panose="02020603050405020304" pitchFamily="18" charset="0"/>
                <a:cs typeface="Arial" panose="020B0604020202020204" pitchFamily="34" charset="0"/>
              </a:rPr>
              <a:t>A pixel (picture element) represents a point of an image. </a:t>
            </a:r>
            <a:endParaRPr lang="en-US" altLang="zh-CN" sz="2000" b="1" dirty="0">
              <a:ea typeface="Times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519" y="399559"/>
            <a:ext cx="7886700" cy="579266"/>
          </a:xfrm>
        </p:spPr>
        <p:txBody>
          <a:bodyPr>
            <a:normAutofit/>
          </a:bodyPr>
          <a:lstStyle/>
          <a:p>
            <a:pPr algn="l"/>
            <a:r>
              <a:rPr lang="en-US" altLang="zh-CN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Pixel encoded in RGB color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内容占位符 2"/>
          <p:cNvSpPr>
            <a:spLocks noGrp="1"/>
          </p:cNvSpPr>
          <p:nvPr>
            <p:ph idx="1"/>
          </p:nvPr>
        </p:nvSpPr>
        <p:spPr>
          <a:xfrm>
            <a:off x="393519" y="992451"/>
            <a:ext cx="8232865" cy="188206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3100" dirty="0">
                <a:latin typeface="Arial" panose="020B0604020202020204" pitchFamily="34" charset="0"/>
                <a:cs typeface="Arial" panose="020B0604020202020204" pitchFamily="34" charset="0"/>
              </a:rPr>
              <a:t>Pixel is encoded with a </a:t>
            </a:r>
            <a:r>
              <a:rPr lang="zh-CN" altLang="en-US" sz="3100" dirty="0">
                <a:latin typeface="Arial" panose="020B0604020202020204" pitchFamily="34" charset="0"/>
                <a:cs typeface="Arial" panose="020B0604020202020204" pitchFamily="34" charset="0"/>
              </a:rPr>
              <a:t>triple (𝑟, 𝑔, 𝑏</a:t>
            </a:r>
            <a:r>
              <a:rPr lang="en-US" altLang="zh-CN" sz="3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3100" dirty="0">
                <a:latin typeface="Arial" panose="020B0604020202020204" pitchFamily="34" charset="0"/>
                <a:cs typeface="Arial" panose="020B0604020202020204" pitchFamily="34" charset="0"/>
              </a:rPr>
              <a:t>𝑟, 𝑔, 𝑏 are integers </a:t>
            </a:r>
            <a:r>
              <a:rPr lang="en-US" altLang="zh-CN" sz="3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31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3100" dirty="0">
                <a:latin typeface="Arial" panose="020B0604020202020204" pitchFamily="34" charset="0"/>
                <a:cs typeface="Arial" panose="020B0604020202020204" pitchFamily="34" charset="0"/>
              </a:rPr>
              <a:t> ~ </a:t>
            </a:r>
            <a:r>
              <a:rPr lang="zh-CN" altLang="en-US" sz="3100" dirty="0">
                <a:latin typeface="Arial" panose="020B0604020202020204" pitchFamily="34" charset="0"/>
                <a:cs typeface="Arial" panose="020B0604020202020204" pitchFamily="34" charset="0"/>
              </a:rPr>
              <a:t>255</a:t>
            </a:r>
            <a:r>
              <a:rPr lang="en-US" altLang="zh-CN" sz="3100" dirty="0">
                <a:latin typeface="Arial" panose="020B0604020202020204" pitchFamily="34" charset="0"/>
                <a:cs typeface="Arial" panose="020B0604020202020204" pitchFamily="34" charset="0"/>
              </a:rPr>
              <a:t>) representing red, green and blue light respectively.</a:t>
            </a:r>
            <a:endParaRPr lang="en-US" altLang="zh-CN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endParaRPr lang="en-US" altLang="zh-C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1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altLang="zh-CN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380" y="3190454"/>
            <a:ext cx="2721769" cy="1814513"/>
          </a:xfrm>
          <a:prstGeom prst="rect">
            <a:avLst/>
          </a:prstGeom>
          <a:ln w="3175" cap="rnd">
            <a:solidFill>
              <a:schemeClr val="tx1"/>
            </a:solidFill>
          </a:ln>
          <a:effectLst/>
        </p:spPr>
      </p:pic>
      <p:sp>
        <p:nvSpPr>
          <p:cNvPr id="14" name="文本框 9"/>
          <p:cNvSpPr txBox="1"/>
          <p:nvPr/>
        </p:nvSpPr>
        <p:spPr>
          <a:xfrm>
            <a:off x="688849" y="2851900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(255, 0, 0)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0"/>
          <p:cNvSpPr txBox="1"/>
          <p:nvPr/>
        </p:nvSpPr>
        <p:spPr>
          <a:xfrm>
            <a:off x="1656052" y="2851900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(0, 255, 0)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1"/>
          <p:cNvSpPr txBox="1"/>
          <p:nvPr/>
        </p:nvSpPr>
        <p:spPr>
          <a:xfrm>
            <a:off x="2592815" y="2851900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(0, 0, 255)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2"/>
          <p:cNvSpPr txBox="1"/>
          <p:nvPr/>
        </p:nvSpPr>
        <p:spPr>
          <a:xfrm>
            <a:off x="354491" y="4975602"/>
            <a:ext cx="15776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(255, 255, 255)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3"/>
          <p:cNvSpPr txBox="1"/>
          <p:nvPr/>
        </p:nvSpPr>
        <p:spPr>
          <a:xfrm>
            <a:off x="1775194" y="4975602"/>
            <a:ext cx="894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(0, 0, 0)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4"/>
          <p:cNvSpPr txBox="1"/>
          <p:nvPr/>
        </p:nvSpPr>
        <p:spPr>
          <a:xfrm>
            <a:off x="2592815" y="4975602"/>
            <a:ext cx="1350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(255, 255, 0)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3889268" y="4137983"/>
            <a:ext cx="10434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17"/>
          <p:cNvSpPr txBox="1"/>
          <p:nvPr/>
        </p:nvSpPr>
        <p:spPr>
          <a:xfrm>
            <a:off x="3715238" y="4453919"/>
            <a:ext cx="4985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Store triples in order from bottom to top, left to right</a:t>
            </a:r>
            <a:endParaRPr lang="zh-CN" altLang="en-US" sz="1400" b="1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文本框 19"/>
          <p:cNvSpPr txBox="1"/>
          <p:nvPr/>
        </p:nvSpPr>
        <p:spPr>
          <a:xfrm>
            <a:off x="5364328" y="3768652"/>
            <a:ext cx="326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[255 255 255 0 0 0 255 255 0 </a:t>
            </a:r>
            <a:endParaRPr lang="en-US" altLang="zh-CN" b="1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en-US" altLang="zh-CN" b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255 0 0 0 255 0 0 0 255]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151" y="115609"/>
            <a:ext cx="8712968" cy="858490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BMP file format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151" y="1127573"/>
            <a:ext cx="7886700" cy="3263504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 the experiment, each pixel of the BMP file is encoded in 3 bytes (24 bits).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The pixel array for actual image data starts at address byte 54.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aphicFrame>
        <p:nvGraphicFramePr>
          <p:cNvPr id="8" name="表格 8"/>
          <p:cNvGraphicFramePr>
            <a:graphicFrameLocks noGrp="1"/>
          </p:cNvGraphicFramePr>
          <p:nvPr/>
        </p:nvGraphicFramePr>
        <p:xfrm>
          <a:off x="606515" y="3184536"/>
          <a:ext cx="629916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266"/>
                <a:gridCol w="1281722"/>
                <a:gridCol w="3624179"/>
              </a:tblGrid>
              <a:tr h="41678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Structure name</a:t>
                      </a:r>
                      <a:endParaRPr lang="en-US" sz="1800" dirty="0">
                        <a:effectLst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Size</a:t>
                      </a:r>
                      <a:endParaRPr lang="zh-CN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Purpose</a:t>
                      </a:r>
                      <a:endParaRPr lang="zh-CN" altLang="en-US" sz="1800" dirty="0"/>
                    </a:p>
                  </a:txBody>
                  <a:tcPr marL="68580" marR="68580" marT="34290" marB="34290"/>
                </a:tc>
              </a:tr>
              <a:tr h="49257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File Header</a:t>
                      </a:r>
                      <a:endParaRPr lang="zh-CN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14 bytes</a:t>
                      </a:r>
                      <a:endParaRPr lang="zh-CN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General information about the BMP file, such as file size of the image.</a:t>
                      </a:r>
                      <a:endParaRPr lang="en-US" sz="1800" dirty="0">
                        <a:effectLst/>
                      </a:endParaRPr>
                    </a:p>
                  </a:txBody>
                  <a:tcPr marL="68580" marR="68580" marT="34290" marB="34290" anchor="ctr"/>
                </a:tc>
              </a:tr>
              <a:tr h="49257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BMP Info Header</a:t>
                      </a:r>
                      <a:endParaRPr lang="zh-CN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40 bytes</a:t>
                      </a:r>
                      <a:endParaRPr lang="zh-CN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Detailed information of the BMP file,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such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as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height and width of the image.</a:t>
                      </a:r>
                      <a:endParaRPr lang="zh-CN" altLang="en-US" sz="1800" dirty="0"/>
                    </a:p>
                  </a:txBody>
                  <a:tcPr marL="68580" marR="68580" marT="34290" marB="34290"/>
                </a:tc>
              </a:tr>
              <a:tr h="49257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Pixel Array</a:t>
                      </a:r>
                      <a:endParaRPr lang="zh-CN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3*Height*Width</a:t>
                      </a:r>
                      <a:endParaRPr lang="zh-CN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The actual values of the pixels.</a:t>
                      </a:r>
                      <a:endParaRPr lang="en-US" sz="1800" dirty="0">
                        <a:effectLst/>
                      </a:endParaRPr>
                    </a:p>
                  </a:txBody>
                  <a:tcPr marL="68580" marR="68580" marT="34290" marB="34290" anchor="ctr"/>
                </a:tc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8046" y="3184536"/>
            <a:ext cx="2042277" cy="258846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905682" y="4810527"/>
            <a:ext cx="459297" cy="2265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36" y="3429002"/>
            <a:ext cx="1728572" cy="185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137" y="3429002"/>
            <a:ext cx="1728572" cy="1850000"/>
          </a:xfrm>
          <a:prstGeom prst="rect">
            <a:avLst/>
          </a:prstGeom>
        </p:spPr>
      </p:pic>
      <p:sp>
        <p:nvSpPr>
          <p:cNvPr id="3" name="箭头: 右 2"/>
          <p:cNvSpPr/>
          <p:nvPr/>
        </p:nvSpPr>
        <p:spPr>
          <a:xfrm>
            <a:off x="3671417" y="4210812"/>
            <a:ext cx="1801167" cy="2863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17"/>
          <p:cNvSpPr txBox="1"/>
          <p:nvPr/>
        </p:nvSpPr>
        <p:spPr>
          <a:xfrm>
            <a:off x="3140601" y="3861048"/>
            <a:ext cx="2934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Invert the colors of each pixel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Example1: Invert the color of panda.bmp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Algorithm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Open "panda.bmp" and get its pixel array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For each v in pixel array, invert it with (255 – v)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 the inverted pixel array to "darkPanda.bmp"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Algorithm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Open "panda.bmp" and get its pixel array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For each v in pixel array, invert it with (255 – v)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 the inverted pixel array to "darkPanda.bmp"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13124" y="3192852"/>
            <a:ext cx="545652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package main  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import  "io/ioutil"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const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= 14 + 40 // standard size of header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func main() {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p,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:= ioutil.ReadFile("./panda.bmp")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for i :=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; i &lt; len(p); i++ {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	p[i] = 255 - p[i]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}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ioutil.WriteFile("./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darkPanda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.bmp", p, 0666)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Example1: Invert the color of panda.bmp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Algorithm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Open "panda.bmp" and get its pixel array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For each v in pixel array, invert it with (255 – v)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 the inverted pixel array to "darkPanda.bmp"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13124" y="3192852"/>
            <a:ext cx="545652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package main  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import  "io/ioutil"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const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= 14 + 40 // standard size of header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func main() {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p,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:= ioutil.ReadFile("./panda.bmp")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for i :=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; i &lt; len(p); i++ {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	p[i] = 255 - p[i]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}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	ioutil.WriteFile("./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darkPanda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.bmp", p, 0666)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Example1: Invert the color of panda.bmp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342600" y="3192852"/>
            <a:ext cx="3693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90" indent="0">
              <a:buNone/>
            </a:pPr>
            <a:r>
              <a:rPr lang="zh-CN" altLang="en-US" sz="18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程序代码所在的包（包含函数和变量）</a:t>
            </a:r>
            <a:endParaRPr lang="en-US" altLang="zh-CN" sz="1800" dirty="0">
              <a:solidFill>
                <a:srgbClr val="FF0000"/>
              </a:solidFill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2140527" y="3356264"/>
            <a:ext cx="3948546" cy="1454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338631" y="3872529"/>
            <a:ext cx="35248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9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通过</a:t>
            </a:r>
            <a:r>
              <a:rPr lang="en-US" altLang="zh-CN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import</a:t>
            </a:r>
            <a:r>
              <a:rPr lang="zh-CN" altLang="en-US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导入库。 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io/</a:t>
            </a:r>
            <a:r>
              <a:rPr lang="en-US" altLang="zh-CN" sz="1800" dirty="0" err="1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ioutil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提供了</a:t>
            </a:r>
            <a:r>
              <a:rPr lang="zh-CN" altLang="en-US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文件读写函数。</a:t>
            </a:r>
            <a:endParaRPr lang="en-US" altLang="zh-CN" sz="1800" dirty="0">
              <a:solidFill>
                <a:srgbClr val="FF0000"/>
              </a:solidFill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 flipV="1">
            <a:off x="2140527" y="3667616"/>
            <a:ext cx="3948546" cy="4742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338631" y="4894741"/>
            <a:ext cx="3203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90" indent="0">
              <a:buNone/>
            </a:pPr>
            <a:r>
              <a:rPr lang="zh-CN" altLang="en-US" sz="18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声明 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main </a:t>
            </a:r>
            <a:r>
              <a:rPr lang="zh-CN" altLang="en-US" sz="1800" dirty="0">
                <a:solidFill>
                  <a:srgbClr val="FF0000"/>
                </a:solidFill>
                <a:latin typeface="Arial Unicode MS" panose="020B0604020202020204" pitchFamily="34" charset="-122"/>
                <a:ea typeface="黑体" panose="02010609060101010101" pitchFamily="49" charset="-122"/>
              </a:rPr>
              <a:t>函数</a:t>
            </a:r>
            <a:endParaRPr lang="en-US" altLang="zh-CN" sz="1800" dirty="0">
              <a:solidFill>
                <a:srgbClr val="FF0000"/>
              </a:solidFill>
              <a:latin typeface="Arial Unicode MS" panose="020B0604020202020204" pitchFamily="34" charset="-122"/>
              <a:ea typeface="黑体" panose="02010609060101010101" pitchFamily="49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1717320" y="4367540"/>
            <a:ext cx="4371753" cy="711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Algorithm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Open "panda.bmp" and get its pixel array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For each v in pixel array, invert it with (255 – v)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 the inverted pixel array to "darkPanda.bmp"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0823" y="3364632"/>
            <a:ext cx="542433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package main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import  "io/ioutil"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const </a:t>
            </a:r>
            <a:r>
              <a:rPr lang="en-US" altLang="zh-CN" dirty="0">
                <a:cs typeface="Arial" panose="020B0604020202020204" pitchFamily="34" charset="0"/>
              </a:rPr>
              <a:t>s</a:t>
            </a:r>
            <a:r>
              <a:rPr lang="zh-CN" altLang="en-US" dirty="0">
                <a:cs typeface="Arial" panose="020B0604020202020204" pitchFamily="34" charset="0"/>
              </a:rPr>
              <a:t> = 14 + 40 // standard size of header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func main() {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</a:t>
            </a:r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p, </a:t>
            </a:r>
            <a:r>
              <a:rPr lang="en-US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_</a:t>
            </a:r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 := ioutil.ReadFile("./panda.bmp")</a:t>
            </a:r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for i := </a:t>
            </a:r>
            <a:r>
              <a:rPr lang="en-US" altLang="zh-CN" dirty="0">
                <a:cs typeface="Arial" panose="020B0604020202020204" pitchFamily="34" charset="0"/>
              </a:rPr>
              <a:t>s</a:t>
            </a:r>
            <a:r>
              <a:rPr lang="zh-CN" altLang="en-US" dirty="0">
                <a:cs typeface="Arial" panose="020B0604020202020204" pitchFamily="34" charset="0"/>
              </a:rPr>
              <a:t>; i &lt; len(p); i++ {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	p[i] = 255 - p[i]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}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ioutil.WriteFile("./</a:t>
            </a:r>
            <a:r>
              <a:rPr lang="en-US" altLang="zh-CN" dirty="0" err="1">
                <a:cs typeface="Arial" panose="020B0604020202020204" pitchFamily="34" charset="0"/>
              </a:rPr>
              <a:t>darkPanda</a:t>
            </a:r>
            <a:r>
              <a:rPr lang="zh-CN" altLang="en-US" dirty="0">
                <a:cs typeface="Arial" panose="020B0604020202020204" pitchFamily="34" charset="0"/>
              </a:rPr>
              <a:t>.bmp", p, 0666)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}</a:t>
            </a:r>
            <a:endParaRPr lang="zh-CN" altLang="en-US" dirty="0">
              <a:cs typeface="Arial" panose="020B0604020202020204" pitchFamily="34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2645230" y="2076090"/>
            <a:ext cx="1136195" cy="23997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473733" y="3392003"/>
            <a:ext cx="36273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ea typeface="等线" panose="02010600030101010101" pitchFamily="2" charset="-122"/>
                <a:cs typeface="Arial" panose="020B0604020202020204" pitchFamily="34" charset="0"/>
              </a:rPr>
              <a:t>ioutil.ReadFile</a:t>
            </a:r>
            <a:endParaRPr lang="en-US" altLang="zh-CN" sz="1400" b="1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等线" panose="02010600030101010101" pitchFamily="2" charset="-122"/>
                <a:cs typeface="Arial" panose="020B0604020202020204" pitchFamily="34" charset="0"/>
              </a:rPr>
              <a:t>A function provided by Golang package "io/</a:t>
            </a:r>
            <a:r>
              <a:rPr lang="en-US" altLang="zh-CN" sz="1400" dirty="0" err="1">
                <a:ea typeface="等线" panose="02010600030101010101" pitchFamily="2" charset="-122"/>
                <a:cs typeface="Arial" panose="020B0604020202020204" pitchFamily="34" charset="0"/>
              </a:rPr>
              <a:t>ioutil</a:t>
            </a:r>
            <a:r>
              <a:rPr lang="en-US" altLang="zh-CN" sz="1400" dirty="0">
                <a:ea typeface="等线" panose="02010600030101010101" pitchFamily="2" charset="-122"/>
                <a:cs typeface="Arial" panose="020B0604020202020204" pitchFamily="34" charset="0"/>
              </a:rPr>
              <a:t>". </a:t>
            </a:r>
            <a:endParaRPr lang="en-US" altLang="zh-CN" sz="14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等线" panose="02010600030101010101" pitchFamily="2" charset="-122"/>
                <a:cs typeface="Arial" panose="020B0604020202020204" pitchFamily="34" charset="0"/>
              </a:rPr>
              <a:t>Accepts a text string of file name</a:t>
            </a:r>
            <a:endParaRPr lang="en-US" altLang="zh-CN" sz="14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等线" panose="02010600030101010101" pitchFamily="2" charset="-122"/>
                <a:cs typeface="Arial" panose="020B0604020202020204" pitchFamily="34" charset="0"/>
              </a:rPr>
              <a:t>Returns the file contents as a byte slice</a:t>
            </a:r>
            <a:endParaRPr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73732" y="4792000"/>
            <a:ext cx="35913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ea typeface="等线" panose="02010600030101010101" pitchFamily="2" charset="-122"/>
                <a:cs typeface="Arial" panose="020B0604020202020204" pitchFamily="34" charset="0"/>
              </a:rPr>
              <a:t>p, _ := </a:t>
            </a:r>
            <a:r>
              <a:rPr lang="en-US" altLang="zh-CN" sz="1400" b="1" dirty="0" err="1">
                <a:ea typeface="等线" panose="02010600030101010101" pitchFamily="2" charset="-122"/>
                <a:cs typeface="Arial" panose="020B0604020202020204" pitchFamily="34" charset="0"/>
              </a:rPr>
              <a:t>ioutil.ReadFile</a:t>
            </a:r>
            <a:r>
              <a:rPr lang="en-US" altLang="zh-CN" sz="1400" b="1" dirty="0">
                <a:ea typeface="等线" panose="02010600030101010101" pitchFamily="2" charset="-122"/>
                <a:cs typeface="Arial" panose="020B0604020202020204" pitchFamily="34" charset="0"/>
              </a:rPr>
              <a:t>("./panda.bmp")</a:t>
            </a:r>
            <a:endParaRPr lang="en-US" altLang="zh-CN" sz="1400" b="1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等线" panose="02010600030101010101" pitchFamily="2" charset="-122"/>
                <a:cs typeface="Arial" panose="020B0604020202020204" pitchFamily="34" charset="0"/>
              </a:rPr>
              <a:t>"./panda.bmp":</a:t>
            </a:r>
            <a:r>
              <a:rPr lang="zh-CN" altLang="en-US" sz="1400" dirty="0"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ea typeface="等线" panose="02010600030101010101" pitchFamily="2" charset="-122"/>
                <a:cs typeface="Arial" panose="020B0604020202020204" pitchFamily="34" charset="0"/>
              </a:rPr>
              <a:t>BMP image path.</a:t>
            </a:r>
            <a:endParaRPr lang="en-US" altLang="zh-CN" sz="14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等线" panose="02010600030101010101" pitchFamily="2" charset="-122"/>
                <a:cs typeface="Arial" panose="020B0604020202020204" pitchFamily="34" charset="0"/>
              </a:rPr>
              <a:t>p: byte slice with panda.bmp contents.</a:t>
            </a:r>
            <a:endParaRPr lang="en-US" altLang="zh-CN" sz="14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等线" panose="02010600030101010101" pitchFamily="2" charset="-122"/>
                <a:cs typeface="Arial" panose="020B0604020202020204" pitchFamily="34" charset="0"/>
              </a:rPr>
              <a:t>_: Placeholder, ignores the returned value (The code ignores errors of </a:t>
            </a:r>
            <a:r>
              <a:rPr lang="en-US" altLang="zh-CN" sz="1400" dirty="0" err="1">
                <a:ea typeface="等线" panose="02010600030101010101" pitchFamily="2" charset="-122"/>
                <a:cs typeface="Arial" panose="020B0604020202020204" pitchFamily="34" charset="0"/>
              </a:rPr>
              <a:t>ioutil.ReadFile</a:t>
            </a:r>
            <a:r>
              <a:rPr lang="en-US" altLang="zh-CN" sz="1400" dirty="0">
                <a:ea typeface="等线" panose="02010600030101010101" pitchFamily="2" charset="-122"/>
                <a:cs typeface="Arial" panose="020B0604020202020204" pitchFamily="34" charset="0"/>
              </a:rPr>
              <a:t>).</a:t>
            </a:r>
            <a:endParaRPr lang="en-US" altLang="zh-CN" sz="1400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Example1: Invert the color of panda.bmp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Algorithm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Open "panda.bmp" and get its pixel array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For each v in pixel array, invert it with (255 – v)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 the inverted pixel array to "darkPanda.bmp"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2495550" y="2486025"/>
            <a:ext cx="819150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518684" y="3448586"/>
            <a:ext cx="35898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ea typeface="等线" panose="02010600030101010101" pitchFamily="2" charset="-122"/>
                <a:cs typeface="Arial" panose="020B0604020202020204" pitchFamily="34" charset="0"/>
              </a:rPr>
              <a:t>"s"</a:t>
            </a:r>
            <a:r>
              <a:rPr lang="zh-CN" altLang="en-US" sz="1600" b="1" dirty="0">
                <a:ea typeface="等线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1600" b="1" dirty="0">
                <a:ea typeface="等线" panose="02010600030101010101" pitchFamily="2" charset="-122"/>
                <a:cs typeface="Arial" panose="020B0604020202020204" pitchFamily="34" charset="0"/>
              </a:rPr>
              <a:t>The start of pixel array, 54</a:t>
            </a:r>
            <a:endParaRPr lang="en-US" altLang="zh-CN" sz="1600" b="1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1600" b="1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z="1600" b="1" dirty="0">
                <a:ea typeface="等线" panose="02010600030101010101" pitchFamily="2" charset="-122"/>
                <a:cs typeface="Arial" panose="020B0604020202020204" pitchFamily="34" charset="0"/>
              </a:rPr>
              <a:t>Invert Example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Original Pixel: white (255, 255, 255)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Modified Pixel: black (0, 0, 0)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标题 16"/>
          <p:cNvSpPr>
            <a:spLocks noGrp="1"/>
          </p:cNvSpPr>
          <p:nvPr>
            <p:ph type="title"/>
          </p:nvPr>
        </p:nvSpPr>
        <p:spPr>
          <a:xfrm>
            <a:off x="251520" y="122238"/>
            <a:ext cx="8712968" cy="858490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Example1: Invert the color of panda.bmp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7524" y="3340864"/>
            <a:ext cx="540915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package main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import  "io/ioutil"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const </a:t>
            </a:r>
            <a:r>
              <a:rPr lang="en-US" altLang="zh-CN" dirty="0">
                <a:cs typeface="Arial" panose="020B0604020202020204" pitchFamily="34" charset="0"/>
              </a:rPr>
              <a:t>s</a:t>
            </a:r>
            <a:r>
              <a:rPr lang="zh-CN" altLang="en-US" dirty="0">
                <a:cs typeface="Arial" panose="020B0604020202020204" pitchFamily="34" charset="0"/>
              </a:rPr>
              <a:t> = 14 + 40 // standard size of header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func main() {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p, </a:t>
            </a:r>
            <a:r>
              <a:rPr lang="en-US" altLang="zh-CN" dirty="0">
                <a:cs typeface="Arial" panose="020B0604020202020204" pitchFamily="34" charset="0"/>
              </a:rPr>
              <a:t>_</a:t>
            </a:r>
            <a:r>
              <a:rPr lang="zh-CN" altLang="en-US" dirty="0">
                <a:cs typeface="Arial" panose="020B0604020202020204" pitchFamily="34" charset="0"/>
              </a:rPr>
              <a:t> := ioutil.ReadFile("./panda.bmp")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</a:t>
            </a:r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for i := </a:t>
            </a:r>
            <a:r>
              <a:rPr lang="en-US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s</a:t>
            </a:r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; i &lt; len(p); i++ {</a:t>
            </a:r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		p[i] = 255 - p[i]</a:t>
            </a:r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	}</a:t>
            </a:r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ioutil.WriteFile("./</a:t>
            </a:r>
            <a:r>
              <a:rPr lang="en-US" altLang="zh-CN" dirty="0" err="1">
                <a:cs typeface="Arial" panose="020B0604020202020204" pitchFamily="34" charset="0"/>
              </a:rPr>
              <a:t>darkPanda</a:t>
            </a:r>
            <a:r>
              <a:rPr lang="zh-CN" altLang="en-US" dirty="0">
                <a:cs typeface="Arial" panose="020B0604020202020204" pitchFamily="34" charset="0"/>
              </a:rPr>
              <a:t>.bmp", p, 0666)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}</a:t>
            </a:r>
            <a:endParaRPr lang="zh-CN" alt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Algorithm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Open "panda.bmp" and get its pixel array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For each v in pixel array, invert it with (255 – v)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 the inverted pixel array to "darkPanda.bmp" 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2943225" y="2933700"/>
            <a:ext cx="1557338" cy="24669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Example1: Invert the color of panda.bmp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59720" y="3165832"/>
            <a:ext cx="5798267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package main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import  "io/ioutil"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const </a:t>
            </a:r>
            <a:r>
              <a:rPr lang="en-US" altLang="zh-CN" dirty="0">
                <a:cs typeface="Arial" panose="020B0604020202020204" pitchFamily="34" charset="0"/>
              </a:rPr>
              <a:t>s</a:t>
            </a:r>
            <a:r>
              <a:rPr lang="zh-CN" altLang="en-US" dirty="0">
                <a:cs typeface="Arial" panose="020B0604020202020204" pitchFamily="34" charset="0"/>
              </a:rPr>
              <a:t> = 14 + 40 // standard size of header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func main() {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p, </a:t>
            </a:r>
            <a:r>
              <a:rPr lang="en-US" altLang="zh-CN" dirty="0">
                <a:cs typeface="Arial" panose="020B0604020202020204" pitchFamily="34" charset="0"/>
              </a:rPr>
              <a:t>_</a:t>
            </a:r>
            <a:r>
              <a:rPr lang="zh-CN" altLang="en-US" dirty="0">
                <a:cs typeface="Arial" panose="020B0604020202020204" pitchFamily="34" charset="0"/>
              </a:rPr>
              <a:t> := ioutil.ReadFile("./panda.bmp")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for i := </a:t>
            </a:r>
            <a:r>
              <a:rPr lang="en-US" altLang="zh-CN" dirty="0">
                <a:cs typeface="Arial" panose="020B0604020202020204" pitchFamily="34" charset="0"/>
              </a:rPr>
              <a:t>s</a:t>
            </a:r>
            <a:r>
              <a:rPr lang="zh-CN" altLang="en-US" dirty="0">
                <a:cs typeface="Arial" panose="020B0604020202020204" pitchFamily="34" charset="0"/>
              </a:rPr>
              <a:t>; i &lt; len(p); i++ {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	p[i] = 255 - p[i]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	}</a:t>
            </a:r>
            <a:endParaRPr lang="zh-CN" altLang="en-US" dirty="0">
              <a:cs typeface="Arial" panose="020B0604020202020204" pitchFamily="34" charset="0"/>
            </a:endParaRPr>
          </a:p>
          <a:p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	ioutil.WriteFile("./</a:t>
            </a:r>
            <a:r>
              <a:rPr lang="en-US" altLang="zh-CN" b="1" dirty="0" err="1">
                <a:solidFill>
                  <a:srgbClr val="FF0000"/>
                </a:solidFill>
                <a:cs typeface="Arial" panose="020B0604020202020204" pitchFamily="34" charset="0"/>
              </a:rPr>
              <a:t>darkPanda</a:t>
            </a:r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.bmp", p, 0666)</a:t>
            </a:r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r>
              <a:rPr lang="zh-CN" altLang="en-US" dirty="0">
                <a:cs typeface="Arial" panose="020B0604020202020204" pitchFamily="34" charset="0"/>
              </a:rPr>
              <a:t>}</a:t>
            </a:r>
            <a:endParaRPr lang="zh-CN" alt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Algorithm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Open "panda.bmp" and get its pixel array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For each v in pixel array, invert it with (255 – v)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 the inverted pixel array to "darkPanda.bmp"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75495" y="3028401"/>
            <a:ext cx="5310032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cs typeface="Arial" panose="020B0604020202020204" pitchFamily="34" charset="0"/>
              </a:rPr>
              <a:t>package main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import  "io/ioutil"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const </a:t>
            </a:r>
            <a:r>
              <a:rPr lang="en-US" altLang="zh-CN" sz="1600" dirty="0">
                <a:cs typeface="Arial" panose="020B0604020202020204" pitchFamily="34" charset="0"/>
              </a:rPr>
              <a:t>s</a:t>
            </a:r>
            <a:r>
              <a:rPr lang="zh-CN" altLang="en-US" sz="1600" dirty="0">
                <a:cs typeface="Arial" panose="020B0604020202020204" pitchFamily="34" charset="0"/>
              </a:rPr>
              <a:t> = 14 + 40 // standard size of header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func main() {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	p, </a:t>
            </a:r>
            <a:r>
              <a:rPr lang="en-US" altLang="zh-CN" sz="1600" dirty="0">
                <a:cs typeface="Arial" panose="020B0604020202020204" pitchFamily="34" charset="0"/>
              </a:rPr>
              <a:t>_</a:t>
            </a:r>
            <a:r>
              <a:rPr lang="zh-CN" altLang="en-US" sz="1600" dirty="0">
                <a:cs typeface="Arial" panose="020B0604020202020204" pitchFamily="34" charset="0"/>
              </a:rPr>
              <a:t> := ioutil.ReadFile("./panda.bmp")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	for i := </a:t>
            </a:r>
            <a:r>
              <a:rPr lang="en-US" altLang="zh-CN" sz="1600" dirty="0">
                <a:cs typeface="Arial" panose="020B0604020202020204" pitchFamily="34" charset="0"/>
              </a:rPr>
              <a:t>s</a:t>
            </a:r>
            <a:r>
              <a:rPr lang="zh-CN" altLang="en-US" sz="1600" dirty="0">
                <a:cs typeface="Arial" panose="020B0604020202020204" pitchFamily="34" charset="0"/>
              </a:rPr>
              <a:t>; i &lt; len(p); i++ {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		p[i] = 255 - p[i]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	}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cs typeface="Arial" panose="020B0604020202020204" pitchFamily="34" charset="0"/>
              </a:rPr>
              <a:t>	</a:t>
            </a:r>
            <a:r>
              <a:rPr lang="zh-CN" altLang="en-US" sz="1600" b="1" dirty="0">
                <a:cs typeface="Arial" panose="020B0604020202020204" pitchFamily="34" charset="0"/>
              </a:rPr>
              <a:t>ioutil.WriteFile("./</a:t>
            </a:r>
            <a:r>
              <a:rPr lang="en-US" altLang="zh-CN" sz="1600" b="1" dirty="0" err="1">
                <a:cs typeface="Arial" panose="020B0604020202020204" pitchFamily="34" charset="0"/>
              </a:rPr>
              <a:t>darkPanda</a:t>
            </a:r>
            <a:r>
              <a:rPr lang="zh-CN" altLang="en-US" sz="1600" b="1" dirty="0">
                <a:cs typeface="Arial" panose="020B0604020202020204" pitchFamily="34" charset="0"/>
              </a:rPr>
              <a:t>.bmp", p, </a:t>
            </a:r>
            <a:r>
              <a:rPr lang="zh-CN" altLang="en-US" sz="1600" b="1" dirty="0">
                <a:solidFill>
                  <a:srgbClr val="FF0000"/>
                </a:solidFill>
                <a:cs typeface="Arial" panose="020B0604020202020204" pitchFamily="34" charset="0"/>
              </a:rPr>
              <a:t>0666</a:t>
            </a:r>
            <a:r>
              <a:rPr lang="zh-CN" altLang="en-US" sz="1600" b="1" dirty="0">
                <a:cs typeface="Arial" panose="020B0604020202020204" pitchFamily="34" charset="0"/>
              </a:rPr>
              <a:t>)</a:t>
            </a:r>
            <a:endParaRPr lang="zh-CN" altLang="en-US" sz="1600" b="1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}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75495" y="5747291"/>
            <a:ext cx="5743574" cy="685715"/>
          </a:xfrm>
          <a:prstGeom prst="rect">
            <a:avLst/>
          </a:prstGeom>
        </p:spPr>
        <p:txBody>
          <a:bodyPr vert="horz" lIns="68580" tIns="34290" rIns="68580" bIns="3429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 What’s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0666? (Read Example 49 in textbook)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Example1: Invert the color of panda.bmp</a:t>
            </a:r>
            <a:endParaRPr lang="zh-CN" altLang="en-US" dirty="0"/>
          </a:p>
        </p:txBody>
      </p:sp>
      <p:sp>
        <p:nvSpPr>
          <p:cNvPr id="2" name="椭圆 1"/>
          <p:cNvSpPr/>
          <p:nvPr/>
        </p:nvSpPr>
        <p:spPr>
          <a:xfrm>
            <a:off x="6191075" y="4966283"/>
            <a:ext cx="694452" cy="4110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179512" y="5911637"/>
            <a:ext cx="9246995" cy="685715"/>
          </a:xfrm>
          <a:prstGeom prst="rect">
            <a:avLst/>
          </a:prstGeom>
        </p:spPr>
        <p:txBody>
          <a:bodyPr vert="horz" lIns="68580" tIns="34290" rIns="68580" bIns="3429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 is the above code in good programming practices? 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improve it?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Example1: Invert the color of panda.bmp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Algorithm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Open "panda.bmp" and get its pixel array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For each v in pixel array, invert it with (255 – v)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 the inverted pixel array to "darkPanda.bmp"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74084" y="3010282"/>
            <a:ext cx="5310032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cs typeface="Arial" panose="020B0604020202020204" pitchFamily="34" charset="0"/>
              </a:rPr>
              <a:t>package main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import  "io/ioutil"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const </a:t>
            </a:r>
            <a:r>
              <a:rPr lang="en-US" altLang="zh-CN" sz="1600" dirty="0">
                <a:cs typeface="Arial" panose="020B0604020202020204" pitchFamily="34" charset="0"/>
              </a:rPr>
              <a:t>s</a:t>
            </a:r>
            <a:r>
              <a:rPr lang="zh-CN" altLang="en-US" sz="1600" dirty="0">
                <a:cs typeface="Arial" panose="020B0604020202020204" pitchFamily="34" charset="0"/>
              </a:rPr>
              <a:t> = 14 + 40 // standard size of header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func main() {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	p, </a:t>
            </a:r>
            <a:r>
              <a:rPr lang="en-US" altLang="zh-CN" sz="1600" dirty="0">
                <a:cs typeface="Arial" panose="020B0604020202020204" pitchFamily="34" charset="0"/>
              </a:rPr>
              <a:t>_</a:t>
            </a:r>
            <a:r>
              <a:rPr lang="zh-CN" altLang="en-US" sz="1600" dirty="0">
                <a:cs typeface="Arial" panose="020B0604020202020204" pitchFamily="34" charset="0"/>
              </a:rPr>
              <a:t> := ioutil.ReadFile("./panda.bmp")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	for i := </a:t>
            </a:r>
            <a:r>
              <a:rPr lang="en-US" altLang="zh-CN" sz="1600" dirty="0">
                <a:cs typeface="Arial" panose="020B0604020202020204" pitchFamily="34" charset="0"/>
              </a:rPr>
              <a:t>s</a:t>
            </a:r>
            <a:r>
              <a:rPr lang="zh-CN" altLang="en-US" sz="1600" dirty="0">
                <a:cs typeface="Arial" panose="020B0604020202020204" pitchFamily="34" charset="0"/>
              </a:rPr>
              <a:t>; i &lt; len(p); i++ {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		p[i] = 255 - p[i]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	}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	ioutil.WriteFile("./</a:t>
            </a:r>
            <a:r>
              <a:rPr lang="en-US" altLang="zh-CN" sz="1600" dirty="0" err="1">
                <a:cs typeface="Arial" panose="020B0604020202020204" pitchFamily="34" charset="0"/>
              </a:rPr>
              <a:t>darkPanda</a:t>
            </a:r>
            <a:r>
              <a:rPr lang="zh-CN" altLang="en-US" sz="1600" dirty="0">
                <a:cs typeface="Arial" panose="020B0604020202020204" pitchFamily="34" charset="0"/>
              </a:rPr>
              <a:t>.bmp", p, 0666)</a:t>
            </a:r>
            <a:endParaRPr lang="zh-CN" altLang="en-US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}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203" y="30693"/>
            <a:ext cx="9106222" cy="487893"/>
          </a:xfrm>
        </p:spPr>
        <p:txBody>
          <a:bodyPr/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Example1 in good programming practice – part 1</a:t>
            </a:r>
            <a:endParaRPr lang="zh-CN" altLang="en-US" sz="2800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58254" y="3136900"/>
            <a:ext cx="8420811" cy="3454400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package main</a:t>
            </a:r>
            <a:br>
              <a:rPr lang="en-US" sz="2000" dirty="0"/>
            </a:br>
            <a:r>
              <a:rPr lang="en-US" sz="2000" dirty="0"/>
              <a:t>import (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    "</a:t>
            </a:r>
            <a:r>
              <a:rPr lang="en-US" sz="2000" dirty="0" err="1"/>
              <a:t>fmt</a:t>
            </a:r>
            <a:r>
              <a:rPr lang="en-US" sz="2000" dirty="0"/>
              <a:t>"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    "</a:t>
            </a:r>
            <a:r>
              <a:rPr lang="en-US" sz="2000" dirty="0" err="1"/>
              <a:t>io</a:t>
            </a:r>
            <a:r>
              <a:rPr lang="en-US" sz="2000" dirty="0"/>
              <a:t>/</a:t>
            </a:r>
            <a:r>
              <a:rPr lang="en-US" sz="2000" dirty="0" err="1"/>
              <a:t>ioutil</a:t>
            </a:r>
            <a:r>
              <a:rPr lang="en-US" sz="2000" dirty="0"/>
              <a:t>"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    "</a:t>
            </a:r>
            <a:r>
              <a:rPr lang="en-US" sz="2000" dirty="0" err="1"/>
              <a:t>os</a:t>
            </a:r>
            <a:r>
              <a:rPr lang="en-US" sz="2000" dirty="0"/>
              <a:t>"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 err="1"/>
              <a:t>const</a:t>
            </a:r>
            <a:r>
              <a:rPr lang="en-US" sz="2000" dirty="0"/>
              <a:t> </a:t>
            </a:r>
            <a:r>
              <a:rPr lang="en-US" sz="2000" dirty="0" err="1"/>
              <a:t>headerSize</a:t>
            </a:r>
            <a:r>
              <a:rPr lang="en-US" sz="2000" dirty="0"/>
              <a:t> = 14 + 40 // standard size of header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 maxBright = 255 // maximum brightness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 </a:t>
            </a:r>
            <a:r>
              <a:rPr lang="en-US" sz="2000" dirty="0" err="1"/>
              <a:t>fileMode</a:t>
            </a:r>
            <a:r>
              <a:rPr lang="en-US" sz="2000" dirty="0"/>
              <a:t> = 0666 // all users read and write permissions</a:t>
            </a:r>
            <a:endParaRPr lang="en-US" sz="2000" dirty="0"/>
          </a:p>
          <a:p>
            <a:pPr marL="0" indent="0">
              <a:buNone/>
            </a:pPr>
            <a:endParaRPr lang="zh-CN" altLang="en-US" sz="1050" dirty="0"/>
          </a:p>
        </p:txBody>
      </p:sp>
      <p:sp>
        <p:nvSpPr>
          <p:cNvPr id="5" name="矩形 4"/>
          <p:cNvSpPr/>
          <p:nvPr/>
        </p:nvSpPr>
        <p:spPr>
          <a:xfrm>
            <a:off x="237067" y="5033432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 panose="02020603050405020304" pitchFamily="18" charset="0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endParaRPr lang="en-US" dirty="0"/>
          </a:p>
        </p:txBody>
      </p:sp>
      <p:sp>
        <p:nvSpPr>
          <p:cNvPr id="11" name="内容占位符 4"/>
          <p:cNvSpPr txBox="1"/>
          <p:nvPr/>
        </p:nvSpPr>
        <p:spPr bwMode="auto">
          <a:xfrm>
            <a:off x="87743" y="632621"/>
            <a:ext cx="8856984" cy="23677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61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3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5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7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Use descriptive names</a:t>
            </a:r>
            <a:endParaRPr lang="en-US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lvl="1"/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"</a:t>
            </a:r>
            <a:r>
              <a:rPr lang="en-US" dirty="0" err="1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headerSize</a:t>
            </a:r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" instead of "s"</a:t>
            </a:r>
            <a:endParaRPr lang="en-US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Avoid magic numbers</a:t>
            </a:r>
            <a:endParaRPr lang="en-US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lvl="1"/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Define "</a:t>
            </a:r>
            <a:r>
              <a:rPr lang="en-US" dirty="0"/>
              <a:t>maxBright" </a:t>
            </a:r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instead of using </a:t>
            </a:r>
            <a:r>
              <a:rPr lang="en-US" dirty="0"/>
              <a:t>"</a:t>
            </a:r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255</a:t>
            </a:r>
            <a:r>
              <a:rPr lang="en-US" dirty="0"/>
              <a:t>"</a:t>
            </a:r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directly</a:t>
            </a:r>
            <a:endParaRPr lang="en-US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Put constant definitions up front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5"/>
          <p:cNvSpPr txBox="1"/>
          <p:nvPr/>
        </p:nvSpPr>
        <p:spPr bwMode="auto">
          <a:xfrm>
            <a:off x="14514" y="579060"/>
            <a:ext cx="6167345" cy="63156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61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3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5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7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 err="1"/>
              <a:t>func</a:t>
            </a:r>
            <a:r>
              <a:rPr lang="en-US" sz="1800" dirty="0"/>
              <a:t> main() {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</a:t>
            </a:r>
            <a:r>
              <a:rPr lang="en-US" sz="1800" dirty="0" err="1"/>
              <a:t>srcImagePath</a:t>
            </a:r>
            <a:r>
              <a:rPr lang="en-US" sz="1800" dirty="0"/>
              <a:t> := "./panda.bmp"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</a:t>
            </a:r>
            <a:r>
              <a:rPr lang="en-US" sz="1800" dirty="0" err="1"/>
              <a:t>destImagePath</a:t>
            </a:r>
            <a:r>
              <a:rPr lang="en-US" sz="1800" dirty="0"/>
              <a:t> := "./darkPanda.bmp"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    // Open "panda.bmp"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/>
              <a:t>    </a:t>
            </a:r>
            <a:r>
              <a:rPr lang="en-US" sz="1800" dirty="0" err="1"/>
              <a:t>p</a:t>
            </a:r>
            <a:r>
              <a:rPr lang="en-US" altLang="zh-CN" sz="1800" dirty="0" err="1"/>
              <a:t>ixArray</a:t>
            </a:r>
            <a:r>
              <a:rPr lang="en-US" sz="1800" dirty="0"/>
              <a:t>, err := </a:t>
            </a:r>
            <a:r>
              <a:rPr lang="en-US" sz="1800" dirty="0" err="1"/>
              <a:t>ioutil.ReadFile</a:t>
            </a:r>
            <a:r>
              <a:rPr lang="en-US" sz="1800" dirty="0"/>
              <a:t>(</a:t>
            </a:r>
            <a:r>
              <a:rPr lang="en-US" sz="1800" dirty="0" err="1"/>
              <a:t>srcImagePath</a:t>
            </a:r>
            <a:r>
              <a:rPr lang="en-US" sz="1800" dirty="0"/>
              <a:t>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if err != nil {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    return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}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// For each v in pixel array, invert it with (maxBright – v)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</a:t>
            </a:r>
            <a:r>
              <a:rPr lang="en-US" sz="1800" dirty="0">
                <a:solidFill>
                  <a:srgbClr val="FF0000"/>
                </a:solidFill>
              </a:rPr>
              <a:t> for </a:t>
            </a:r>
            <a:r>
              <a:rPr lang="en-US" sz="1800" dirty="0" err="1">
                <a:solidFill>
                  <a:srgbClr val="FF0000"/>
                </a:solidFill>
              </a:rPr>
              <a:t>i</a:t>
            </a:r>
            <a:r>
              <a:rPr lang="en-US" sz="1800" dirty="0">
                <a:solidFill>
                  <a:srgbClr val="FF0000"/>
                </a:solidFill>
              </a:rPr>
              <a:t> := </a:t>
            </a:r>
            <a:r>
              <a:rPr lang="en-US" sz="1800" dirty="0" err="1">
                <a:solidFill>
                  <a:srgbClr val="FF0000"/>
                </a:solidFill>
              </a:rPr>
              <a:t>headerSize</a:t>
            </a:r>
            <a:r>
              <a:rPr lang="en-US" sz="1800" dirty="0">
                <a:solidFill>
                  <a:srgbClr val="FF0000"/>
                </a:solidFill>
              </a:rPr>
              <a:t>; </a:t>
            </a:r>
            <a:r>
              <a:rPr lang="en-US" sz="1800" dirty="0" err="1">
                <a:solidFill>
                  <a:srgbClr val="FF0000"/>
                </a:solidFill>
              </a:rPr>
              <a:t>i</a:t>
            </a:r>
            <a:r>
              <a:rPr lang="en-US" sz="1800" dirty="0">
                <a:solidFill>
                  <a:srgbClr val="FF0000"/>
                </a:solidFill>
              </a:rPr>
              <a:t> &lt; </a:t>
            </a:r>
            <a:r>
              <a:rPr lang="en-US" sz="1800" dirty="0" err="1">
                <a:solidFill>
                  <a:srgbClr val="FF0000"/>
                </a:solidFill>
              </a:rPr>
              <a:t>len</a:t>
            </a:r>
            <a:r>
              <a:rPr lang="en-US" sz="1800" dirty="0">
                <a:solidFill>
                  <a:srgbClr val="FF0000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pixArray</a:t>
            </a:r>
            <a:r>
              <a:rPr lang="en-US" sz="1800" dirty="0">
                <a:solidFill>
                  <a:srgbClr val="FF0000"/>
                </a:solidFill>
              </a:rPr>
              <a:t>); </a:t>
            </a:r>
            <a:r>
              <a:rPr lang="en-US" sz="1800" dirty="0" err="1">
                <a:solidFill>
                  <a:srgbClr val="FF0000"/>
                </a:solidFill>
              </a:rPr>
              <a:t>i</a:t>
            </a:r>
            <a:r>
              <a:rPr lang="en-US" sz="1800" dirty="0">
                <a:solidFill>
                  <a:srgbClr val="FF0000"/>
                </a:solidFill>
              </a:rPr>
              <a:t>++ {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         </a:t>
            </a:r>
            <a:r>
              <a:rPr lang="en-US" sz="1800" dirty="0" err="1">
                <a:solidFill>
                  <a:srgbClr val="FF0000"/>
                </a:solidFill>
              </a:rPr>
              <a:t>p</a:t>
            </a:r>
            <a:r>
              <a:rPr lang="en-US" altLang="zh-CN" sz="1800" dirty="0" err="1">
                <a:solidFill>
                  <a:srgbClr val="FF0000"/>
                </a:solidFill>
              </a:rPr>
              <a:t>ixArray</a:t>
            </a:r>
            <a:r>
              <a:rPr lang="en-US" sz="1800" dirty="0">
                <a:solidFill>
                  <a:srgbClr val="FF0000"/>
                </a:solidFill>
              </a:rPr>
              <a:t>[</a:t>
            </a:r>
            <a:r>
              <a:rPr lang="en-US" sz="1800" dirty="0" err="1">
                <a:solidFill>
                  <a:srgbClr val="FF0000"/>
                </a:solidFill>
              </a:rPr>
              <a:t>i</a:t>
            </a:r>
            <a:r>
              <a:rPr lang="en-US" sz="1800" dirty="0">
                <a:solidFill>
                  <a:srgbClr val="FF0000"/>
                </a:solidFill>
              </a:rPr>
              <a:t>] = maxBright -  </a:t>
            </a:r>
            <a:r>
              <a:rPr lang="en-US" sz="1800" dirty="0" err="1">
                <a:solidFill>
                  <a:srgbClr val="FF0000"/>
                </a:solidFill>
              </a:rPr>
              <a:t>p</a:t>
            </a:r>
            <a:r>
              <a:rPr lang="en-US" altLang="zh-CN" sz="1800" dirty="0" err="1">
                <a:solidFill>
                  <a:srgbClr val="FF0000"/>
                </a:solidFill>
              </a:rPr>
              <a:t>ixArray</a:t>
            </a:r>
            <a:r>
              <a:rPr lang="en-US" sz="1800" dirty="0">
                <a:solidFill>
                  <a:srgbClr val="FF0000"/>
                </a:solidFill>
              </a:rPr>
              <a:t>[</a:t>
            </a:r>
            <a:r>
              <a:rPr lang="en-US" sz="1800" dirty="0" err="1">
                <a:solidFill>
                  <a:srgbClr val="FF0000"/>
                </a:solidFill>
              </a:rPr>
              <a:t>i</a:t>
            </a:r>
            <a:r>
              <a:rPr lang="en-US" sz="1800" dirty="0">
                <a:solidFill>
                  <a:srgbClr val="FF0000"/>
                </a:solidFill>
              </a:rPr>
              <a:t>]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    }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/>
              <a:t>    // save modified pixel array to "darkPanda.bmp"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err = </a:t>
            </a:r>
            <a:r>
              <a:rPr lang="en-US" sz="1800" dirty="0" err="1"/>
              <a:t>ioutil.WriteFile</a:t>
            </a:r>
            <a:r>
              <a:rPr lang="en-US" sz="1800" dirty="0"/>
              <a:t>(</a:t>
            </a:r>
            <a:r>
              <a:rPr lang="en-US" sz="1800" dirty="0" err="1"/>
              <a:t>destImagePath</a:t>
            </a:r>
            <a:r>
              <a:rPr lang="en-US" sz="1800" dirty="0"/>
              <a:t>,  </a:t>
            </a:r>
            <a:r>
              <a:rPr lang="en-US" sz="1800" dirty="0" err="1"/>
              <a:t>p</a:t>
            </a:r>
            <a:r>
              <a:rPr lang="en-US" altLang="zh-CN" sz="1800" dirty="0" err="1"/>
              <a:t>ixArray</a:t>
            </a:r>
            <a:r>
              <a:rPr lang="en-US" sz="1800" dirty="0"/>
              <a:t>, </a:t>
            </a:r>
            <a:r>
              <a:rPr lang="en-US" sz="1800" dirty="0" err="1"/>
              <a:t>fileMode</a:t>
            </a:r>
            <a:r>
              <a:rPr lang="en-US" sz="1800" dirty="0"/>
              <a:t>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if err != nil {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    </a:t>
            </a:r>
            <a:r>
              <a:rPr lang="en-US" sz="1800" dirty="0" err="1"/>
              <a:t>fmt.Printf</a:t>
            </a:r>
            <a:r>
              <a:rPr lang="en-US" sz="1800" dirty="0"/>
              <a:t>("save image failed, err = %v\n", err)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    </a:t>
            </a:r>
            <a:r>
              <a:rPr lang="en-US" sz="1800" dirty="0" err="1"/>
              <a:t>os.Exit</a:t>
            </a:r>
            <a:r>
              <a:rPr lang="en-US" sz="1800" dirty="0"/>
              <a:t>(1)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  }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}</a:t>
            </a:r>
            <a:endParaRPr lang="en-US" sz="1800" dirty="0"/>
          </a:p>
          <a:p>
            <a:pPr marL="0" indent="0">
              <a:buFont typeface="Wingdings" panose="05000000000000000000" pitchFamily="2" charset="2"/>
              <a:buNone/>
            </a:pPr>
            <a:endParaRPr lang="en-US" sz="1800" kern="0" dirty="0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1000" kern="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4514" y="35576"/>
            <a:ext cx="8712968" cy="485428"/>
          </a:xfrm>
        </p:spPr>
        <p:txBody>
          <a:bodyPr/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Example1 in good programming practice – part 2</a:t>
            </a:r>
            <a:endParaRPr lang="en-US" dirty="0"/>
          </a:p>
        </p:txBody>
      </p:sp>
      <p:sp>
        <p:nvSpPr>
          <p:cNvPr id="8" name="内容占位符 4"/>
          <p:cNvSpPr txBox="1"/>
          <p:nvPr/>
        </p:nvSpPr>
        <p:spPr bwMode="auto">
          <a:xfrm>
            <a:off x="6105192" y="1020946"/>
            <a:ext cx="3245044" cy="40939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61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3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5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7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Use comments to document the code</a:t>
            </a:r>
            <a:endParaRPr lang="en-US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endParaRPr lang="en-US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r>
              <a:rPr lang="en-US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Avoid repetitive code</a:t>
            </a:r>
            <a:endParaRPr lang="en-US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lvl="1"/>
            <a:r>
              <a:rPr lang="en-US" dirty="0">
                <a:latin typeface="+mj-lt"/>
              </a:rPr>
              <a:t>For loop </a:t>
            </a:r>
            <a:endParaRPr lang="en-US" dirty="0">
              <a:latin typeface="+mj-lt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2700338" y="1614661"/>
            <a:ext cx="3586163" cy="1569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3186113" y="3907545"/>
            <a:ext cx="3100388" cy="35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504" y="162523"/>
            <a:ext cx="8712968" cy="699503"/>
          </a:xfrm>
        </p:spPr>
        <p:txBody>
          <a:bodyPr/>
          <a:lstStyle/>
          <a:p>
            <a:r>
              <a:rPr lang="zh-CN" altLang="en-US" dirty="0"/>
              <a:t>运行</a:t>
            </a:r>
            <a:r>
              <a:rPr lang="en-US" altLang="zh-CN" dirty="0" err="1"/>
              <a:t>darkPanda.go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3" name="内容占位符 2"/>
          <p:cNvSpPr txBox="1"/>
          <p:nvPr/>
        </p:nvSpPr>
        <p:spPr bwMode="auto">
          <a:xfrm>
            <a:off x="294505" y="886272"/>
            <a:ext cx="7011459" cy="18183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61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3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5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7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dirty="0">
                <a:cs typeface="Arial" panose="020B0604020202020204" pitchFamily="34" charset="0"/>
              </a:rPr>
              <a:t>cd </a:t>
            </a:r>
            <a:r>
              <a:rPr lang="zh-CN" altLang="en-US" sz="2400" dirty="0">
                <a:cs typeface="Arial" panose="020B0604020202020204" pitchFamily="34" charset="0"/>
              </a:rPr>
              <a:t>更换当前目录：</a:t>
            </a:r>
            <a:r>
              <a:rPr lang="en-US" altLang="zh-CN" sz="2400" dirty="0">
                <a:cs typeface="Arial" panose="020B0604020202020204" pitchFamily="34" charset="0"/>
              </a:rPr>
              <a:t>cd project/</a:t>
            </a:r>
            <a:r>
              <a:rPr lang="en-US" altLang="zh-CN" sz="2400" dirty="0" err="1">
                <a:cs typeface="Arial" panose="020B0604020202020204" pitchFamily="34" charset="0"/>
              </a:rPr>
              <a:t>darkPanda</a:t>
            </a:r>
            <a:endParaRPr lang="en-US" altLang="zh-CN" sz="2400" dirty="0">
              <a:cs typeface="Arial" panose="020B0604020202020204" pitchFamily="34" charset="0"/>
            </a:endParaRPr>
          </a:p>
          <a:p>
            <a:r>
              <a:rPr lang="en-US" altLang="zh-CN" sz="2400" dirty="0">
                <a:cs typeface="Arial" panose="020B0604020202020204" pitchFamily="34" charset="0"/>
              </a:rPr>
              <a:t>ls </a:t>
            </a:r>
            <a:r>
              <a:rPr lang="zh-CN" altLang="en-US" sz="2400" dirty="0">
                <a:cs typeface="Arial" panose="020B0604020202020204" pitchFamily="34" charset="0"/>
              </a:rPr>
              <a:t>查看当前目录：</a:t>
            </a:r>
            <a:r>
              <a:rPr lang="en-US" altLang="zh-CN" sz="2400" dirty="0">
                <a:cs typeface="Arial" panose="020B0604020202020204" pitchFamily="34" charset="0"/>
              </a:rPr>
              <a:t>ls</a:t>
            </a:r>
            <a:endParaRPr lang="en-US" altLang="zh-CN" dirty="0">
              <a:cs typeface="Arial" panose="020B0604020202020204" pitchFamily="34" charset="0"/>
            </a:endParaRPr>
          </a:p>
          <a:p>
            <a:r>
              <a:rPr lang="zh-CN" altLang="en-US" sz="2400" dirty="0">
                <a:cs typeface="Arial" panose="020B0604020202020204" pitchFamily="34" charset="0"/>
              </a:rPr>
              <a:t>运行</a:t>
            </a:r>
            <a:r>
              <a:rPr lang="en-US" altLang="zh-CN" sz="2400" dirty="0" err="1">
                <a:cs typeface="Arial" panose="020B0604020202020204" pitchFamily="34" charset="0"/>
              </a:rPr>
              <a:t>darkPanda.go</a:t>
            </a:r>
            <a:r>
              <a:rPr lang="zh-CN" altLang="en-US" sz="2400" dirty="0"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cs typeface="Arial" panose="020B0604020202020204" pitchFamily="34" charset="0"/>
              </a:rPr>
              <a:t>go run </a:t>
            </a:r>
            <a:r>
              <a:rPr lang="en-US" altLang="zh-CN" sz="2400" dirty="0" err="1">
                <a:cs typeface="Arial" panose="020B0604020202020204" pitchFamily="34" charset="0"/>
              </a:rPr>
              <a:t>darkPanda.go</a:t>
            </a:r>
            <a:endParaRPr lang="en-US" altLang="zh-CN" sz="2400" dirty="0">
              <a:cs typeface="Arial" panose="020B0604020202020204" pitchFamily="34" charset="0"/>
            </a:endParaRPr>
          </a:p>
          <a:p>
            <a:r>
              <a:rPr lang="zh-CN" altLang="en-US" sz="2400" dirty="0">
                <a:cs typeface="Arial" panose="020B0604020202020204" pitchFamily="34" charset="0"/>
              </a:rPr>
              <a:t>查看</a:t>
            </a:r>
            <a:r>
              <a:rPr lang="en-US" altLang="zh-CN" sz="2400" dirty="0">
                <a:cs typeface="Arial" panose="020B0604020202020204" pitchFamily="34" charset="0"/>
              </a:rPr>
              <a:t>darkPanda.bmp: code darkPanda.bmp</a:t>
            </a:r>
            <a:endParaRPr lang="zh-CN" altLang="en-US" sz="2400" dirty="0">
              <a:cs typeface="Arial" panose="020B0604020202020204" pitchFamily="34" charset="0"/>
            </a:endParaRPr>
          </a:p>
          <a:p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1"/>
          <a:srcRect r="3811" b="-2004"/>
          <a:stretch>
            <a:fillRect/>
          </a:stretch>
        </p:blipFill>
        <p:spPr>
          <a:xfrm>
            <a:off x="509993" y="2753115"/>
            <a:ext cx="8281991" cy="3484165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623453" y="6326144"/>
            <a:ext cx="7116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注：需要先把提供的</a:t>
            </a:r>
            <a:r>
              <a:rPr lang="en-US" altLang="zh-CN" dirty="0"/>
              <a:t>project/ </a:t>
            </a:r>
            <a:r>
              <a:rPr lang="zh-CN" altLang="en-US" dirty="0"/>
              <a:t>文件夹复制到主机的</a:t>
            </a:r>
            <a:r>
              <a:rPr lang="en-US" altLang="zh-CN" dirty="0"/>
              <a:t>c:\cs101</a:t>
            </a:r>
            <a:r>
              <a:rPr lang="zh-CN" altLang="en-US" dirty="0"/>
              <a:t>文件夹中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397" y="2741416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How to hide and restore a character in a pixel array (byte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array)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Example 2: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Hide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'z'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in a byte array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Hide character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(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01111010</a:t>
            </a:r>
            <a:r>
              <a:rPr lang="en-US" altLang="zh-CN" baseline="-25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 a pixel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Replace the least significant 2 bits of bytes in the byte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929606" y="3840979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00111100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929606" y="4212454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00111101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29606" y="4583488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929606" y="494085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08353" y="3328072"/>
            <a:ext cx="171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Origin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46150" y="3876801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46149" y="4215174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46150" y="4569376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946150" y="4954963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766991" y="385509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00111100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766991" y="4226566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00111101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766991" y="4597600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766991" y="4954963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545738" y="3342184"/>
            <a:ext cx="2236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Modified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478557" y="2164474"/>
            <a:ext cx="27574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Character </a:t>
            </a:r>
            <a:r>
              <a:rPr lang="en-US" altLang="zh-CN" dirty="0">
                <a:cs typeface="Arial" panose="020B0604020202020204" pitchFamily="34" charset="0"/>
              </a:rPr>
              <a:t>'z'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ASCII Binary: 01111010</a:t>
            </a:r>
            <a:r>
              <a:rPr lang="en-US" altLang="zh-CN" baseline="-25000" dirty="0"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Example 2: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Hide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in a byte array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Hide character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(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01111010</a:t>
            </a:r>
            <a:r>
              <a:rPr lang="en-US" altLang="zh-CN" baseline="-25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 a pixel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Replace the least significant 2 bits of bytes in the byte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929606" y="3840979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929606" y="4212454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00111101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29606" y="4583488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929606" y="494085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08353" y="3328072"/>
            <a:ext cx="171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Origin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46150" y="3876801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46149" y="4215174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46150" y="4569376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946150" y="4954963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478557" y="2164474"/>
            <a:ext cx="27574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Character </a:t>
            </a:r>
            <a:r>
              <a:rPr lang="en-US" altLang="zh-CN" dirty="0">
                <a:cs typeface="Arial" panose="020B0604020202020204" pitchFamily="34" charset="0"/>
              </a:rPr>
              <a:t>'z'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ASCII Binary: 011110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766991" y="385509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766991" y="4226566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00111101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766991" y="4597600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766991" y="4954963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545738" y="3342184"/>
            <a:ext cx="2236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Modified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3860" y="5730178"/>
            <a:ext cx="8528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Replace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the least significant 2 bits of 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[0] 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with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bit 0~1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 </a:t>
            </a:r>
            <a:r>
              <a:rPr lang="en-US" altLang="zh-CN" sz="2000" dirty="0">
                <a:cs typeface="Arial" panose="020B0604020202020204" pitchFamily="34" charset="0"/>
              </a:rPr>
              <a:t>'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sz="2000" dirty="0">
                <a:cs typeface="Arial" panose="020B0604020202020204" pitchFamily="34" charset="0"/>
              </a:rPr>
              <a:t>‘</a:t>
            </a:r>
            <a:endParaRPr lang="en-US" altLang="zh-CN" sz="2000" dirty="0">
              <a:cs typeface="Arial" panose="020B0604020202020204" pitchFamily="34" charset="0"/>
            </a:endParaRPr>
          </a:p>
          <a:p>
            <a:r>
              <a:rPr lang="zh-CN" altLang="en-US" sz="2000" b="1" dirty="0">
                <a:cs typeface="Arial" panose="020B0604020202020204" pitchFamily="34" charset="0"/>
              </a:rPr>
              <a:t>本次实验要求：将</a:t>
            </a:r>
            <a:r>
              <a:rPr lang="en-US" altLang="zh-CN" sz="2000" dirty="0">
                <a:cs typeface="Arial" panose="020B0604020202020204" pitchFamily="34" charset="0"/>
              </a:rPr>
              <a:t>‘z’</a:t>
            </a:r>
            <a:r>
              <a:rPr lang="zh-CN" altLang="en-US" sz="2000" b="1" dirty="0">
                <a:cs typeface="Arial" panose="020B0604020202020204" pitchFamily="34" charset="0"/>
              </a:rPr>
              <a:t>从低位到高位隐藏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521036" y="3790750"/>
            <a:ext cx="914400" cy="400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319760" y="3809883"/>
            <a:ext cx="914400" cy="400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Example 2: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Hide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in a byte array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Hide character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(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01111010</a:t>
            </a:r>
            <a:r>
              <a:rPr lang="en-US" altLang="zh-CN" baseline="-25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 a pixel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Replace the least significant 2 bits of bytes in the byte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929606" y="3840979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929606" y="4212454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29606" y="4583488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929606" y="494085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08353" y="3328072"/>
            <a:ext cx="171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Origin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46150" y="3876801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46149" y="4215174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46150" y="4569376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946150" y="4954963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469997" y="2164474"/>
            <a:ext cx="2774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Character </a:t>
            </a:r>
            <a:r>
              <a:rPr lang="en-US" altLang="zh-CN" dirty="0">
                <a:cs typeface="Arial" panose="020B0604020202020204" pitchFamily="34" charset="0"/>
              </a:rPr>
              <a:t>'z'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ASCII Binary: 0111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766991" y="385509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766991" y="4226566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766991" y="4597600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766991" y="4954963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545738" y="3342184"/>
            <a:ext cx="2236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Modified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3860" y="5730178"/>
            <a:ext cx="8528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Replace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the least significant 2 bits of 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[1] 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with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bit 2~3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 </a:t>
            </a:r>
            <a:r>
              <a:rPr lang="en-US" altLang="zh-CN" sz="2000" dirty="0">
                <a:cs typeface="Arial" panose="020B0604020202020204" pitchFamily="34" charset="0"/>
              </a:rPr>
              <a:t>'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sz="2000" dirty="0">
                <a:cs typeface="Arial" panose="020B0604020202020204" pitchFamily="34" charset="0"/>
              </a:rPr>
              <a:t>'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521036" y="4192626"/>
            <a:ext cx="914400" cy="400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319760" y="4211759"/>
            <a:ext cx="914400" cy="400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Example 2: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Hide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in a byte array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Hide character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(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01111010</a:t>
            </a:r>
            <a:r>
              <a:rPr lang="en-US" altLang="zh-CN" baseline="-25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 a pixel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Replace the least significant 2 bits of bytes in the byte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929606" y="3840979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929606" y="4212454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29606" y="4583488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929606" y="494085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08353" y="3328072"/>
            <a:ext cx="171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Origin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46150" y="3876801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46149" y="4215174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46150" y="4569376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946150" y="4954963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459256" y="2164474"/>
            <a:ext cx="27960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Character </a:t>
            </a:r>
            <a:r>
              <a:rPr lang="en-US" altLang="zh-CN" dirty="0">
                <a:cs typeface="Arial" panose="020B0604020202020204" pitchFamily="34" charset="0"/>
              </a:rPr>
              <a:t>'z'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ASCII Binary: 01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1010</a:t>
            </a:r>
            <a:r>
              <a:rPr lang="en-US" altLang="zh-CN" baseline="-25000" dirty="0"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766991" y="385509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766991" y="4226566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766991" y="4597600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766991" y="4954963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545738" y="3342184"/>
            <a:ext cx="2236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Modified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3860" y="5730178"/>
            <a:ext cx="8528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Replace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the least significant 2 bits of 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[2] 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with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bit 4~5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 </a:t>
            </a:r>
            <a:r>
              <a:rPr lang="en-US" altLang="zh-CN" sz="2000" dirty="0">
                <a:cs typeface="Arial" panose="020B0604020202020204" pitchFamily="34" charset="0"/>
              </a:rPr>
              <a:t>'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sz="2000" dirty="0">
                <a:cs typeface="Arial" panose="020B0604020202020204" pitchFamily="34" charset="0"/>
              </a:rPr>
              <a:t>'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601863" y="4536416"/>
            <a:ext cx="914400" cy="400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400587" y="4555549"/>
            <a:ext cx="914400" cy="400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Example 2: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Hide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in a byte array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Hide character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(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01111010</a:t>
            </a:r>
            <a:r>
              <a:rPr lang="en-US" altLang="zh-CN" baseline="-25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 a pixel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Replace the least significant 2 bits of bytes in the byte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929606" y="3840979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929606" y="4212454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29606" y="4583488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929606" y="494085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08353" y="3328072"/>
            <a:ext cx="171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Origin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46150" y="3876801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46149" y="4215174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46150" y="4569376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946150" y="4954963"/>
            <a:ext cx="889397" cy="37147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469997" y="2164474"/>
            <a:ext cx="2774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Character </a:t>
            </a:r>
            <a:r>
              <a:rPr lang="en-US" altLang="zh-CN" dirty="0">
                <a:cs typeface="Arial" panose="020B0604020202020204" pitchFamily="34" charset="0"/>
              </a:rPr>
              <a:t>'z'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ASCII Binary: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111010</a:t>
            </a:r>
            <a:r>
              <a:rPr lang="en-US" altLang="zh-CN" baseline="-25000" dirty="0"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766991" y="3855091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766991" y="4226566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766991" y="4597600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766991" y="4954963"/>
            <a:ext cx="1350169" cy="371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545738" y="3342184"/>
            <a:ext cx="2236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Modified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3860" y="5730178"/>
            <a:ext cx="8528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Replace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the least significant 2 bits of 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[3] 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with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bit 6~7 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 </a:t>
            </a:r>
            <a:r>
              <a:rPr lang="en-US" altLang="zh-CN" sz="2000" dirty="0">
                <a:cs typeface="Arial" panose="020B0604020202020204" pitchFamily="34" charset="0"/>
              </a:rPr>
              <a:t>'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sz="2000" dirty="0">
                <a:cs typeface="Arial" panose="020B0604020202020204" pitchFamily="34" charset="0"/>
              </a:rPr>
              <a:t>'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601863" y="4905532"/>
            <a:ext cx="914400" cy="400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400587" y="4924665"/>
            <a:ext cx="914400" cy="400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51520" y="122238"/>
            <a:ext cx="8712968" cy="1002506"/>
          </a:xfrm>
        </p:spPr>
        <p:txBody>
          <a:bodyPr/>
          <a:lstStyle/>
          <a:p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Replace the least significant 2 bits of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[3](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charset="0"/>
              </a:rPr>
              <a:t>00111111</a:t>
            </a:r>
            <a:r>
              <a:rPr lang="en-US" altLang="zh-CN" baseline="-25000" dirty="0">
                <a:ea typeface="等线" panose="02010600030101010101" pitchFamily="2" charset="-122"/>
                <a:cs typeface="Times New Roman" panose="0202060305040502030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 with bit 6~7 of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1520" y="1353344"/>
            <a:ext cx="860673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x := byte(63)	// </a:t>
            </a:r>
            <a:r>
              <a:rPr lang="en-US" altLang="zh-CN" sz="2000" b="1" dirty="0">
                <a:latin typeface="+mj-lt"/>
              </a:rPr>
              <a:t>Given input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assign 63</a:t>
            </a:r>
            <a:r>
              <a:rPr lang="en-US" altLang="zh-CN" sz="2000" baseline="-25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10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=00111111</a:t>
            </a:r>
            <a:r>
              <a:rPr lang="en-US" altLang="zh-CN" sz="2000" baseline="-25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2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to variable x</a:t>
            </a:r>
            <a:endParaRPr lang="zh-CN" altLang="zh-CN" sz="2000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y := byte(122)	// </a:t>
            </a:r>
            <a:r>
              <a:rPr lang="en-US" altLang="zh-CN" sz="2000" b="1" dirty="0">
                <a:latin typeface="+mj-lt"/>
              </a:rPr>
              <a:t>Given input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assign 122</a:t>
            </a:r>
            <a:r>
              <a:rPr lang="en-US" altLang="zh-CN" sz="2000" baseline="-25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10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=01111010</a:t>
            </a:r>
            <a:r>
              <a:rPr lang="en-US" altLang="zh-CN" sz="2000" baseline="-25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2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to variable y </a:t>
            </a:r>
            <a:endParaRPr lang="en-US" altLang="zh-CN" sz="2000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x = x &amp; 0xFC	// </a:t>
            </a:r>
            <a:r>
              <a:rPr lang="en-US" altLang="zh-CN" sz="2000" b="1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Bitwise AND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to clear the right-most 2 bits of x, i.e., </a:t>
            </a:r>
            <a:b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</a:b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				// x=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001111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11 &amp; 11111100 =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001111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00</a:t>
            </a:r>
            <a:endParaRPr lang="zh-CN" altLang="zh-CN" sz="2000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y = y &amp; 0xC0	// </a:t>
            </a:r>
            <a:r>
              <a:rPr lang="en-US" altLang="zh-CN" sz="2000" b="1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Bitwise AND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to retain the left-most 2 bits of y, i.e., </a:t>
            </a:r>
            <a:b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</a:b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				// y=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01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111010 &amp; 11000000 =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01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000000</a:t>
            </a:r>
            <a:endParaRPr lang="en-US" altLang="zh-CN" sz="2000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y</a:t>
            </a:r>
            <a:r>
              <a:rPr lang="zh-CN" altLang="en-US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=</a:t>
            </a:r>
            <a:r>
              <a:rPr lang="zh-CN" altLang="en-US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y</a:t>
            </a:r>
            <a:r>
              <a:rPr lang="zh-CN" altLang="en-US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&gt;&gt;</a:t>
            </a:r>
            <a:r>
              <a:rPr lang="zh-CN" altLang="en-US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6         //</a:t>
            </a:r>
            <a:r>
              <a:rPr lang="en-US" altLang="zh-CN" sz="2000" b="1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Logic Right Shift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6 bits, i.e., </a:t>
            </a:r>
            <a:b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</a:b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		                         // y =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01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000000 &gt;&gt; 6 = 000000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01</a:t>
            </a:r>
            <a:endParaRPr lang="en-US" altLang="zh-CN" sz="2000" dirty="0">
              <a:solidFill>
                <a:srgbClr val="FF0000"/>
              </a:solidFill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x = x | y	// </a:t>
            </a:r>
            <a:r>
              <a:rPr lang="en-US" altLang="zh-CN" sz="2000" b="1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Bitwise OR </a:t>
            </a: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to replace the last 2 bits of x, i.e., </a:t>
            </a:r>
            <a:b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</a:br>
            <a:r>
              <a:rPr lang="en-US" altLang="zh-CN" sz="20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				// x=00111100 | 00000001 = 00111101</a:t>
            </a:r>
            <a:endParaRPr lang="zh-CN" altLang="en-US" sz="200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65533" y="1527418"/>
            <a:ext cx="79991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13665" hangingPunct="0">
              <a:lnSpc>
                <a:spcPct val="150000"/>
              </a:lnSpc>
            </a:pPr>
            <a:r>
              <a:rPr lang="en-US" altLang="zh-CN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endParaRPr lang="zh-CN" altLang="zh-CN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endParaRPr lang="en-US" altLang="zh-CN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br>
              <a:rPr lang="en-US" altLang="zh-CN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</a:br>
            <a:endParaRPr lang="zh-CN" altLang="zh-CN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br>
              <a:rPr lang="en-US" altLang="zh-CN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</a:br>
            <a:endParaRPr lang="en-US" altLang="zh-CN" dirty="0"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y</a:t>
            </a:r>
            <a:r>
              <a:rPr lang="zh-CN" altLang="en-US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=</a:t>
            </a:r>
            <a:r>
              <a:rPr lang="zh-CN" altLang="en-US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y</a:t>
            </a:r>
            <a:r>
              <a:rPr lang="zh-CN" altLang="en-US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&gt;&gt;</a:t>
            </a:r>
            <a:r>
              <a:rPr lang="zh-CN" altLang="en-US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6</a:t>
            </a:r>
            <a:br>
              <a:rPr lang="en-US" altLang="zh-CN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</a:br>
            <a:r>
              <a:rPr lang="en-US" altLang="zh-CN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		       // y = 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01</a:t>
            </a:r>
            <a:r>
              <a:rPr lang="en-US" altLang="zh-CN" sz="2400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000000 &gt;&gt; 6 = 000000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01</a:t>
            </a:r>
            <a:endParaRPr lang="en-US" altLang="zh-CN" sz="2400" dirty="0">
              <a:solidFill>
                <a:srgbClr val="FF0000"/>
              </a:solidFill>
              <a:latin typeface="+mj-lt"/>
              <a:ea typeface="等线" panose="02010600030101010101" pitchFamily="2" charset="-122"/>
              <a:cs typeface="Times New Roman" panose="02020603050405020304" charset="0"/>
            </a:endParaRPr>
          </a:p>
          <a:p>
            <a:pPr indent="113665" hangingPunct="0">
              <a:lnSpc>
                <a:spcPct val="150000"/>
              </a:lnSpc>
            </a:pPr>
            <a:br>
              <a:rPr lang="en-US" altLang="zh-CN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</a:br>
            <a:r>
              <a:rPr lang="en-US" altLang="zh-CN" dirty="0">
                <a:latin typeface="+mj-lt"/>
                <a:ea typeface="等线" panose="02010600030101010101" pitchFamily="2" charset="-122"/>
                <a:cs typeface="Times New Roman" panose="02020603050405020304" charset="0"/>
              </a:rPr>
              <a:t>				</a:t>
            </a:r>
            <a:endParaRPr lang="zh-CN" altLang="en-US" dirty="0">
              <a:latin typeface="+mj-lt"/>
            </a:endParaRPr>
          </a:p>
        </p:txBody>
      </p:sp>
      <p:sp>
        <p:nvSpPr>
          <p:cNvPr id="2" name="上弧形箭头 1"/>
          <p:cNvSpPr/>
          <p:nvPr/>
        </p:nvSpPr>
        <p:spPr>
          <a:xfrm>
            <a:off x="3681747" y="3972994"/>
            <a:ext cx="3577201" cy="759852"/>
          </a:xfrm>
          <a:prstGeom prst="curved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1760126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Using Logic Right Shift to move the most significant 2 bits of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to least significant 2 bits.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475696" y="3062229"/>
            <a:ext cx="8490071" cy="122864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Logic Right Shift 6 bits: E</a:t>
            </a:r>
            <a:r>
              <a:rPr lang="en-US" sz="3200" b="1" dirty="0">
                <a:solidFill>
                  <a:srgbClr val="FF0000"/>
                </a:solidFill>
                <a:latin typeface="+mj-lt"/>
              </a:rPr>
              <a:t>very bit in 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y</a:t>
            </a:r>
            <a:r>
              <a:rPr lang="en-US" sz="3200" b="1" dirty="0">
                <a:solidFill>
                  <a:srgbClr val="FF0000"/>
                </a:solidFill>
                <a:latin typeface="+mj-lt"/>
              </a:rPr>
              <a:t> is moved 6 bit positions to the right.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93595" y="4732847"/>
            <a:ext cx="347730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38207" y="4732846"/>
            <a:ext cx="347730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51852" y="4732845"/>
            <a:ext cx="1044000" cy="3090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1693" y="5661387"/>
            <a:ext cx="3243196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Right most 6 bits </a:t>
            </a:r>
            <a:r>
              <a:rPr lang="en-US" sz="2000" b="1" dirty="0">
                <a:solidFill>
                  <a:srgbClr val="FF0000"/>
                </a:solidFill>
              </a:rPr>
              <a:t>are lost</a:t>
            </a:r>
            <a:endParaRPr lang="en-US" sz="2000" b="1" dirty="0">
              <a:solidFill>
                <a:srgbClr val="FF000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2596351" y="5041938"/>
            <a:ext cx="1768959" cy="6990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5886856" y="4730317"/>
            <a:ext cx="1051351" cy="3090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855613" y="5716854"/>
            <a:ext cx="4835234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Vacant bit-positions are filled with in 0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 flipV="1">
            <a:off x="6416454" y="5036235"/>
            <a:ext cx="1018106" cy="6364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标题 4"/>
          <p:cNvSpPr>
            <a:spLocks noGrp="1"/>
          </p:cNvSpPr>
          <p:nvPr>
            <p:ph type="title"/>
          </p:nvPr>
        </p:nvSpPr>
        <p:spPr>
          <a:xfrm>
            <a:off x="251520" y="217584"/>
            <a:ext cx="8712968" cy="858490"/>
          </a:xfrm>
        </p:spPr>
        <p:txBody>
          <a:bodyPr/>
          <a:lstStyle/>
          <a:p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Replace the least significant 2 bits of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[3] with bit 6~7 of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51520" y="0"/>
            <a:ext cx="8712968" cy="1054240"/>
          </a:xfrm>
        </p:spPr>
        <p:txBody>
          <a:bodyPr/>
          <a:lstStyle/>
          <a:p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Replace the least significant 2 bits of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[3] with bit 6~7 of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51520" y="1228411"/>
            <a:ext cx="7659701" cy="5113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package main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import "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main() {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x := byte(63)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y := byte(122)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x = x &amp; 0xFC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y = y &gt;&gt; 6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y = y &amp; 0x3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x = x | y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fmt.Println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(x)    // output is 61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51520" y="0"/>
            <a:ext cx="8712968" cy="1054240"/>
          </a:xfrm>
        </p:spPr>
        <p:txBody>
          <a:bodyPr/>
          <a:lstStyle/>
          <a:p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Replace the least significant 2 bits of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[3] with bit 6~7 of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51520" y="1228411"/>
            <a:ext cx="7659701" cy="5113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package main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import "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main() {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x := byte(63)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y := byte(122)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x = x &amp; 0xFC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y = y &gt;&gt; 6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y = y &amp; 0x3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x = x | y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fmt.Println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(x)    // output is 61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3040076" y="1869432"/>
            <a:ext cx="6103924" cy="122864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: There are magic numbers in the program, what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 their meaning?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For example, why 6 not 8?</a:t>
            </a:r>
            <a:endParaRPr lang="zh-CN" altLang="en-US" sz="3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40172" y="3644357"/>
            <a:ext cx="746478" cy="4005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33416" y="4461758"/>
            <a:ext cx="754943" cy="4005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33416" y="4058497"/>
            <a:ext cx="754944" cy="4005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3040076" y="3098072"/>
            <a:ext cx="2693067" cy="12271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Restore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from the modified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pixArray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[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001111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11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001111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]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Example 3: Restore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from byte array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22206" y="2391390"/>
            <a:ext cx="83715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13665" hangingPunct="0">
              <a:lnSpc>
                <a:spcPct val="150000"/>
              </a:lnSpc>
            </a:pP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x0 := </a:t>
            </a:r>
            <a:r>
              <a:rPr lang="en-US" altLang="zh-CN" dirty="0" err="1">
                <a:ea typeface="等线" panose="02010600030101010101" pitchFamily="2" charset="-122"/>
                <a:cs typeface="Arial" panose="020B0604020202020204" pitchFamily="34" charset="0"/>
              </a:rPr>
              <a:t>pixArray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[0] &amp; 0x3              // x0 = 001111</a:t>
            </a:r>
            <a:r>
              <a:rPr lang="en-US" altLang="zh-CN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10 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&amp;00000011           = 000000</a:t>
            </a:r>
            <a:r>
              <a:rPr lang="en-US" altLang="zh-CN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endParaRPr lang="en-US" altLang="zh-CN" dirty="0">
              <a:solidFill>
                <a:srgbClr val="FF0000"/>
              </a:solidFill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x1 := (</a:t>
            </a:r>
            <a:r>
              <a:rPr lang="en-US" altLang="zh-CN" dirty="0" err="1">
                <a:ea typeface="等线" panose="02010600030101010101" pitchFamily="2" charset="-122"/>
                <a:cs typeface="Arial" panose="020B0604020202020204" pitchFamily="34" charset="0"/>
              </a:rPr>
              <a:t>pixArray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[1] &amp; 0x3) &lt;&lt; 2   // x1 = (001111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&amp;00000011) &lt;&lt; 2 = 0000</a:t>
            </a:r>
            <a:r>
              <a:rPr lang="en-US" altLang="zh-CN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00</a:t>
            </a:r>
            <a:endParaRPr lang="en-US" altLang="zh-CN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x2 := (</a:t>
            </a:r>
            <a:r>
              <a:rPr lang="en-US" altLang="zh-CN" dirty="0" err="1">
                <a:ea typeface="等线" panose="02010600030101010101" pitchFamily="2" charset="-122"/>
                <a:cs typeface="Arial" panose="020B0604020202020204" pitchFamily="34" charset="0"/>
              </a:rPr>
              <a:t>pixArray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[2] &amp; 0x3) &lt;&lt; 4   // x2 = (001111</a:t>
            </a:r>
            <a:r>
              <a:rPr lang="en-US" altLang="zh-CN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11 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&amp;00000011) &lt;&lt; 4 = 00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11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0000</a:t>
            </a:r>
            <a:endParaRPr lang="en-US" altLang="zh-CN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x3 := (</a:t>
            </a:r>
            <a:r>
              <a:rPr lang="en-US" altLang="zh-CN" dirty="0" err="1">
                <a:ea typeface="等线" panose="02010600030101010101" pitchFamily="2" charset="-122"/>
                <a:cs typeface="Arial" panose="020B0604020202020204" pitchFamily="34" charset="0"/>
              </a:rPr>
              <a:t>pixArray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[3] &amp; 0x3) &lt;&lt; 6   // x3 = (001111</a:t>
            </a:r>
            <a:r>
              <a:rPr lang="en-US" altLang="zh-CN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01 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&amp;00000011) &lt;&lt; 6 =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00000</a:t>
            </a:r>
            <a:endParaRPr lang="en-US" altLang="zh-CN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y := x0 | x1 | x2 | x3                   //  y  =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01111010</a:t>
            </a:r>
            <a:r>
              <a:rPr lang="en-US" altLang="zh-CN" sz="1100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= 122</a:t>
            </a:r>
            <a:r>
              <a:rPr lang="en-US" altLang="zh-CN" sz="1100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zh-CN" dirty="0">
              <a:solidFill>
                <a:srgbClr val="FF0000"/>
              </a:solidFill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hangingPunct="0">
              <a:lnSpc>
                <a:spcPct val="150000"/>
              </a:lnSpc>
            </a:pPr>
            <a:r>
              <a:rPr lang="en-US" altLang="zh-CN" dirty="0" err="1">
                <a:ea typeface="等线" panose="02010600030101010101" pitchFamily="2" charset="-122"/>
                <a:cs typeface="Arial" panose="020B0604020202020204" pitchFamily="34" charset="0"/>
              </a:rPr>
              <a:t>f</a:t>
            </a:r>
            <a:r>
              <a:rPr lang="en-US" altLang="zh-CN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mt.Printf</a:t>
            </a: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("%c</a:t>
            </a:r>
            <a:r>
              <a:rPr lang="en-US" altLang="zh-CN" dirty="0">
                <a:cs typeface="Arial" panose="020B0604020202020204" pitchFamily="34" charset="0"/>
              </a:rPr>
              <a:t>"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y)                      // output is z</a:t>
            </a:r>
            <a:endParaRPr lang="en-US" altLang="zh-CN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Hide program: Hide text in a BMP image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hangingPunct="0">
              <a:spcBef>
                <a:spcPts val="450"/>
              </a:spcBef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text file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an image file.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doctored image file.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spcAft>
                <a:spcPts val="450"/>
              </a:spcAft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en-US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Steps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Get input image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input text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output image name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en-US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p		                // p for picture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t		                // t for text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variable p in the remaining bytes of the Pixel Array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Write p to file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zh-CN" altLang="zh-CN" sz="1800" i="1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Hide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program: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Hide text in a BMP image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hangingPunct="0">
              <a:spcBef>
                <a:spcPts val="450"/>
              </a:spcBef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text file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an image file.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doctored image file.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spcAft>
                <a:spcPts val="450"/>
              </a:spcAft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en-US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Steps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Get input image </a:t>
            </a:r>
            <a:r>
              <a:rPr lang="en-US" altLang="zh-CN" sz="1800" b="1" i="1" dirty="0" err="1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input text </a:t>
            </a:r>
            <a:r>
              <a:rPr lang="en-US" altLang="zh-CN" sz="1800" b="1" i="1" dirty="0" err="1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output image name </a:t>
            </a:r>
            <a:r>
              <a:rPr lang="en-US" altLang="zh-CN" sz="1800" b="1" i="1" dirty="0" err="1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p		                // p for picture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t		                // t for text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 Array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variable p in the remaining bytes of the Pixel Array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Write p to file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zh-CN" altLang="zh-CN" sz="1800" i="1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3400996" y="2605726"/>
            <a:ext cx="1046435" cy="25106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36"/>
          <p:cNvSpPr txBox="1"/>
          <p:nvPr/>
        </p:nvSpPr>
        <p:spPr>
          <a:xfrm>
            <a:off x="1117600" y="5069596"/>
            <a:ext cx="8002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go run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hide.go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Autumn.bmp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-t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HungLouMeng.txt -o doctoredAutumn.bmp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516" y="261459"/>
            <a:ext cx="8712968" cy="858490"/>
          </a:xfrm>
        </p:spPr>
        <p:txBody>
          <a:bodyPr/>
          <a:lstStyle/>
          <a:p>
            <a:r>
              <a:rPr lang="en-US" altLang="zh-CN" sz="2800" dirty="0"/>
              <a:t>Get input image </a:t>
            </a:r>
            <a:r>
              <a:rPr lang="en-US" altLang="zh-CN" sz="2800" dirty="0" err="1"/>
              <a:t>srcImage</a:t>
            </a:r>
            <a:r>
              <a:rPr lang="en-US" altLang="zh-CN" sz="2800" dirty="0"/>
              <a:t>, input text </a:t>
            </a:r>
            <a:r>
              <a:rPr lang="en-US" altLang="zh-CN" sz="2800" dirty="0" err="1"/>
              <a:t>txtFile</a:t>
            </a:r>
            <a:r>
              <a:rPr lang="en-US" altLang="zh-CN" sz="2800" dirty="0"/>
              <a:t> and output image </a:t>
            </a:r>
            <a:r>
              <a:rPr lang="en-US" altLang="zh-CN" sz="2800" dirty="0" err="1"/>
              <a:t>destImage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98223" y="1627780"/>
            <a:ext cx="6069022" cy="4770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cs typeface="Arial" panose="020B0604020202020204" pitchFamily="34" charset="0"/>
              </a:rPr>
              <a:t>var (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srcImage</a:t>
            </a:r>
            <a:r>
              <a:rPr lang="en-US" altLang="zh-CN" sz="1600" dirty="0">
                <a:cs typeface="Arial" panose="020B0604020202020204" pitchFamily="34" charset="0"/>
              </a:rPr>
              <a:t>  string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txtFile</a:t>
            </a:r>
            <a:r>
              <a:rPr lang="en-US" altLang="zh-CN" sz="1600" dirty="0">
                <a:cs typeface="Arial" panose="020B0604020202020204" pitchFamily="34" charset="0"/>
              </a:rPr>
              <a:t>   string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destImage</a:t>
            </a:r>
            <a:r>
              <a:rPr lang="en-US" altLang="zh-CN" sz="1600" dirty="0">
                <a:cs typeface="Arial" panose="020B0604020202020204" pitchFamily="34" charset="0"/>
              </a:rPr>
              <a:t> string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// </a:t>
            </a:r>
            <a:r>
              <a:rPr lang="en-US" altLang="zh-CN" sz="1600" dirty="0" err="1">
                <a:cs typeface="Arial" panose="020B0604020202020204" pitchFamily="34" charset="0"/>
              </a:rPr>
              <a:t>init</a:t>
            </a:r>
            <a:r>
              <a:rPr lang="en-US" altLang="zh-CN" sz="1600" dirty="0">
                <a:cs typeface="Arial" panose="020B0604020202020204" pitchFamily="34" charset="0"/>
              </a:rPr>
              <a:t> sets comment line options.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 err="1">
                <a:cs typeface="Arial" panose="020B0604020202020204" pitchFamily="34" charset="0"/>
              </a:rPr>
              <a:t>func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cs typeface="Arial" panose="020B0604020202020204" pitchFamily="34" charset="0"/>
              </a:rPr>
              <a:t>init</a:t>
            </a:r>
            <a:r>
              <a:rPr lang="en-US" altLang="zh-CN" sz="1600" dirty="0">
                <a:cs typeface="Arial" panose="020B0604020202020204" pitchFamily="34" charset="0"/>
              </a:rPr>
              <a:t>() {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flag.StringVar</a:t>
            </a:r>
            <a:r>
              <a:rPr lang="en-US" altLang="zh-CN" sz="1600" dirty="0">
                <a:cs typeface="Arial" panose="020B0604020202020204" pitchFamily="34" charset="0"/>
              </a:rPr>
              <a:t>(&amp;</a:t>
            </a:r>
            <a:r>
              <a:rPr lang="en-US" altLang="zh-CN" sz="1600" dirty="0" err="1">
                <a:cs typeface="Arial" panose="020B0604020202020204" pitchFamily="34" charset="0"/>
              </a:rPr>
              <a:t>srcImage</a:t>
            </a:r>
            <a:r>
              <a:rPr lang="en-US" altLang="zh-CN" sz="1600" dirty="0">
                <a:cs typeface="Arial" panose="020B0604020202020204" pitchFamily="34" charset="0"/>
              </a:rPr>
              <a:t>, "</a:t>
            </a:r>
            <a:r>
              <a:rPr lang="en-US" altLang="zh-CN" sz="1600" dirty="0" err="1">
                <a:cs typeface="Arial" panose="020B0604020202020204" pitchFamily="34" charset="0"/>
              </a:rPr>
              <a:t>i</a:t>
            </a:r>
            <a:r>
              <a:rPr lang="en-US" altLang="zh-CN" sz="1600" dirty="0">
                <a:cs typeface="Arial" panose="020B0604020202020204" pitchFamily="34" charset="0"/>
              </a:rPr>
              <a:t>", "", "input image path.")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flag.StringVar</a:t>
            </a:r>
            <a:r>
              <a:rPr lang="en-US" altLang="zh-CN" sz="1600" dirty="0">
                <a:cs typeface="Arial" panose="020B0604020202020204" pitchFamily="34" charset="0"/>
              </a:rPr>
              <a:t>(&amp;</a:t>
            </a:r>
            <a:r>
              <a:rPr lang="en-US" altLang="zh-CN" sz="1600" dirty="0" err="1">
                <a:cs typeface="Arial" panose="020B0604020202020204" pitchFamily="34" charset="0"/>
              </a:rPr>
              <a:t>txtFile</a:t>
            </a:r>
            <a:r>
              <a:rPr lang="en-US" altLang="zh-CN" sz="1600" dirty="0">
                <a:cs typeface="Arial" panose="020B0604020202020204" pitchFamily="34" charset="0"/>
              </a:rPr>
              <a:t>, "t", "", "input text data path.")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flag.StringVar</a:t>
            </a:r>
            <a:r>
              <a:rPr lang="en-US" altLang="zh-CN" sz="1600" dirty="0">
                <a:cs typeface="Arial" panose="020B0604020202020204" pitchFamily="34" charset="0"/>
              </a:rPr>
              <a:t>(&amp;</a:t>
            </a:r>
            <a:r>
              <a:rPr lang="en-US" altLang="zh-CN" sz="1600" dirty="0" err="1">
                <a:cs typeface="Arial" panose="020B0604020202020204" pitchFamily="34" charset="0"/>
              </a:rPr>
              <a:t>destImage</a:t>
            </a:r>
            <a:r>
              <a:rPr lang="en-US" altLang="zh-CN" sz="1600" dirty="0">
                <a:cs typeface="Arial" panose="020B0604020202020204" pitchFamily="34" charset="0"/>
              </a:rPr>
              <a:t>, "o", "", "output image path.")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}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 err="1">
                <a:cs typeface="Arial" panose="020B0604020202020204" pitchFamily="34" charset="0"/>
              </a:rPr>
              <a:t>func</a:t>
            </a:r>
            <a:r>
              <a:rPr lang="en-US" altLang="zh-CN" sz="1600" dirty="0">
                <a:cs typeface="Arial" panose="020B0604020202020204" pitchFamily="34" charset="0"/>
              </a:rPr>
              <a:t> main() {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flag.Parse</a:t>
            </a:r>
            <a:r>
              <a:rPr lang="en-US" altLang="zh-CN" sz="1600" dirty="0">
                <a:cs typeface="Arial" panose="020B0604020202020204" pitchFamily="34" charset="0"/>
              </a:rPr>
              <a:t>()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if </a:t>
            </a:r>
            <a:r>
              <a:rPr lang="en-US" altLang="zh-CN" sz="1600" dirty="0" err="1">
                <a:cs typeface="Arial" panose="020B0604020202020204" pitchFamily="34" charset="0"/>
              </a:rPr>
              <a:t>srcImage</a:t>
            </a:r>
            <a:r>
              <a:rPr lang="en-US" altLang="zh-CN" sz="1600" dirty="0">
                <a:cs typeface="Arial" panose="020B0604020202020204" pitchFamily="34" charset="0"/>
              </a:rPr>
              <a:t> == "" || </a:t>
            </a:r>
            <a:r>
              <a:rPr lang="en-US" altLang="zh-CN" sz="1600" dirty="0" err="1">
                <a:cs typeface="Arial" panose="020B0604020202020204" pitchFamily="34" charset="0"/>
              </a:rPr>
              <a:t>txtFile</a:t>
            </a:r>
            <a:r>
              <a:rPr lang="en-US" altLang="zh-CN" sz="1600" dirty="0">
                <a:cs typeface="Arial" panose="020B0604020202020204" pitchFamily="34" charset="0"/>
              </a:rPr>
              <a:t> == "" || </a:t>
            </a:r>
            <a:r>
              <a:rPr lang="en-US" altLang="zh-CN" sz="1600" dirty="0" err="1">
                <a:cs typeface="Arial" panose="020B0604020202020204" pitchFamily="34" charset="0"/>
              </a:rPr>
              <a:t>destImage</a:t>
            </a:r>
            <a:r>
              <a:rPr lang="en-US" altLang="zh-CN" sz="1600" dirty="0">
                <a:cs typeface="Arial" panose="020B0604020202020204" pitchFamily="34" charset="0"/>
              </a:rPr>
              <a:t> == "" {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	</a:t>
            </a:r>
            <a:r>
              <a:rPr lang="en-US" altLang="zh-CN" sz="1600" dirty="0" err="1">
                <a:cs typeface="Arial" panose="020B0604020202020204" pitchFamily="34" charset="0"/>
              </a:rPr>
              <a:t>flag.PrintDefaults</a:t>
            </a:r>
            <a:r>
              <a:rPr lang="en-US" altLang="zh-CN" sz="1600" dirty="0">
                <a:cs typeface="Arial" panose="020B0604020202020204" pitchFamily="34" charset="0"/>
              </a:rPr>
              <a:t>()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	</a:t>
            </a:r>
            <a:r>
              <a:rPr lang="en-US" altLang="zh-CN" sz="1600" dirty="0" err="1">
                <a:cs typeface="Arial" panose="020B0604020202020204" pitchFamily="34" charset="0"/>
              </a:rPr>
              <a:t>os.Exit</a:t>
            </a:r>
            <a:r>
              <a:rPr lang="en-US" altLang="zh-CN" sz="1600" dirty="0">
                <a:cs typeface="Arial" panose="020B0604020202020204" pitchFamily="34" charset="0"/>
              </a:rPr>
              <a:t>(1)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}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                 // …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}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6" name="文本框 36"/>
          <p:cNvSpPr txBox="1"/>
          <p:nvPr/>
        </p:nvSpPr>
        <p:spPr>
          <a:xfrm>
            <a:off x="1295401" y="1204587"/>
            <a:ext cx="8022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go run </a:t>
            </a:r>
            <a:r>
              <a:rPr lang="en-US" altLang="zh-CN" sz="16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hide.go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</a:t>
            </a:r>
            <a:r>
              <a:rPr lang="en-US" altLang="zh-CN" sz="16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16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Autumn.bmp</a:t>
            </a:r>
            <a:r>
              <a:rPr lang="en-US" altLang="zh-CN" sz="16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-t </a:t>
            </a:r>
            <a:r>
              <a:rPr lang="en-US" altLang="zh-CN" sz="16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HungLouMeng.txt -o doctoredAutumn.bmp</a:t>
            </a:r>
            <a:endParaRPr lang="en-US" altLang="zh-CN" sz="1600" b="1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36"/>
          <p:cNvSpPr txBox="1"/>
          <p:nvPr/>
        </p:nvSpPr>
        <p:spPr>
          <a:xfrm>
            <a:off x="1295401" y="1204587"/>
            <a:ext cx="8022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go run </a:t>
            </a:r>
            <a:r>
              <a:rPr lang="en-US" altLang="zh-CN" sz="16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hide.go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</a:t>
            </a:r>
            <a:r>
              <a:rPr lang="en-US" altLang="zh-CN" sz="16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16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Autumn.bmp</a:t>
            </a:r>
            <a:r>
              <a:rPr lang="en-US" altLang="zh-CN" sz="16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-t </a:t>
            </a:r>
            <a:r>
              <a:rPr lang="en-US" altLang="zh-CN" sz="16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HungLouMeng.txt -o doctoredAutumn.bmp</a:t>
            </a:r>
            <a:endParaRPr lang="en-US" altLang="zh-CN" sz="1600" b="1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116" y="261459"/>
            <a:ext cx="8712968" cy="858490"/>
          </a:xfrm>
        </p:spPr>
        <p:txBody>
          <a:bodyPr/>
          <a:lstStyle/>
          <a:p>
            <a:r>
              <a:rPr lang="en-US" altLang="zh-CN" sz="2800" dirty="0"/>
              <a:t>Get input image </a:t>
            </a:r>
            <a:r>
              <a:rPr lang="en-US" altLang="zh-CN" sz="2800" dirty="0" err="1"/>
              <a:t>srcImage</a:t>
            </a:r>
            <a:r>
              <a:rPr lang="en-US" altLang="zh-CN" sz="2800" dirty="0"/>
              <a:t>, input text </a:t>
            </a:r>
            <a:r>
              <a:rPr lang="en-US" altLang="zh-CN" sz="2800" dirty="0" err="1"/>
              <a:t>txtFile</a:t>
            </a:r>
            <a:r>
              <a:rPr lang="en-US" altLang="zh-CN" sz="2800" dirty="0"/>
              <a:t> and output image </a:t>
            </a:r>
            <a:r>
              <a:rPr lang="en-US" altLang="zh-CN" sz="2800" dirty="0" err="1"/>
              <a:t>destImage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98223" y="1627780"/>
            <a:ext cx="6069022" cy="4770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cs typeface="Arial" panose="020B0604020202020204" pitchFamily="34" charset="0"/>
              </a:rPr>
              <a:t>var (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srcImage</a:t>
            </a:r>
            <a:r>
              <a:rPr lang="en-US" altLang="zh-CN" sz="1600" dirty="0">
                <a:cs typeface="Arial" panose="020B0604020202020204" pitchFamily="34" charset="0"/>
              </a:rPr>
              <a:t>  string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txtFile</a:t>
            </a:r>
            <a:r>
              <a:rPr lang="en-US" altLang="zh-CN" sz="1600" dirty="0">
                <a:cs typeface="Arial" panose="020B0604020202020204" pitchFamily="34" charset="0"/>
              </a:rPr>
              <a:t>   string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destImage</a:t>
            </a:r>
            <a:r>
              <a:rPr lang="en-US" altLang="zh-CN" sz="1600" dirty="0">
                <a:cs typeface="Arial" panose="020B0604020202020204" pitchFamily="34" charset="0"/>
              </a:rPr>
              <a:t> string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// </a:t>
            </a:r>
            <a:r>
              <a:rPr lang="en-US" altLang="zh-CN" sz="1600" dirty="0" err="1">
                <a:cs typeface="Arial" panose="020B0604020202020204" pitchFamily="34" charset="0"/>
              </a:rPr>
              <a:t>init</a:t>
            </a:r>
            <a:r>
              <a:rPr lang="en-US" altLang="zh-CN" sz="1600" dirty="0">
                <a:cs typeface="Arial" panose="020B0604020202020204" pitchFamily="34" charset="0"/>
              </a:rPr>
              <a:t> sets comment line options.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 err="1">
                <a:cs typeface="Arial" panose="020B0604020202020204" pitchFamily="34" charset="0"/>
              </a:rPr>
              <a:t>func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cs typeface="Arial" panose="020B0604020202020204" pitchFamily="34" charset="0"/>
              </a:rPr>
              <a:t>init</a:t>
            </a:r>
            <a:r>
              <a:rPr lang="en-US" altLang="zh-CN" sz="1600" dirty="0">
                <a:cs typeface="Arial" panose="020B0604020202020204" pitchFamily="34" charset="0"/>
              </a:rPr>
              <a:t>() {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flag.StringVar</a:t>
            </a:r>
            <a:r>
              <a:rPr lang="en-US" altLang="zh-CN" sz="1600" dirty="0">
                <a:cs typeface="Arial" panose="020B0604020202020204" pitchFamily="34" charset="0"/>
              </a:rPr>
              <a:t>(&amp;</a:t>
            </a:r>
            <a:r>
              <a:rPr lang="en-US" altLang="zh-CN" sz="1600" dirty="0" err="1">
                <a:cs typeface="Arial" panose="020B0604020202020204" pitchFamily="34" charset="0"/>
              </a:rPr>
              <a:t>srcImage</a:t>
            </a:r>
            <a:r>
              <a:rPr lang="en-US" altLang="zh-CN" sz="1600" dirty="0">
                <a:cs typeface="Arial" panose="020B0604020202020204" pitchFamily="34" charset="0"/>
              </a:rPr>
              <a:t>, "</a:t>
            </a:r>
            <a:r>
              <a:rPr lang="en-US" altLang="zh-CN" sz="1600" dirty="0" err="1">
                <a:cs typeface="Arial" panose="020B0604020202020204" pitchFamily="34" charset="0"/>
              </a:rPr>
              <a:t>i</a:t>
            </a:r>
            <a:r>
              <a:rPr lang="en-US" altLang="zh-CN" sz="1600" dirty="0">
                <a:cs typeface="Arial" panose="020B0604020202020204" pitchFamily="34" charset="0"/>
              </a:rPr>
              <a:t>", "", "input image path.")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flag.StringVar</a:t>
            </a:r>
            <a:r>
              <a:rPr lang="en-US" altLang="zh-CN" sz="1600" dirty="0">
                <a:cs typeface="Arial" panose="020B0604020202020204" pitchFamily="34" charset="0"/>
              </a:rPr>
              <a:t>(&amp;</a:t>
            </a:r>
            <a:r>
              <a:rPr lang="en-US" altLang="zh-CN" sz="1600" dirty="0" err="1">
                <a:cs typeface="Arial" panose="020B0604020202020204" pitchFamily="34" charset="0"/>
              </a:rPr>
              <a:t>txtFile</a:t>
            </a:r>
            <a:r>
              <a:rPr lang="en-US" altLang="zh-CN" sz="1600" dirty="0">
                <a:cs typeface="Arial" panose="020B0604020202020204" pitchFamily="34" charset="0"/>
              </a:rPr>
              <a:t>, "t", "", "input text data path.")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flag.StringVar</a:t>
            </a:r>
            <a:r>
              <a:rPr lang="en-US" altLang="zh-CN" sz="1600" dirty="0">
                <a:cs typeface="Arial" panose="020B0604020202020204" pitchFamily="34" charset="0"/>
              </a:rPr>
              <a:t>(&amp;</a:t>
            </a:r>
            <a:r>
              <a:rPr lang="en-US" altLang="zh-CN" sz="1600" dirty="0" err="1">
                <a:cs typeface="Arial" panose="020B0604020202020204" pitchFamily="34" charset="0"/>
              </a:rPr>
              <a:t>destImage</a:t>
            </a:r>
            <a:r>
              <a:rPr lang="en-US" altLang="zh-CN" sz="1600" dirty="0">
                <a:cs typeface="Arial" panose="020B0604020202020204" pitchFamily="34" charset="0"/>
              </a:rPr>
              <a:t>, "o", "", "output image path.")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}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 err="1">
                <a:cs typeface="Arial" panose="020B0604020202020204" pitchFamily="34" charset="0"/>
              </a:rPr>
              <a:t>func</a:t>
            </a:r>
            <a:r>
              <a:rPr lang="en-US" altLang="zh-CN" sz="1600" dirty="0">
                <a:cs typeface="Arial" panose="020B0604020202020204" pitchFamily="34" charset="0"/>
              </a:rPr>
              <a:t> main() {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</a:t>
            </a:r>
            <a:r>
              <a:rPr lang="en-US" altLang="zh-CN" sz="1600" dirty="0" err="1">
                <a:cs typeface="Arial" panose="020B0604020202020204" pitchFamily="34" charset="0"/>
              </a:rPr>
              <a:t>flag.Parse</a:t>
            </a:r>
            <a:r>
              <a:rPr lang="en-US" altLang="zh-CN" sz="1600" dirty="0">
                <a:cs typeface="Arial" panose="020B0604020202020204" pitchFamily="34" charset="0"/>
              </a:rPr>
              <a:t>()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if </a:t>
            </a:r>
            <a:r>
              <a:rPr lang="en-US" altLang="zh-CN" sz="1600" dirty="0" err="1">
                <a:cs typeface="Arial" panose="020B0604020202020204" pitchFamily="34" charset="0"/>
              </a:rPr>
              <a:t>srcImage</a:t>
            </a:r>
            <a:r>
              <a:rPr lang="en-US" altLang="zh-CN" sz="1600" dirty="0">
                <a:cs typeface="Arial" panose="020B0604020202020204" pitchFamily="34" charset="0"/>
              </a:rPr>
              <a:t> == "" || </a:t>
            </a:r>
            <a:r>
              <a:rPr lang="en-US" altLang="zh-CN" sz="1600" dirty="0" err="1">
                <a:cs typeface="Arial" panose="020B0604020202020204" pitchFamily="34" charset="0"/>
              </a:rPr>
              <a:t>txtFile</a:t>
            </a:r>
            <a:r>
              <a:rPr lang="en-US" altLang="zh-CN" sz="1600" dirty="0">
                <a:cs typeface="Arial" panose="020B0604020202020204" pitchFamily="34" charset="0"/>
              </a:rPr>
              <a:t> == "" || </a:t>
            </a:r>
            <a:r>
              <a:rPr lang="en-US" altLang="zh-CN" sz="1600" dirty="0" err="1">
                <a:cs typeface="Arial" panose="020B0604020202020204" pitchFamily="34" charset="0"/>
              </a:rPr>
              <a:t>destImage</a:t>
            </a:r>
            <a:r>
              <a:rPr lang="en-US" altLang="zh-CN" sz="1600" dirty="0">
                <a:cs typeface="Arial" panose="020B0604020202020204" pitchFamily="34" charset="0"/>
              </a:rPr>
              <a:t> == "" {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	</a:t>
            </a:r>
            <a:r>
              <a:rPr lang="en-US" altLang="zh-CN" sz="1600" dirty="0" err="1">
                <a:cs typeface="Arial" panose="020B0604020202020204" pitchFamily="34" charset="0"/>
              </a:rPr>
              <a:t>flag.PrintDefaults</a:t>
            </a:r>
            <a:r>
              <a:rPr lang="en-US" altLang="zh-CN" sz="1600" dirty="0">
                <a:cs typeface="Arial" panose="020B0604020202020204" pitchFamily="34" charset="0"/>
              </a:rPr>
              <a:t>()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	</a:t>
            </a:r>
            <a:r>
              <a:rPr lang="en-US" altLang="zh-CN" sz="1600" dirty="0" err="1">
                <a:cs typeface="Arial" panose="020B0604020202020204" pitchFamily="34" charset="0"/>
              </a:rPr>
              <a:t>os.Exit</a:t>
            </a:r>
            <a:r>
              <a:rPr lang="en-US" altLang="zh-CN" sz="1600" dirty="0">
                <a:cs typeface="Arial" panose="020B0604020202020204" pitchFamily="34" charset="0"/>
              </a:rPr>
              <a:t>(1)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	}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                 // …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en-US" altLang="zh-CN" sz="1600" dirty="0">
                <a:cs typeface="Arial" panose="020B0604020202020204" pitchFamily="34" charset="0"/>
              </a:rPr>
              <a:t>}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480813" y="1536314"/>
            <a:ext cx="680466" cy="18912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3614610" y="1543141"/>
            <a:ext cx="2419972" cy="22580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12" idx="2"/>
          </p:cNvCxnSpPr>
          <p:nvPr/>
        </p:nvCxnSpPr>
        <p:spPr>
          <a:xfrm flipH="1">
            <a:off x="4068661" y="1543141"/>
            <a:ext cx="3654704" cy="24699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012224" y="1260805"/>
            <a:ext cx="1515384" cy="2904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27608" y="1253960"/>
            <a:ext cx="1982249" cy="2891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18246" y="1252701"/>
            <a:ext cx="2410238" cy="2904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89892" y="2496858"/>
            <a:ext cx="3029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Get files path from terminal using </a:t>
            </a:r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golang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cs typeface="Arial" panose="020B0604020202020204" pitchFamily="34" charset="0"/>
              </a:rPr>
              <a:t>"flag"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package (</a:t>
            </a:r>
            <a:r>
              <a:rPr lang="en-US" altLang="zh-CN" sz="1600" b="1" dirty="0">
                <a:solidFill>
                  <a:srgbClr val="FF0000"/>
                </a:solidFill>
                <a:cs typeface="Arial" panose="020B0604020202020204" pitchFamily="34" charset="0"/>
              </a:rPr>
              <a:t>Don't 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 the code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altLang="zh-C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Hide program: Hide text in a BMP image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hangingPunct="0">
              <a:spcBef>
                <a:spcPts val="450"/>
              </a:spcBef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text file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an image file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doctored image file.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spcAft>
                <a:spcPts val="450"/>
              </a:spcAft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en-US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Steps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Get input image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input text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output image name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en-US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b="1" i="1" dirty="0" err="1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p		 // p for picture</a:t>
            </a:r>
            <a:endParaRPr lang="zh-CN" altLang="zh-CN" sz="1800" b="1" dirty="0">
              <a:solidFill>
                <a:srgbClr val="FF000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t		                // t for text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 Array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variable p in the remaining bytes of the Pixel Array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Write p to file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zh-CN" altLang="zh-CN" sz="1800" i="1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2933629" y="2871864"/>
            <a:ext cx="1813735" cy="17878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508570" y="4555842"/>
            <a:ext cx="45707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p, err := ioutil.ReadFile(srcImage)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err != nil {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os.Exit(1)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Hide program: Hide text in a BMP image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hangingPunct="0">
              <a:spcBef>
                <a:spcPts val="450"/>
              </a:spcBef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text file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an image file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doctored image file.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spcAft>
                <a:spcPts val="450"/>
              </a:spcAft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en-US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Steps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Get input image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input text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output image name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en-US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p		                // p for picture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b="1" i="1" dirty="0" err="1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t		                // t for text</a:t>
            </a:r>
            <a:endParaRPr lang="zh-CN" altLang="zh-CN" sz="1800" b="1" dirty="0">
              <a:solidFill>
                <a:srgbClr val="FF000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 Array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variable p in the remaining bytes of the Pixel Array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Write p to file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zh-CN" altLang="zh-CN" sz="1800" i="1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3194712" y="3203558"/>
            <a:ext cx="1878329" cy="13522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508570" y="4555842"/>
            <a:ext cx="45707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t, err := 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ioutil.ReadFile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txtFile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err != nil {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os.Exit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Hide program: Hide text in a BMP image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hangingPunct="0">
              <a:spcBef>
                <a:spcPts val="450"/>
              </a:spcBef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text file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an image file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doctored image file.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spcAft>
                <a:spcPts val="450"/>
              </a:spcAft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en-US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Steps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Get input image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input text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output image name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en-US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p		                // p for picture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t		                // t for text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1800" b="1" i="1" dirty="0" err="1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 Array 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variable p in the remaining bytes of the Pixel Array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Write p to file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zh-CN" altLang="zh-CN" sz="1800" i="1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66254"/>
            <a:ext cx="8712968" cy="858490"/>
          </a:xfrm>
        </p:spPr>
        <p:txBody>
          <a:bodyPr/>
          <a:lstStyle/>
          <a:p>
            <a:r>
              <a:rPr lang="en-US" altLang="zh-CN" sz="2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2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2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 Array 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354502" y="1368025"/>
            <a:ext cx="8291205" cy="17088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// S is the starting address of the pixel array, 54; 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//</a:t>
            </a:r>
            <a:r>
              <a:rPr lang="zh-CN" altLang="en-US" sz="1600" dirty="0"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and T is the length of the text file to be hidden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// Assume </a:t>
            </a: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length </a:t>
            </a:r>
            <a:r>
              <a:rPr lang="en-US" altLang="zh-CN" sz="1600" dirty="0" err="1">
                <a:ea typeface="等线" panose="02010600030101010101" pitchFamily="2" charset="-122"/>
                <a:cs typeface="Arial" panose="020B0604020202020204" pitchFamily="34" charset="0"/>
              </a:rPr>
              <a:t>len</a:t>
            </a: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(t) is a 64-bit integer, then T is 64/2 = 32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modify(</a:t>
            </a:r>
            <a:r>
              <a:rPr lang="en-US" altLang="zh-CN" sz="1600" dirty="0" err="1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(t), p[S:S+T], T)</a:t>
            </a:r>
            <a:endParaRPr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algn="just" hangingPunct="0">
              <a:lnSpc>
                <a:spcPts val="900"/>
              </a:lnSpc>
            </a:pPr>
            <a:endParaRPr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4502" y="3382670"/>
            <a:ext cx="8291205" cy="26320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 modify can hide a integer (or lower bits of a integer) to a byte slice.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modify(txt int, pix []byte, size int) {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for 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:= 0; 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&lt; size; 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++ {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// </a:t>
            </a:r>
            <a:r>
              <a:rPr lang="en-US" altLang="zh-CN" sz="1600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TODO: write your code here</a:t>
            </a:r>
            <a:endParaRPr lang="en-US" altLang="zh-CN" sz="1600" b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// replace last 2 bits of pix[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 with the last 2 bits of txt repeat with the next 2 bits of txt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66254"/>
            <a:ext cx="8712968" cy="858490"/>
          </a:xfrm>
        </p:spPr>
        <p:txBody>
          <a:bodyPr/>
          <a:lstStyle/>
          <a:p>
            <a:r>
              <a:rPr lang="en-US" altLang="zh-CN" sz="2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2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2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 Array 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354502" y="1368025"/>
            <a:ext cx="8291205" cy="17088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// S is the starting address of the pixel array, 54; 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//</a:t>
            </a:r>
            <a:r>
              <a:rPr lang="zh-CN" altLang="en-US" sz="1600" dirty="0"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and T is the length of the text file to be hidden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// Assume </a:t>
            </a: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length </a:t>
            </a:r>
            <a:r>
              <a:rPr lang="en-US" altLang="zh-CN" sz="1600" dirty="0" err="1">
                <a:ea typeface="等线" panose="02010600030101010101" pitchFamily="2" charset="-122"/>
                <a:cs typeface="Arial" panose="020B0604020202020204" pitchFamily="34" charset="0"/>
              </a:rPr>
              <a:t>len</a:t>
            </a: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(t) is a 64-bit integer, then T is 64/2 = 32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modify(</a:t>
            </a:r>
            <a:r>
              <a:rPr lang="en-US" altLang="zh-CN" sz="1600" dirty="0" err="1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(t), p[S:S+T], T)</a:t>
            </a:r>
            <a:endParaRPr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algn="just" hangingPunct="0">
              <a:lnSpc>
                <a:spcPts val="900"/>
              </a:lnSpc>
            </a:pPr>
            <a:endParaRPr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502" y="3382670"/>
            <a:ext cx="8291205" cy="26320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 modify can hide a integer (or lower bits of a integer) to a byte slice.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modify(txt int, pix []byte, size int) {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for 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:= 0; 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&lt; size; 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++ {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// </a:t>
            </a:r>
            <a:r>
              <a:rPr lang="en-US" altLang="zh-CN" sz="1600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TODO: write your code here</a:t>
            </a:r>
            <a:endParaRPr lang="en-US" altLang="zh-CN" sz="1600" b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// replace last 2 bits of pix[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 with the last 2 bits of txt repeat with the next 2 bits of txt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8571" y="2673776"/>
            <a:ext cx="3211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Replace last 2 bits of bytes.</a:t>
            </a:r>
            <a:endParaRPr lang="en-US" altLang="zh-CN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cxnSp>
        <p:nvCxnSpPr>
          <p:cNvPr id="7" name="直接箭头连接符 6"/>
          <p:cNvCxnSpPr>
            <a:stCxn id="8" idx="2"/>
          </p:cNvCxnSpPr>
          <p:nvPr/>
        </p:nvCxnSpPr>
        <p:spPr>
          <a:xfrm flipH="1">
            <a:off x="2239861" y="2500549"/>
            <a:ext cx="3233729" cy="24992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392627" y="2210109"/>
            <a:ext cx="161925" cy="2904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66254"/>
            <a:ext cx="8712968" cy="858490"/>
          </a:xfrm>
        </p:spPr>
        <p:txBody>
          <a:bodyPr/>
          <a:lstStyle/>
          <a:p>
            <a:r>
              <a:rPr lang="en-US" altLang="zh-CN" sz="2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2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2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 Array 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354502" y="1368025"/>
            <a:ext cx="8291205" cy="17088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// S is the starting address of the pixel array, 54; 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//</a:t>
            </a:r>
            <a:r>
              <a:rPr lang="zh-CN" altLang="en-US" sz="1600" dirty="0"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and T is the length of the text file to be hidden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// Assume </a:t>
            </a: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length </a:t>
            </a:r>
            <a:r>
              <a:rPr lang="en-US" altLang="zh-CN" sz="1600" dirty="0" err="1">
                <a:ea typeface="等线" panose="02010600030101010101" pitchFamily="2" charset="-122"/>
                <a:cs typeface="Arial" panose="020B0604020202020204" pitchFamily="34" charset="0"/>
              </a:rPr>
              <a:t>len</a:t>
            </a:r>
            <a:r>
              <a:rPr lang="en-US" altLang="zh-CN" sz="1600" dirty="0">
                <a:ea typeface="等线" panose="02010600030101010101" pitchFamily="2" charset="-122"/>
                <a:cs typeface="Arial" panose="020B0604020202020204" pitchFamily="34" charset="0"/>
              </a:rPr>
              <a:t>(t) is a 64-bit integer, then T is 64/2 = 32</a:t>
            </a:r>
            <a:endParaRPr lang="en-US" altLang="zh-CN" sz="1600" dirty="0"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modify(</a:t>
            </a:r>
            <a:r>
              <a:rPr lang="en-US" altLang="zh-CN" sz="1600" dirty="0" err="1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(t), p[S:S+T], T)</a:t>
            </a:r>
            <a:endParaRPr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113665" algn="just" hangingPunct="0">
              <a:lnSpc>
                <a:spcPts val="900"/>
              </a:lnSpc>
            </a:pPr>
            <a:endParaRPr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502" y="3382670"/>
            <a:ext cx="8291205" cy="26320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 modify can hide a integer (or lower bits of a integer) to a byte slice.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modify(txt int, pix []byte, size int) {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for 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:= 0; 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&lt; size; 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++ {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// </a:t>
            </a:r>
            <a:r>
              <a:rPr lang="en-US" altLang="zh-CN" sz="1600" b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TODO: write your code here</a:t>
            </a:r>
            <a:endParaRPr lang="en-US" altLang="zh-CN" sz="1600" b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// replace last 2 bits of pix[</a:t>
            </a:r>
            <a:r>
              <a:rPr lang="en-US" altLang="zh-C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 with the last 2 bits of txt repeat with the next 2 bits of txt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}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0097" y="2463280"/>
            <a:ext cx="55194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Question: </a:t>
            </a:r>
            <a:endParaRPr lang="en-US" altLang="zh-CN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Only the least significant two bits of each byte of Pixel Array are modified</a:t>
            </a:r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，</a:t>
            </a:r>
            <a:endParaRPr lang="en-US" altLang="zh-CN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How about modifying the most significant 2 bits?</a:t>
            </a:r>
            <a:endParaRPr lang="en-US" altLang="zh-CN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1975520" y="3726007"/>
            <a:ext cx="2769503" cy="12725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014018" y="4958386"/>
            <a:ext cx="1672032" cy="2904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Hide program: Hide text in a BMP image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hangingPunct="0">
              <a:spcBef>
                <a:spcPts val="450"/>
              </a:spcBef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text file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an image file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doctored image file.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spcAft>
                <a:spcPts val="450"/>
              </a:spcAft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en-US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Steps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Get input image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input text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output image name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en-US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p		                // p for picture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t		                // t for text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 Array (Optional, depends on your hide algorithm)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</a:t>
            </a:r>
            <a:r>
              <a:rPr lang="en-US" altLang="zh-CN" sz="1800" b="1" i="1" dirty="0" err="1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variable p in the remaining bytes of the Pixel Array</a:t>
            </a:r>
            <a:endParaRPr lang="zh-CN" altLang="zh-CN" sz="1800" b="1" dirty="0">
              <a:solidFill>
                <a:srgbClr val="FF000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Write p to file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zh-CN" altLang="zh-CN" sz="1800" i="1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038474" y="5093497"/>
            <a:ext cx="513397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13665" algn="just" hangingPunct="0"/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// C is 4 = 8 / 2</a:t>
            </a:r>
            <a:endParaRPr lang="zh-CN" altLang="zh-CN" b="1" dirty="0">
              <a:solidFill>
                <a:srgbClr val="FF0000"/>
              </a:solidFill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/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for i:=0; </a:t>
            </a:r>
            <a:r>
              <a:rPr lang="en-US" altLang="zh-CN" b="1" dirty="0" err="1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&lt;</a:t>
            </a:r>
            <a:r>
              <a:rPr lang="en-US" altLang="zh-CN" b="1" dirty="0" err="1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len</a:t>
            </a:r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(t); </a:t>
            </a:r>
            <a:r>
              <a:rPr lang="en-US" altLang="zh-CN" b="1" dirty="0" err="1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++{	</a:t>
            </a:r>
            <a:endParaRPr lang="zh-CN" altLang="zh-CN" b="1" dirty="0">
              <a:solidFill>
                <a:srgbClr val="FF0000"/>
              </a:solidFill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/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	offset := S+T+(</a:t>
            </a:r>
            <a:r>
              <a:rPr lang="en-US" altLang="zh-CN" b="1" dirty="0" err="1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*4)</a:t>
            </a:r>
            <a:endParaRPr lang="zh-CN" altLang="zh-CN" b="1" dirty="0">
              <a:solidFill>
                <a:srgbClr val="FF0000"/>
              </a:solidFill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indent="113665" algn="just" hangingPunct="0"/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	modify(int(t[</a:t>
            </a:r>
            <a:r>
              <a:rPr lang="en-US" altLang="zh-CN" b="1" dirty="0" err="1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]), p[</a:t>
            </a:r>
            <a:r>
              <a:rPr lang="en-US" altLang="zh-CN" b="1" dirty="0" err="1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offset:offset+C</a:t>
            </a:r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], C)</a:t>
            </a:r>
            <a:endParaRPr lang="zh-CN" altLang="zh-CN" b="1" dirty="0">
              <a:solidFill>
                <a:srgbClr val="FF0000"/>
              </a:solidFill>
              <a:ea typeface="等线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   }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472244" y="4193508"/>
            <a:ext cx="1680327" cy="8279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Hide program: Hide text in a BMP image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hangingPunct="0">
              <a:spcBef>
                <a:spcPts val="450"/>
              </a:spcBef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text file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an image file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zh-CN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A 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doctored image file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 hangingPunct="0">
              <a:spcAft>
                <a:spcPts val="450"/>
              </a:spcAft>
              <a:buFont typeface="Symbol" panose="05050102010706020507" pitchFamily="18" charset="2"/>
              <a:buChar char=""/>
              <a:tabLst>
                <a:tab pos="113030" algn="l"/>
              </a:tabLst>
            </a:pPr>
            <a:r>
              <a:rPr lang="en-US" altLang="zh-CN" sz="20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Steps</a:t>
            </a:r>
            <a:r>
              <a:rPr lang="en-US" altLang="zh-CN" sz="20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</a:t>
            </a:r>
            <a:endParaRPr lang="zh-CN" altLang="zh-CN" sz="20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Get input image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, input text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and output image name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en-US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srcImage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p		                // p for picture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zh-CN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Read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into variable t		                // t for text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the length of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the first several bytes of the Pixel Array (Optional, depends on your hide algorithm)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Hide </a:t>
            </a:r>
            <a:r>
              <a:rPr lang="en-US" altLang="zh-CN" sz="1800" i="1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txtFile</a:t>
            </a:r>
            <a:r>
              <a:rPr lang="en-US" altLang="zh-CN" sz="1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variable p in the remaining bytes of the Pixel Array</a:t>
            </a:r>
            <a:endParaRPr lang="zh-CN" altLang="zh-CN" sz="18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00075" lvl="1" indent="-257175" algn="just" hangingPunct="0">
              <a:buFont typeface="+mj-lt"/>
              <a:buAutoNum type="arabicPeriod"/>
              <a:tabLst>
                <a:tab pos="200025" algn="l"/>
                <a:tab pos="200025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Write p to file </a:t>
            </a:r>
            <a:r>
              <a:rPr lang="en-US" altLang="zh-CN" sz="1800" b="1" i="1" dirty="0" err="1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destImage</a:t>
            </a:r>
            <a:endParaRPr lang="zh-CN" altLang="zh-CN" sz="1800" b="1" i="1" dirty="0">
              <a:solidFill>
                <a:srgbClr val="FF000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2999186" y="4468806"/>
            <a:ext cx="1809750" cy="11696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905125" y="5782499"/>
            <a:ext cx="45720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13665" algn="just" hangingPunct="0"/>
            <a:r>
              <a:rPr lang="fr-FR" altLang="zh-CN" b="1" dirty="0">
                <a:solidFill>
                  <a:srgbClr val="FF0000"/>
                </a:solidFill>
                <a:ea typeface="等线" panose="02010600030101010101" pitchFamily="2" charset="-122"/>
                <a:cs typeface="Arial" panose="020B0604020202020204" pitchFamily="34" charset="0"/>
              </a:rPr>
              <a:t>ioutil.WriteFile(destImage, p, 0666)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78" y="436861"/>
            <a:ext cx="8201697" cy="642113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" y="0"/>
            <a:ext cx="8712968" cy="502890"/>
          </a:xfrm>
        </p:spPr>
        <p:txBody>
          <a:bodyPr/>
          <a:lstStyle/>
          <a:p>
            <a:r>
              <a:rPr lang="en-US" altLang="zh-CN" dirty="0"/>
              <a:t>hide-2.go – part 1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15900" y="2960688"/>
            <a:ext cx="4384675" cy="1306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indent="113665" algn="just" hangingPunct="0"/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98748" y="2987947"/>
            <a:ext cx="4645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13665" hangingPunct="0"/>
            <a:r>
              <a:rPr lang="fr-FR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Complete "</a:t>
            </a:r>
            <a:r>
              <a:rPr lang="en-US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modify"</a:t>
            </a:r>
            <a:r>
              <a:rPr lang="fr-FR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  function</a:t>
            </a:r>
            <a:endParaRPr lang="zh-CN" altLang="en-US" sz="2400" b="1" dirty="0"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6082" y="5389910"/>
            <a:ext cx="6130204" cy="14680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indent="113665" algn="just" hangingPunct="0"/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55197" y="4971425"/>
            <a:ext cx="45393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13665" algn="just" hangingPunct="0"/>
            <a:r>
              <a:rPr lang="fr-FR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DON'T modify </a:t>
            </a:r>
            <a:r>
              <a:rPr lang="en-US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"</a:t>
            </a:r>
            <a:r>
              <a:rPr lang="en-US" altLang="zh-CN" sz="2400" b="1" dirty="0" err="1">
                <a:ea typeface="等线" panose="02010600030101010101" pitchFamily="2" charset="-122"/>
                <a:cs typeface="Arial" panose="020B0604020202020204" pitchFamily="34" charset="0"/>
              </a:rPr>
              <a:t>init</a:t>
            </a:r>
            <a:r>
              <a:rPr lang="en-US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"</a:t>
            </a:r>
            <a:r>
              <a:rPr lang="fr-FR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  function</a:t>
            </a:r>
            <a:endParaRPr lang="zh-CN" altLang="en-US" sz="2400" b="1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559467"/>
            <a:ext cx="7442200" cy="620183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" y="0"/>
            <a:ext cx="8712968" cy="502890"/>
          </a:xfrm>
        </p:spPr>
        <p:txBody>
          <a:bodyPr/>
          <a:lstStyle/>
          <a:p>
            <a:r>
              <a:rPr lang="en-US" altLang="zh-CN" dirty="0"/>
              <a:t>hide-2.go – part 2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98072" y="806595"/>
            <a:ext cx="7153728" cy="15147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indent="113665" algn="just" hangingPunct="0"/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99542" y="1859645"/>
            <a:ext cx="39542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13665" algn="just" hangingPunct="0"/>
            <a:r>
              <a:rPr lang="fr-FR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DON'T modify</a:t>
            </a:r>
            <a:r>
              <a:rPr lang="zh-CN" altLang="en-US" sz="2400" b="1" dirty="0"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this block</a:t>
            </a:r>
            <a:endParaRPr lang="zh-CN" altLang="en-US" sz="2400" b="1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588" y="185737"/>
            <a:ext cx="8712968" cy="502890"/>
          </a:xfrm>
        </p:spPr>
        <p:txBody>
          <a:bodyPr/>
          <a:lstStyle/>
          <a:p>
            <a:r>
              <a:rPr lang="en-US" altLang="zh-CN" dirty="0"/>
              <a:t>hide-2.go – part 3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2443" r="5114"/>
          <a:stretch>
            <a:fillRect/>
          </a:stretch>
        </p:blipFill>
        <p:spPr>
          <a:xfrm>
            <a:off x="-20895" y="1013981"/>
            <a:ext cx="9011934" cy="460100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3" y="-205563"/>
            <a:ext cx="8712968" cy="858490"/>
          </a:xfrm>
        </p:spPr>
        <p:txBody>
          <a:bodyPr/>
          <a:lstStyle/>
          <a:p>
            <a:r>
              <a:rPr lang="en-US" altLang="zh-CN" dirty="0"/>
              <a:t>show-2.go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948" y="709269"/>
            <a:ext cx="7409205" cy="60630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1523" y="3043241"/>
            <a:ext cx="7120831" cy="34861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indent="113665" algn="just" hangingPunct="0"/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14705" y="5958337"/>
            <a:ext cx="391034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113665" algn="just" hangingPunct="0"/>
            <a:r>
              <a:rPr lang="fr-FR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DON'T modify</a:t>
            </a:r>
            <a:r>
              <a:rPr lang="zh-CN" altLang="en-US" sz="2400" b="1" dirty="0"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ea typeface="等线" panose="02010600030101010101" pitchFamily="2" charset="-122"/>
                <a:cs typeface="Arial" panose="020B0604020202020204" pitchFamily="34" charset="0"/>
              </a:rPr>
              <a:t>this block</a:t>
            </a:r>
            <a:endParaRPr lang="en-US" altLang="zh-CN" sz="2400" b="1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-17462"/>
            <a:ext cx="8712968" cy="858490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Two code submission chance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985044"/>
            <a:ext cx="8856984" cy="5472608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First code submission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hide-2.go, show-2.go: H</a:t>
            </a:r>
            <a:r>
              <a:rPr lang="en-US" altLang="zh-CN" dirty="0">
                <a:cs typeface="Arial" panose="020B0604020202020204" pitchFamily="34" charset="0"/>
              </a:rPr>
              <a:t>ide and restore text in the least significant </a:t>
            </a: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two </a:t>
            </a:r>
            <a:r>
              <a:rPr lang="en-US" altLang="zh-CN" dirty="0">
                <a:cs typeface="Arial" panose="020B0604020202020204" pitchFamily="34" charset="0"/>
              </a:rPr>
              <a:t>bits of each byte.</a:t>
            </a:r>
            <a:endParaRPr lang="en-US" altLang="zh-CN" dirty="0"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Second code submission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(hide-1.go, show-1.go), (hide-2.go, show-2.go) and (hide-4.go, show-4.go): </a:t>
            </a:r>
            <a:r>
              <a:rPr lang="en-US" altLang="zh-CN" dirty="0">
                <a:cs typeface="Arial" panose="020B0604020202020204" pitchFamily="34" charset="0"/>
              </a:rPr>
              <a:t>Hide and restore text in the least significant </a:t>
            </a: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one, two and four </a:t>
            </a:r>
            <a:r>
              <a:rPr lang="en-US" altLang="zh-CN" dirty="0">
                <a:cs typeface="Arial" panose="020B0604020202020204" pitchFamily="34" charset="0"/>
              </a:rPr>
              <a:t>bits of each byte, respectively.</a:t>
            </a:r>
            <a:endParaRPr lang="en-US" altLang="zh-CN" dirty="0"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The programs will be tested with new text and BMP image files:</a:t>
            </a:r>
            <a:endParaRPr lang="en-US" altLang="zh-CN" sz="24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go run hide-2.go -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&lt;original image path&gt; -t &lt;input text path&gt; -o &lt;output doctored image path&gt;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go run show-2.go -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&lt;doctored image path&gt; -o &lt;output text path&gt;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Grading Policy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47260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Source Code (60%)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50% for hiding: For example, hide-2.go should hide text in the least significant 2 bits of one byte of pixel array.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50% for showing: The restored text should have same content with the original text.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+mj-lt"/>
              </a:rPr>
              <a:t>Score = Max{ first submission, second submission }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/>
              <a:t>Project Report (20%)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+mj-lt"/>
              </a:rPr>
              <a:t>Team Presentation (20%)</a:t>
            </a:r>
            <a:endParaRPr lang="en-US" altLang="zh-CN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dirty="0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代码下载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https://teacher.solid.things.ac.cn:7243/public/materials/TextHider/project.zip</a:t>
            </a:r>
            <a:endParaRPr lang="en-US" altLang="zh-CN" sz="2800" dirty="0"/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339" y="-75267"/>
            <a:ext cx="8712968" cy="858490"/>
          </a:xfrm>
        </p:spPr>
        <p:txBody>
          <a:bodyPr/>
          <a:lstStyle/>
          <a:p>
            <a:r>
              <a:rPr lang="zh-CN" altLang="en-US" dirty="0"/>
              <a:t>代码提交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-31173" y="762269"/>
            <a:ext cx="8856984" cy="5472608"/>
          </a:xfrm>
        </p:spPr>
        <p:txBody>
          <a:bodyPr/>
          <a:lstStyle/>
          <a:p>
            <a:r>
              <a:rPr lang="en-US" altLang="zh-CN" dirty="0"/>
              <a:t>https://www.solid.things.ac.cn:7245/information_hide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r="60286" b="13074"/>
          <a:stretch>
            <a:fillRect/>
          </a:stretch>
        </p:blipFill>
        <p:spPr>
          <a:xfrm>
            <a:off x="442471" y="1705915"/>
            <a:ext cx="3631474" cy="27316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829" y="2881132"/>
            <a:ext cx="3956050" cy="290061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693468" y="3622309"/>
            <a:ext cx="2192732" cy="2904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896591" y="3715575"/>
            <a:ext cx="1752600" cy="8660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836575" y="4362259"/>
            <a:ext cx="325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点击红框，如果提交成功，会显示提交的代码</a:t>
            </a:r>
            <a:endParaRPr lang="zh-CN" altLang="en-US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Important dates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2020.6.2   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12:00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 code submission deadline.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2020.6.9   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12:00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Second code submission deadline.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2020.6.16 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12:00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Project report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submission deadline.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00752" y="3316407"/>
          <a:ext cx="7874757" cy="3280945"/>
        </p:xfrm>
        <a:graphic>
          <a:graphicData uri="http://schemas.openxmlformats.org/drawingml/2006/table">
            <a:tbl>
              <a:tblPr/>
              <a:tblGrid>
                <a:gridCol w="678013"/>
                <a:gridCol w="911426"/>
                <a:gridCol w="1467573"/>
                <a:gridCol w="1605914"/>
                <a:gridCol w="1350523"/>
                <a:gridCol w="1861308"/>
              </a:tblGrid>
              <a:tr h="7367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u="none" strike="noStrike" dirty="0">
                          <a:effectLst/>
                        </a:rPr>
                        <a:t>周次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u="none" strike="noStrike" dirty="0">
                          <a:effectLst/>
                        </a:rPr>
                        <a:t>理论课（周五上午）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 hMerge="1">
                  <a:tcPr marL="6350" marR="6350" marT="6350" marB="0" anchor="ctr"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u="none" strike="noStrike" dirty="0">
                          <a:effectLst/>
                        </a:rPr>
                        <a:t>实验课（周三下午）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 hMerge="1">
                  <a:tcPr marL="6350" marR="635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截止时间（周日</a:t>
                      </a:r>
                      <a:r>
                        <a:rPr lang="en-US" altLang="zh-CN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23:30</a:t>
                      </a:r>
                      <a:r>
                        <a:rPr lang="zh-CN" altLang="en-US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</a:tr>
              <a:tr h="2587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12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5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28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系统思维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5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26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信息隐藏实验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</a:tr>
              <a:tr h="4959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13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6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4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系统思维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6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2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信息隐藏实验</a:t>
                      </a:r>
                      <a:endParaRPr lang="en-US" altLang="zh-CN" sz="1600" b="1" u="none" strike="noStrike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rtl="0" fontAlgn="ctr"/>
                      <a:r>
                        <a:rPr lang="zh-CN" altLang="en-US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（分组讨论）</a:t>
                      </a:r>
                      <a:endParaRPr lang="zh-CN" alt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</a:tr>
              <a:tr h="4959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14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6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11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系统思维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6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9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信息隐藏实验</a:t>
                      </a:r>
                      <a:endParaRPr lang="en-US" altLang="zh-CN" sz="1600" b="1" u="none" strike="noStrike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rtl="0" fontAlgn="ctr"/>
                      <a:r>
                        <a:rPr lang="zh-CN" altLang="en-US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（分组报告）</a:t>
                      </a:r>
                      <a:endParaRPr lang="zh-CN" alt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作业</a:t>
                      </a:r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</a:tr>
              <a:tr h="2587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15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6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>
                          <a:effectLst/>
                        </a:rPr>
                        <a:t>18</a:t>
                      </a:r>
                      <a:r>
                        <a:rPr lang="zh-CN" altLang="en-US" sz="1600" u="none" strike="noStrike">
                          <a:effectLst/>
                        </a:rPr>
                        <a:t>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网络思维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6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16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个人作品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信息隐藏实验</a:t>
                      </a:r>
                      <a:r>
                        <a:rPr lang="zh-CN" altLang="en-US" sz="16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报告</a:t>
                      </a:r>
                      <a:endParaRPr lang="zh-CN" alt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</a:tr>
              <a:tr h="2587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16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>
                          <a:effectLst/>
                        </a:rPr>
                        <a:t>6</a:t>
                      </a:r>
                      <a:r>
                        <a:rPr lang="zh-CN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CN" sz="1600" u="none" strike="noStrike">
                          <a:effectLst/>
                        </a:rPr>
                        <a:t>25</a:t>
                      </a:r>
                      <a:r>
                        <a:rPr lang="zh-CN" altLang="en-US" sz="1600" u="none" strike="noStrike">
                          <a:effectLst/>
                        </a:rPr>
                        <a:t>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网络思维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6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23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个人作品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</a:tr>
              <a:tr h="2587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17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>
                          <a:effectLst/>
                        </a:rPr>
                        <a:t>7</a:t>
                      </a:r>
                      <a:r>
                        <a:rPr lang="zh-CN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CN" sz="1600" u="none" strike="noStrike">
                          <a:effectLst/>
                        </a:rPr>
                        <a:t>2</a:t>
                      </a:r>
                      <a:r>
                        <a:rPr lang="zh-CN" altLang="en-US" sz="1600" u="none" strike="noStrike">
                          <a:effectLst/>
                        </a:rPr>
                        <a:t>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网络思维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6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30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个人作品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作业</a:t>
                      </a:r>
                      <a:r>
                        <a:rPr lang="en-US" altLang="zh-CN" sz="16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</a:tr>
              <a:tr h="2587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18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>
                          <a:effectLst/>
                        </a:rPr>
                        <a:t>7</a:t>
                      </a:r>
                      <a:r>
                        <a:rPr lang="zh-CN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CN" sz="1600" u="none" strike="noStrike">
                          <a:effectLst/>
                        </a:rPr>
                        <a:t>9</a:t>
                      </a:r>
                      <a:r>
                        <a:rPr lang="zh-CN" altLang="en-US" sz="1600" u="none" strike="noStrike">
                          <a:effectLst/>
                        </a:rPr>
                        <a:t>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期末总结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u="none" strike="noStrike" dirty="0">
                          <a:effectLst/>
                        </a:rPr>
                        <a:t>7</a:t>
                      </a:r>
                      <a:r>
                        <a:rPr lang="zh-CN" altLang="en-US" sz="1600" u="none" strike="noStrike" dirty="0">
                          <a:effectLst/>
                        </a:rPr>
                        <a:t>月</a:t>
                      </a:r>
                      <a:r>
                        <a:rPr lang="en-US" altLang="zh-CN" sz="1600" u="none" strike="noStrike" dirty="0">
                          <a:effectLst/>
                        </a:rPr>
                        <a:t>7</a:t>
                      </a:r>
                      <a:r>
                        <a:rPr lang="zh-CN" altLang="en-US" sz="1600" u="none" strike="noStrike" dirty="0">
                          <a:effectLst/>
                        </a:rPr>
                        <a:t>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无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u="none" strike="noStrike" dirty="0">
                          <a:effectLst/>
                        </a:rPr>
                        <a:t>个人作品报告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</a:tr>
              <a:tr h="2587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19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600" u="none" strike="noStrike" dirty="0">
                          <a:effectLst/>
                        </a:rPr>
                        <a:t>考试周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rtl="0" fontAlgn="ctr"/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00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Take home message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Image encoding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Digital images are made up of pixels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RGB color model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BMP file format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(Example 1)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Hide program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Read and save file with Golang package "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io.ioutil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", good programming practice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(Example 1)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Using bit AND, bit OR, logic right shift, logic left shift to hide and restore character in byte array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(Example 2, 3)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Hide text to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an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image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(hide-2.go)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2546" y="3124200"/>
            <a:ext cx="3287954" cy="9017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Second week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-55562"/>
            <a:ext cx="8712968" cy="858490"/>
          </a:xfrm>
        </p:spPr>
        <p:txBody>
          <a:bodyPr/>
          <a:lstStyle/>
          <a:p>
            <a:r>
              <a:rPr lang="en-US" altLang="zh-CN" dirty="0"/>
              <a:t>Suggested structure of Lab report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879128"/>
            <a:ext cx="8856984" cy="5472608"/>
          </a:xfrm>
        </p:spPr>
        <p:txBody>
          <a:bodyPr/>
          <a:lstStyle/>
          <a:p>
            <a:r>
              <a:rPr lang="en-US" altLang="zh-CN" dirty="0"/>
              <a:t>The text hider lab report needs to include the following as well as explanatory text</a:t>
            </a:r>
            <a:endParaRPr lang="en-US" altLang="zh-CN" dirty="0"/>
          </a:p>
          <a:p>
            <a:pPr marL="801370" lvl="1" indent="-457200">
              <a:buFont typeface="+mj-lt"/>
              <a:buAutoNum type="arabicPeriod"/>
            </a:pPr>
            <a:r>
              <a:rPr lang="en-US" altLang="zh-CN" dirty="0"/>
              <a:t>Hide and Show Program design</a:t>
            </a:r>
            <a:endParaRPr lang="en-US" altLang="zh-CN" dirty="0"/>
          </a:p>
          <a:p>
            <a:pPr lvl="2"/>
            <a:r>
              <a:rPr lang="en-US" altLang="zh-CN" dirty="0"/>
              <a:t>Overview of hide and show algorithms</a:t>
            </a:r>
            <a:endParaRPr lang="en-US" altLang="zh-CN" dirty="0"/>
          </a:p>
          <a:p>
            <a:pPr lvl="2"/>
            <a:r>
              <a:rPr lang="en-US" altLang="zh-CN" dirty="0"/>
              <a:t>Detailed description of each functions of hide and show programs</a:t>
            </a:r>
            <a:endParaRPr lang="en-US" altLang="zh-CN" dirty="0"/>
          </a:p>
          <a:p>
            <a:pPr lvl="2"/>
            <a:r>
              <a:rPr lang="en-US" altLang="zh-CN" dirty="0"/>
              <a:t>How to modify hide-2.go and show-2.go to hide and restore text in the least significant one and four bits of one byte</a:t>
            </a:r>
            <a:endParaRPr lang="en-US" altLang="zh-CN" dirty="0"/>
          </a:p>
          <a:p>
            <a:pPr marL="801370" lvl="1" indent="-457200">
              <a:buFont typeface="+mj-lt"/>
              <a:buAutoNum type="arabicPeriod"/>
            </a:pPr>
            <a:r>
              <a:rPr lang="en-US" altLang="zh-CN" dirty="0"/>
              <a:t>Source code of hide-2.go and show-2.go</a:t>
            </a:r>
            <a:endParaRPr lang="en-US" altLang="zh-CN" dirty="0"/>
          </a:p>
          <a:p>
            <a:pPr lvl="2"/>
            <a:r>
              <a:rPr lang="en-US" altLang="zh-CN" dirty="0"/>
              <a:t>Explanatory </a:t>
            </a:r>
            <a:r>
              <a:rPr lang="en-US" dirty="0"/>
              <a:t>text </a:t>
            </a:r>
            <a:r>
              <a:rPr lang="en-US" altLang="zh-CN" dirty="0"/>
              <a:t>about </a:t>
            </a:r>
            <a:r>
              <a:rPr lang="en-US" altLang="zh-CN" b="1" dirty="0">
                <a:solidFill>
                  <a:srgbClr val="FF0000"/>
                </a:solidFill>
              </a:rPr>
              <a:t>programs following good programming practice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801370" lvl="1" indent="-457200">
              <a:buFont typeface="+mj-lt"/>
              <a:buAutoNum type="arabicPeriod"/>
            </a:pPr>
            <a:r>
              <a:rPr lang="en-US" altLang="zh-CN" dirty="0"/>
              <a:t>Evaluation</a:t>
            </a:r>
            <a:endParaRPr lang="en-US" altLang="zh-CN" dirty="0"/>
          </a:p>
          <a:p>
            <a:pPr lvl="2"/>
            <a:r>
              <a:rPr lang="en-US" altLang="zh-CN" dirty="0"/>
              <a:t>Original image and doctored image</a:t>
            </a:r>
            <a:endParaRPr lang="en-US" altLang="zh-CN" dirty="0"/>
          </a:p>
          <a:p>
            <a:pPr lvl="2"/>
            <a:r>
              <a:rPr lang="en-US" altLang="zh-CN" dirty="0"/>
              <a:t>Show difference between original text and restored text using "diff" command in terminal. The following picture shows the correct result.</a:t>
            </a:r>
            <a:endParaRPr lang="en-US" altLang="zh-CN" dirty="0"/>
          </a:p>
          <a:p>
            <a:pPr marL="398145" lvl="1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6216798"/>
            <a:ext cx="6630499" cy="51420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6038"/>
            <a:ext cx="8712968" cy="686195"/>
          </a:xfrm>
        </p:spPr>
        <p:txBody>
          <a:bodyPr/>
          <a:lstStyle/>
          <a:p>
            <a:r>
              <a:rPr lang="en-US" altLang="zh-CN" dirty="0"/>
              <a:t>Sample contents in Lab report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484" y="642140"/>
            <a:ext cx="8640960" cy="1296144"/>
          </a:xfrm>
        </p:spPr>
        <p:txBody>
          <a:bodyPr/>
          <a:lstStyle/>
          <a:p>
            <a:r>
              <a:rPr lang="en-US" altLang="zh-CN" dirty="0"/>
              <a:t>Hide and Show program design</a:t>
            </a:r>
            <a:endParaRPr lang="en-US" altLang="zh-CN" dirty="0"/>
          </a:p>
          <a:p>
            <a:pPr marL="801370" lvl="1" indent="-457200">
              <a:buFont typeface="+mj-lt"/>
              <a:buAutoNum type="arabicPeriod"/>
            </a:pPr>
            <a:r>
              <a:rPr lang="en-US" altLang="zh-CN" dirty="0"/>
              <a:t>Hide and show algorithms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801370" lvl="1" indent="-457200">
              <a:buFont typeface="+mj-lt"/>
              <a:buAutoNum type="arabicPeriod" startAt="2"/>
            </a:pPr>
            <a:r>
              <a:rPr lang="en-US" altLang="zh-CN" sz="2200" dirty="0"/>
              <a:t>Functions in hide-2.go</a:t>
            </a:r>
            <a:endParaRPr lang="en-US" altLang="zh-CN" sz="2200" dirty="0"/>
          </a:p>
          <a:p>
            <a:pPr lvl="2"/>
            <a:r>
              <a:rPr lang="en-US" altLang="zh-CN" sz="1800" dirty="0"/>
              <a:t>The modify function saves an integer value txt into a byte slice variable pixel array…The following is the source code:</a:t>
            </a:r>
            <a:endParaRPr lang="en-US" altLang="zh-CN" sz="1800" dirty="0"/>
          </a:p>
          <a:p>
            <a:pPr marL="1036320" lvl="2" indent="-342900">
              <a:buFont typeface="+mj-lt"/>
              <a:buAutoNum type="arabicPeriod"/>
            </a:pPr>
            <a:endParaRPr lang="en-US" altLang="zh-CN" sz="1800" dirty="0"/>
          </a:p>
          <a:p>
            <a:pPr marL="1036320" lvl="2" indent="-342900">
              <a:buFont typeface="+mj-lt"/>
              <a:buAutoNum type="arabicPeriod"/>
            </a:pPr>
            <a:endParaRPr lang="en-US" altLang="zh-CN" sz="1800" dirty="0"/>
          </a:p>
          <a:p>
            <a:pPr marL="801370" lvl="1" indent="-457200">
              <a:buFont typeface="+mj-lt"/>
              <a:buAutoNum type="arabicPeriod" startAt="2"/>
            </a:pPr>
            <a:endParaRPr lang="en-US" altLang="zh-CN" sz="2200" dirty="0"/>
          </a:p>
          <a:p>
            <a:pPr marL="801370" lvl="1" indent="-457200">
              <a:buFont typeface="+mj-lt"/>
              <a:buAutoNum type="arabicPeriod" startAt="2"/>
            </a:pPr>
            <a:r>
              <a:rPr lang="en-US" altLang="zh-CN" sz="2200" dirty="0"/>
              <a:t>Functions in show-2.go</a:t>
            </a:r>
            <a:endParaRPr lang="en-US" altLang="zh-CN" sz="2200" dirty="0"/>
          </a:p>
          <a:p>
            <a:pPr marL="801370" lvl="1" indent="-457200">
              <a:buFont typeface="+mj-lt"/>
              <a:buAutoNum type="arabicPeriod" startAt="2"/>
            </a:pPr>
            <a:r>
              <a:rPr lang="en-US" altLang="zh-CN" sz="2200" dirty="0"/>
              <a:t>Modify hide-2.go and show-2.go to hide and restore text in the least significant one and four bits of each byte.</a:t>
            </a:r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6" name="文本框 2"/>
          <p:cNvSpPr txBox="1">
            <a:spLocks noChangeArrowheads="1"/>
          </p:cNvSpPr>
          <p:nvPr/>
        </p:nvSpPr>
        <p:spPr bwMode="auto">
          <a:xfrm>
            <a:off x="589053" y="1668853"/>
            <a:ext cx="4423512" cy="18647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46800" tIns="45720" rIns="46800" bIns="45720" numCol="1" anchor="t" anchorCtr="0" compatLnSpc="1"/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Algorithm for hide-2.go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effectLst/>
              <a:latin typeface="+mj-lt"/>
              <a:cs typeface="Times New Roman" panose="02020603050405020304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•</a:t>
            </a:r>
            <a:r>
              <a:rPr kumimoji="0" lang="en-US" altLang="en-US" sz="1600" b="0" i="0" u="none" strike="noStrike" cap="none" normalizeH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Input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: A BMP image and a text file.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•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Output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: A doctored BMP image.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•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Steps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  <a:cs typeface="Times New Roman" panose="02020603050405020304" charset="0"/>
              </a:rPr>
              <a:t>1. Read doctored image into variable p.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lvl="0"/>
            <a:r>
              <a:rPr lang="en-US" altLang="en-US" sz="1600" dirty="0">
                <a:latin typeface="+mj-lt"/>
                <a:cs typeface="Times New Roman" panose="02020603050405020304" charset="0"/>
              </a:rPr>
              <a:t>           ……</a:t>
            </a:r>
            <a:endParaRPr lang="en-US" altLang="en-US" sz="1600" dirty="0">
              <a:latin typeface="+mj-lt"/>
              <a:cs typeface="Times New Roman" panose="02020603050405020304" charset="0"/>
            </a:endParaRPr>
          </a:p>
          <a:p>
            <a:pPr lvl="0"/>
            <a:r>
              <a:rPr lang="en-US" altLang="en-US" sz="1600" dirty="0">
                <a:latin typeface="+mj-lt"/>
                <a:cs typeface="Times New Roman" panose="02020603050405020304" charset="0"/>
              </a:rPr>
              <a:t>N.  Save modified p to doctored BMP image.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+mj-lt"/>
              <a:cs typeface="Times New Roman" panose="02020603050405020304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22" name="文本框 2"/>
          <p:cNvSpPr txBox="1">
            <a:spLocks noChangeArrowheads="1"/>
          </p:cNvSpPr>
          <p:nvPr/>
        </p:nvSpPr>
        <p:spPr bwMode="auto">
          <a:xfrm>
            <a:off x="4919730" y="1668853"/>
            <a:ext cx="4044758" cy="18647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0" tIns="45720" rIns="46800" bIns="45720" numCol="1" anchor="t" anchorCtr="0" compatLnSpc="1"/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latin typeface="+mj-lt"/>
                <a:cs typeface="Times New Roman" panose="02020603050405020304" charset="0"/>
              </a:rPr>
              <a:t>Algorithm for show-2.go</a:t>
            </a:r>
            <a:endParaRPr lang="en-US" altLang="en-US" sz="1600" dirty="0">
              <a:latin typeface="+mj-lt"/>
              <a:cs typeface="Times New Roman" panose="02020603050405020304" charset="0"/>
            </a:endParaRPr>
          </a:p>
          <a:p>
            <a:r>
              <a:rPr lang="en-US" altLang="en-US" sz="1600" dirty="0">
                <a:latin typeface="+mj-lt"/>
                <a:cs typeface="Times New Roman" panose="02020603050405020304" charset="0"/>
              </a:rPr>
              <a:t>• </a:t>
            </a:r>
            <a:r>
              <a:rPr lang="en-US" altLang="en-US" sz="1600" b="1" dirty="0">
                <a:latin typeface="+mj-lt"/>
                <a:cs typeface="Times New Roman" panose="02020603050405020304" charset="0"/>
              </a:rPr>
              <a:t>Input</a:t>
            </a:r>
            <a:r>
              <a:rPr lang="en-US" altLang="en-US" sz="1600" dirty="0">
                <a:latin typeface="+mj-lt"/>
                <a:cs typeface="Times New Roman" panose="02020603050405020304" charset="0"/>
              </a:rPr>
              <a:t>: A doctored BMP image.</a:t>
            </a:r>
            <a:endParaRPr lang="en-US" altLang="en-US" sz="1600" dirty="0">
              <a:latin typeface="+mj-lt"/>
              <a:cs typeface="Times New Roman" panose="02020603050405020304" charset="0"/>
            </a:endParaRPr>
          </a:p>
          <a:p>
            <a:r>
              <a:rPr lang="en-US" altLang="en-US" sz="1600" dirty="0">
                <a:latin typeface="+mj-lt"/>
                <a:cs typeface="Times New Roman" panose="02020603050405020304" charset="0"/>
              </a:rPr>
              <a:t>• </a:t>
            </a:r>
            <a:r>
              <a:rPr lang="en-US" altLang="en-US" sz="1600" b="1" dirty="0">
                <a:latin typeface="+mj-lt"/>
                <a:cs typeface="Times New Roman" panose="02020603050405020304" charset="0"/>
              </a:rPr>
              <a:t>Output</a:t>
            </a:r>
            <a:r>
              <a:rPr lang="en-US" altLang="en-US" sz="1600" dirty="0">
                <a:latin typeface="+mj-lt"/>
                <a:cs typeface="Times New Roman" panose="02020603050405020304" charset="0"/>
              </a:rPr>
              <a:t>: A output text file.</a:t>
            </a:r>
            <a:endParaRPr lang="en-US" altLang="en-US" sz="1600" dirty="0">
              <a:latin typeface="+mj-lt"/>
              <a:cs typeface="Times New Roman" panose="02020603050405020304" charset="0"/>
            </a:endParaRPr>
          </a:p>
          <a:p>
            <a:r>
              <a:rPr lang="en-US" altLang="en-US" sz="1600" dirty="0">
                <a:latin typeface="+mj-lt"/>
                <a:cs typeface="Times New Roman" panose="02020603050405020304" charset="0"/>
              </a:rPr>
              <a:t>• </a:t>
            </a:r>
            <a:r>
              <a:rPr lang="en-US" altLang="en-US" sz="1600" b="1" dirty="0">
                <a:latin typeface="+mj-lt"/>
                <a:cs typeface="Times New Roman" panose="02020603050405020304" charset="0"/>
              </a:rPr>
              <a:t>Steps</a:t>
            </a:r>
            <a:r>
              <a:rPr lang="en-US" altLang="en-US" sz="1600" dirty="0">
                <a:latin typeface="+mj-lt"/>
                <a:cs typeface="Times New Roman" panose="02020603050405020304" charset="0"/>
              </a:rPr>
              <a:t>:</a:t>
            </a:r>
            <a:endParaRPr lang="en-US" altLang="en-US" sz="1600" dirty="0">
              <a:latin typeface="+mj-lt"/>
              <a:cs typeface="Times New Roman" panose="02020603050405020304" charset="0"/>
            </a:endParaRPr>
          </a:p>
          <a:p>
            <a:r>
              <a:rPr lang="en-US" altLang="en-US" sz="1600" dirty="0">
                <a:latin typeface="+mj-lt"/>
                <a:cs typeface="Times New Roman" panose="02020603050405020304" charset="0"/>
              </a:rPr>
              <a:t>1. Read doctored image into variable p.</a:t>
            </a:r>
            <a:endParaRPr lang="en-US" altLang="en-US" sz="1600" dirty="0">
              <a:latin typeface="+mj-lt"/>
              <a:cs typeface="Times New Roman" panose="02020603050405020304" charset="0"/>
            </a:endParaRPr>
          </a:p>
          <a:p>
            <a:r>
              <a:rPr lang="en-US" altLang="en-US" sz="1600" dirty="0">
                <a:latin typeface="+mj-lt"/>
                <a:cs typeface="Times New Roman" panose="02020603050405020304" charset="0"/>
              </a:rPr>
              <a:t>               ……</a:t>
            </a:r>
            <a:endParaRPr lang="en-US" altLang="en-US" sz="1600" dirty="0">
              <a:latin typeface="+mj-lt"/>
              <a:cs typeface="Times New Roman" panose="02020603050405020304" charset="0"/>
            </a:endParaRPr>
          </a:p>
          <a:p>
            <a:r>
              <a:rPr lang="en-US" altLang="en-US" sz="1600" dirty="0">
                <a:latin typeface="+mj-lt"/>
                <a:cs typeface="Times New Roman" panose="02020603050405020304" charset="0"/>
              </a:rPr>
              <a:t>N.  Save text content to the output file.</a:t>
            </a:r>
            <a:endParaRPr lang="en-US" altLang="en-US" sz="1600" dirty="0">
              <a:latin typeface="+mj-lt"/>
              <a:cs typeface="Times New Roman" panose="02020603050405020304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1203520" y="4752340"/>
          <a:ext cx="4721297" cy="913112"/>
        </p:xfrm>
        <a:graphic>
          <a:graphicData uri="http://schemas.openxmlformats.org/drawingml/2006/table">
            <a:tbl>
              <a:tblPr firstRow="1" firstCol="1" bandRow="1"/>
              <a:tblGrid>
                <a:gridCol w="4721297"/>
              </a:tblGrid>
              <a:tr h="9131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func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 modify(txt </a:t>
                      </a: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int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, pix []byte, size </a:t>
                      </a: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int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) {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	…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}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516" y="-85576"/>
            <a:ext cx="8712968" cy="686195"/>
          </a:xfrm>
        </p:spPr>
        <p:txBody>
          <a:bodyPr/>
          <a:lstStyle/>
          <a:p>
            <a:r>
              <a:rPr lang="en-US" altLang="zh-CN" dirty="0"/>
              <a:t>Sample contents in Lab report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516" y="561034"/>
            <a:ext cx="8640960" cy="1296144"/>
          </a:xfrm>
        </p:spPr>
        <p:txBody>
          <a:bodyPr/>
          <a:lstStyle/>
          <a:p>
            <a:r>
              <a:rPr lang="en-US" altLang="zh-CN" dirty="0"/>
              <a:t>Source code of hide-2.go and show-2.go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Good programming practice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en-US" altLang="zh-CN" dirty="0"/>
              <a:t>Use descriptive names for variables and constants</a:t>
            </a:r>
            <a:r>
              <a:rPr lang="zh-CN" altLang="en-US" dirty="0"/>
              <a:t>：</a:t>
            </a:r>
            <a:r>
              <a:rPr lang="en-US" altLang="zh-CN" dirty="0" err="1"/>
              <a:t>headerSize</a:t>
            </a:r>
            <a:r>
              <a:rPr lang="en-US" altLang="zh-CN" dirty="0"/>
              <a:t> for BMP standard size of header, </a:t>
            </a:r>
            <a:r>
              <a:rPr lang="en-US" altLang="zh-CN" dirty="0" err="1"/>
              <a:t>fileMode</a:t>
            </a:r>
            <a:r>
              <a:rPr lang="en-US" altLang="zh-CN" dirty="0"/>
              <a:t> for users read and write permissions ……</a:t>
            </a:r>
            <a:endParaRPr lang="en-US" altLang="zh-CN" dirty="0"/>
          </a:p>
          <a:p>
            <a:r>
              <a:rPr lang="en-US" altLang="zh-CN" dirty="0"/>
              <a:t>Evaluation</a:t>
            </a:r>
            <a:endParaRPr lang="en-US" altLang="zh-CN" dirty="0"/>
          </a:p>
          <a:p>
            <a:pPr lvl="1"/>
            <a:r>
              <a:rPr lang="en-US" altLang="zh-CN" dirty="0"/>
              <a:t>Original image and doctored image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5105400" y="287468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6543" y="3475307"/>
            <a:ext cx="2834824" cy="21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79660" y="3475307"/>
            <a:ext cx="2834824" cy="21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文本框 39"/>
          <p:cNvSpPr txBox="1"/>
          <p:nvPr/>
        </p:nvSpPr>
        <p:spPr>
          <a:xfrm>
            <a:off x="1604378" y="5659769"/>
            <a:ext cx="575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Autumn.bmp                             doctoredAutumn.bmp</a:t>
            </a:r>
            <a:endParaRPr 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6178698"/>
            <a:ext cx="6630499" cy="51420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974" y="147995"/>
            <a:ext cx="9047026" cy="858490"/>
          </a:xfrm>
        </p:spPr>
        <p:txBody>
          <a:bodyPr/>
          <a:lstStyle/>
          <a:p>
            <a:r>
              <a:rPr lang="en-US" altLang="zh-CN" dirty="0"/>
              <a:t>Discussion and Prepare representation slides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/>
            <a:r>
              <a:rPr lang="en-US" altLang="zh-CN" dirty="0"/>
              <a:t>Team discussion</a:t>
            </a:r>
            <a:endParaRPr lang="en-US" altLang="zh-CN" dirty="0"/>
          </a:p>
          <a:p>
            <a:pPr hangingPunct="0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Suggested content of team representation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hangingPunct="0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Present the hide and show algorithm design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hangingPunct="0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How to modify hide-2.go and show-2.go to hide text in the least significant one or four bits of each byte and restore text?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Present observations on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notable happenings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 experiment and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the reason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 For example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 hide a very long text file to Autumn.bmp, and I find ...because…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 hide a text file to a image that doesn't exist, and I find…because…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hide-2.go crashes when … because…</a:t>
            </a:r>
            <a:endParaRPr lang="en-US" altLang="zh-CN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Show evaluation result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/>
              <a:t>Q&amp;A</a:t>
            </a:r>
            <a:endParaRPr lang="en-US" dirty="0"/>
          </a:p>
          <a:p>
            <a:pPr lvl="1"/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s101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cs101</Template>
  <TotalTime>0</TotalTime>
  <Words>24446</Words>
  <Application>WPS 演示</Application>
  <PresentationFormat>全屏显示(4:3)</PresentationFormat>
  <Paragraphs>1366</Paragraphs>
  <Slides>71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9" baseType="lpstr">
      <vt:lpstr>Arial</vt:lpstr>
      <vt:lpstr>宋体</vt:lpstr>
      <vt:lpstr>Wingdings</vt:lpstr>
      <vt:lpstr>Franklin Gothic Medium</vt:lpstr>
      <vt:lpstr>黑体</vt:lpstr>
      <vt:lpstr>等线</vt:lpstr>
      <vt:lpstr>Arial Unicode MS</vt:lpstr>
      <vt:lpstr>Cambria Math</vt:lpstr>
      <vt:lpstr>微软雅黑</vt:lpstr>
      <vt:lpstr>Arial Unicode MS</vt:lpstr>
      <vt:lpstr>Times</vt:lpstr>
      <vt:lpstr>Times New Roman</vt:lpstr>
      <vt:lpstr>Symbol</vt:lpstr>
      <vt:lpstr>Arial</vt:lpstr>
      <vt:lpstr>Calibri</vt:lpstr>
      <vt:lpstr>BatangChe</vt:lpstr>
      <vt:lpstr>Segoe Print</vt:lpstr>
      <vt:lpstr>cs101</vt:lpstr>
      <vt:lpstr> Lab Slides Text hider  郭泓锐 实验课助教 guohongrui17@mails.ucas.ac.cn</vt:lpstr>
      <vt:lpstr>Outline</vt:lpstr>
      <vt:lpstr>First week</vt:lpstr>
      <vt:lpstr>First Week Outline</vt:lpstr>
      <vt:lpstr>Objective Read textbook 7.2 and Example 49</vt:lpstr>
      <vt:lpstr>编程知识</vt:lpstr>
      <vt:lpstr>编程知识 —存储</vt:lpstr>
      <vt:lpstr>编程知识</vt:lpstr>
      <vt:lpstr>编程知识 —变量</vt:lpstr>
      <vt:lpstr>编程知识 —变量</vt:lpstr>
      <vt:lpstr>编程知识 —数组的声明和初始化</vt:lpstr>
      <vt:lpstr>编程知识 —数组的访问</vt:lpstr>
      <vt:lpstr>编程知识 —切片</vt:lpstr>
      <vt:lpstr>编程知识 —切片与数组</vt:lpstr>
      <vt:lpstr>编程知识 —字符串</vt:lpstr>
      <vt:lpstr>控制流</vt:lpstr>
      <vt:lpstr>控制流</vt:lpstr>
      <vt:lpstr>函数</vt:lpstr>
      <vt:lpstr>How to represent an image in a computer?</vt:lpstr>
      <vt:lpstr>Images are made up of pixels</vt:lpstr>
      <vt:lpstr>Pixel encoded in RGB color model</vt:lpstr>
      <vt:lpstr>BMP file format</vt:lpstr>
      <vt:lpstr>Example1: Invert the color of panda.bmp</vt:lpstr>
      <vt:lpstr>Example1: Invert the color of panda.bmp</vt:lpstr>
      <vt:lpstr>Example1: Invert the color of panda.bmp</vt:lpstr>
      <vt:lpstr>Example1: Invert the color of panda.bmp</vt:lpstr>
      <vt:lpstr>Example1: Invert the color of panda.bmp</vt:lpstr>
      <vt:lpstr>Example1: Invert the color of panda.bmp</vt:lpstr>
      <vt:lpstr>Example1: Invert the color of panda.bmp</vt:lpstr>
      <vt:lpstr>Example1: Invert the color of panda.bmp</vt:lpstr>
      <vt:lpstr>Example1 in good programming practice – part 1</vt:lpstr>
      <vt:lpstr>Example1 in good programming practice – part 2</vt:lpstr>
      <vt:lpstr>运行darkPanda.go</vt:lpstr>
      <vt:lpstr>How to hide and restore a character in a pixel array (byte array) ?</vt:lpstr>
      <vt:lpstr>Example 2: Hide 'z' in a byte array</vt:lpstr>
      <vt:lpstr>Example 2: Hide 'z' in a byte array</vt:lpstr>
      <vt:lpstr>Example 2: Hide 'z' in a byte array</vt:lpstr>
      <vt:lpstr>Example 2: Hide 'z' in a byte array</vt:lpstr>
      <vt:lpstr>Example 2: Hide 'z' in a byte array</vt:lpstr>
      <vt:lpstr> Replace the least significant 2 bits of pixArray[3](001111112) with bit 6~7 of 'z'</vt:lpstr>
      <vt:lpstr> Replace the least significant 2 bits of pixArray[3] with bit 6~7 of 'z'</vt:lpstr>
      <vt:lpstr> Replace the least significant 2 bits of pixArray[3] with bit 6~7 of 'z'</vt:lpstr>
      <vt:lpstr> Replace the least significant 2 bits of pixArray[3] with bit 6~7 of 'z'</vt:lpstr>
      <vt:lpstr>Example 3: Restore 'z' from byte array</vt:lpstr>
      <vt:lpstr>Hide program: Hide text in a BMP image</vt:lpstr>
      <vt:lpstr>Hide program: Hide text in a BMP image</vt:lpstr>
      <vt:lpstr>Get input image srcImage, input text txtFile and output image destImage</vt:lpstr>
      <vt:lpstr>Get input image srcImage, input text txtFile and output image destImage</vt:lpstr>
      <vt:lpstr>Hide program: Hide text in a BMP image</vt:lpstr>
      <vt:lpstr>Hide program: Hide text in a BMP image</vt:lpstr>
      <vt:lpstr>Hide program: Hide text in a BMP image</vt:lpstr>
      <vt:lpstr>Hide the length of txtFile in the first several bytes of the Pixel Array </vt:lpstr>
      <vt:lpstr>Hide the length of txtFile in the first several bytes of the Pixel Array </vt:lpstr>
      <vt:lpstr>Hide the length of txtFile in the first several bytes of the Pixel Array </vt:lpstr>
      <vt:lpstr>Hide program: Hide text in a BMP image</vt:lpstr>
      <vt:lpstr>Hide program: Hide text in a BMP image</vt:lpstr>
      <vt:lpstr>hide-2.go – part 1</vt:lpstr>
      <vt:lpstr>hide-2.go – part 2</vt:lpstr>
      <vt:lpstr>hide-2.go – part 3</vt:lpstr>
      <vt:lpstr>show-2.go</vt:lpstr>
      <vt:lpstr>Two code submission chance</vt:lpstr>
      <vt:lpstr>Grading Policy</vt:lpstr>
      <vt:lpstr>代码下载</vt:lpstr>
      <vt:lpstr>代码提交</vt:lpstr>
      <vt:lpstr>Important dates</vt:lpstr>
      <vt:lpstr>Take home message</vt:lpstr>
      <vt:lpstr>Second week</vt:lpstr>
      <vt:lpstr>Suggested structure of Lab report</vt:lpstr>
      <vt:lpstr>Sample contents in Lab report</vt:lpstr>
      <vt:lpstr>Sample contents in Lab report</vt:lpstr>
      <vt:lpstr>Discussion and Prepare representation slides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Feidiao Yang</dc:creator>
  <cp:lastModifiedBy>唐嘉良</cp:lastModifiedBy>
  <cp:revision>3157</cp:revision>
  <dcterms:created xsi:type="dcterms:W3CDTF">2019-03-11T10:05:00Z</dcterms:created>
  <dcterms:modified xsi:type="dcterms:W3CDTF">2021-05-27T18:57:46Z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6AE51C0A53BD47D584D538B3C6B9C691</vt:lpwstr>
  </property>
  <property fmtid="{D5CDD505-2E9C-101B-9397-08002B2CF9AE}" pid="3" name="KSOProductBuildVer">
    <vt:lpwstr>2052-11.1.0.10495</vt:lpwstr>
  </property>
</Properties>
</file>